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18e61c1-a856-9cdd-8057-3791a3b168dd}">
          <p14:sldIdLst>
            <p14:sldId id="256"/>
            <p14:sldId id="257"/>
          </p14:sldIdLst>
        </p14:section>
        <p14:section name="O problema" id="{f364501d-a13f-f1a8-d635-9af3bcf71e73}">
          <p14:sldIdLst>
            <p14:sldId id="258"/>
            <p14:sldId id="259"/>
          </p14:sldIdLst>
        </p14:section>
        <p14:section name="Base de dados" id="{fe1b351b-508c-6c89-9e0a-6720a7976cbd}">
          <p14:sldIdLst>
            <p14:sldId id="260"/>
            <p14:sldId id="261"/>
          </p14:sldIdLst>
        </p14:section>
        <p14:section name="Pipeline e EDA" id="{dafb29a4-e727-be95-a776-617c769f505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ipo de problema" id="{020d4414-f75e-5fa3-9a5e-c60120d69e97}">
          <p14:sldIdLst>
            <p14:sldId id="270"/>
          </p14:sldIdLst>
        </p14:section>
        <p14:section name="Modelos" id="{8ff27c57-23c9-1762-a4e6-a311eae8a401}">
          <p14:sldIdLst>
            <p14:sldId id="271"/>
            <p14:sldId id="272"/>
            <p14:sldId id="273"/>
          </p14:sldIdLst>
        </p14:section>
        <p14:section name="Resultados" id="{8c7286a2-f8bf-6f4e-1977-54ed1ab2e76d}">
          <p14:sldIdLst>
            <p14:sldId id="274"/>
            <p14:sldId id="275"/>
            <p14:sldId id="276"/>
            <p14:sldId id="277"/>
            <p14:sldId id="278"/>
          </p14:sldIdLst>
        </p14:section>
        <p14:section name="Produto e fechamento" id="{b6211c6f-a3a6-f3f8-797c-49b42f02ca30}">
          <p14:sldIdLst>
            <p14:sldId id="279"/>
            <p14:sldId id="280"/>
            <p14:sldId id="281"/>
            <p14:sldId id="282"/>
          </p14:sldIdLst>
        </p14:section>
        <p14:section name="Apêndice" id="{f2c6ed38-6e51-07db-fff0-99c3e71bc638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projeto: estimar o tempo real de corte a laser (nesting) com modelos de regressão, em vez da fórmula simples perímetro ÷ velocidade. Ordem da apresentação: problema, base de dados, EDA e pipeline, tipo de problema, modelos, resultados, produto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segue o pipeline do professor (Aula 3): entender o problema, olhar os dados, EDA só no treino, e só então modelar e avaliar. Cada bloco tem uma ideia central; os detalhes ficam nos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quem apresenta: Abdiel (conhece bem o problema). O software de nesting calcula tempo = perímetro ÷ velocidade nominal. Isso ignora microparadas para arrefecer as lentes, pausas de inspeção e o movimento de entrada e saída do feixe (lead-in/lead-out). O documento do projeto relata desvios de até 40 minutos por plano de corte no setor. No nosso dataset, a mediana do tempo real é 2,6 vezes o tempo estimado pela fórmula. Aula 3: "O entendimento do problema é a etapa mais importante no design de um sistema de Machine Learning."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quem apresenta: Abdiel. A ideia é trocar a regra estática por um modelo que aprende a relação entre o desenho, os parâmetros de corte e o tempo real. Entradas: o DXF (de onde sai o perímetro) e os parâmetros de corte. Saída: o tempo real previsto em minutos. Benefícios descritos no documento do projeto (item 1.3): programação mais assertiva, menos ociosidade e dimensionamento de turnos.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quem apresenta: Abdiel (conhece a base). A base é uma matriz completa: 406 combinações de parâmetros da máquina (tabela laser-machine-parameters.xlsx) × 435 desenhos DXF (71 planos de nesting e 364 peças). O perímetro de cada desenho é extraído do DXF com a biblioteca ezdxf. Resultado: 176.610 linhas em dataset.xlsx. A imagem é o n002.dxf redesenhado a partir do próprio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quem apresenta: Abdiel. Das 18 colunas: 11 são parâmetros de corte, 2 são de geometria (o ID do desenho e o perímetro), 1 é o alvo (tempo real em minutos) e 5 são derivadas do tempo (estimado em segundos e minutos, real em segundos e a diferença). Essas 5 não podem ser usadas como feature: ou carregam o alvo ou são a própria fórmula. Isso aparece de novo na parte de leakage da 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diagrama do professor (Aula 3), com o estado do nosso projeto em cada passo. Concluído: coleta, limpeza, split e EDA. Parcial: pré-processamento (one-hot e padronização já dentro do pipeline) e criação de features (tempo teórico e polinômios). Próximo: checagem de esquema e seleção de features. Aula 3: "O caminho seguro de um projeto de ML": entender o problema, definir alvo e critério de sucesso, separar os dados, conhecer o treino, decidir o pré-processamento, criar e selecionar atributos, treinar e validar, testar só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já veio limpa (0 duplicatas, 0 impossíveis, 0 linhas ruins), mas as regras ficam no pipeline. Split por desenho porque cada desenho aparece em 406 linhas. Aula 3: "Split inicial (Teste sagrado): o TESTE não decide nada." O guia do professor sugere 70/15/15 para bases acima de 50 mil linhas; usamos 80/20 por grupo e, dentro do treino, validação cruzada por desenho (GroupKFold), que cumpre o papel da validação sem gastar uma fatia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quem apresenta: Gabriel. A EDA é a fase de diagnóstico: sete coisas que olhamos (distribuições, valores faltando, outliers, correlações, leakage, drift e hipóteses). Ela é feita só no treino, depois do split; se o teste participasse, as decisões seriam contaminadas. Mostrar o pipeline de dados que está no notebook (main.ipynb).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tempo real vai de 0,002 a 307,7 minutos. Em minutos o histograma é uma barra gigante à esquerda; a assimetria é 11,9. Em log10 vira um sino com cauda leve (assimetria 1,3). Aula 3: "Log/Power: transformações para fazer dados muito espalhados ficarem mais próximos de uma distribuição normal." Também: 0 valores faltando no treino, então não há imputação 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1% maiores tempos do alvo (39 desenhos) têm razão real/teórico entre 1,4 e 1,7: são peças grandes, o tempo é alto porque o perímetro é alto, não por erro. Nas demais linhas a mediana da razão é 2,7 e chega a 1.924 em peças muito pequenas (tempo fixo domina). Aula 3: winsorização/clipping limita o dado em vez de deletar; os limiares vêm do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Correlação de cada coluna com o tempo real, no treino. O tempo teórico (perímetro ÷ velocidade) domina: 0,999 no Pearson. A velocidade quase some no Pearson mas tem -0,52 no Spearman porque a relação é inversa (não linear). Os parâmetros se correlacionam entre si (pressão × foco -0,85, foco × distância do bocal +0,79), o que gera colinearidade, algo que o professor cita como suposição da regressão múltipla (Aula 6, slide 4). O perímetro é independente dos parâmetros (0,00 na matriz) porque cada desenho foi cortado com todas as combinações. Só colunas numéricas entram aqui; a matriz completa está no apêndice.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Leakage: Tempo Real em segundos é o próprio alvo; Diferença de Tempo contém o alvo (real menos estimado). O Tempo Estimado é a fórmula perímetro ÷ velocidade, então não entra como feature (a versão que usamos é a tempo_teorico_min, calculável na API a partir do DXF e da tabela). Bocal e Acabamento são função de Material e Gás, logo redundantes. Drift: não há coluna de tempo; entre grupos de desenhos (GroupKFold com 5 partes) o teste KS ficou em no máximo 0,14 para o perímetro e 0,04 para o alvo, ou seja, um desenho novo não é muito diferente dos vistos.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EDA: a EDA justifica as escolhas da modelagem em vez de escolher modelo e features no escuro. Cada achado vira uma decisão: alvo em log (a testar), feature tempo_teorico_min, usar só Material e Gás, regularização para colinearidade, interações para o efeito multiplicativo e deixar de fora as colunas de tempo. Aula 3: "O EDA deve culminar em uma lista de insights e ações a serem tomadas."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é regressão: o alvo, Tempo Real Minutos, é um número contínuo. Aula 6: "Variável alvo ou dependente: é a variável que queremos prever." Consequências: não há balanceamento de classes nem estratificação (usamos split por grupo), e as métricas são de erro numérico (MAE, RMSE, R²). Poderia virar classificação se a pergunta fosse "mais ou menos de 5 minutos?", mas jogaria informação fora; o app quer uma estimativa em minutos. O próprio professor lista "tempo de ciclo a partir de ajustes de máquina" como uso típico de regressão em manufatura.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dos modelos de regressão que se aplicam a este problema. Os quatro primeiros entram no benchmark deste trabalho; os três últimos ficam como trabalho futuro. Aula 6 / guia: "Como escolher entre as variantes": uma variável e relação reta, regressão simples; vários fatores, múltipla; muitos preditores ou coeficientes instáveis, Ridge/Lasso/ElasticNet; relação curva, polinomial. Random Forest e Gradient Boosting vêm do projeto original (Random Forest é o modelo do documento do projeto).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modelos, do mais simples ao mais completo. 1) Fórmula fixa: sem treino, é a referência. 2) Linear simples: uma reta sobre o tempo teórico. 3) Linear múltipla: 9 variáveis numéricas padronizadas mais Material e Gás em one-hot. 4) Polinomial múltipla: as mesmas variáveis, com quadrados e interações (54 termos numéricos). Todos estão em um Pipeline do scikit-learn, com o pré-processamento ajustado só no treino. Aula 6, slide 3: regressão simples tem uma variável independente; múltipla tem várias.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de regressão do professor (Aula 6): MAE é o erro médio na unidade do alvo (aqui, minutos); RMSE pesa mais os erros grandes; R² mede a variação explicada. Cuidado: R² não é porcentagem de acerto. Acrescentamos o MAPE (erro percentual) porque o R² é dominado pelas peças grandes. Protocolo: split por desenho, validação cruzada por desenho só no treino para comparar os modelos, e o teste aberto uma única vez. Guia de métricas: "não existe métrica boa fora de contexto".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principal: o erro médio absoluto cai de 0,81 min (fórmula fixa) para 0,17 min (linear simples), cerca de 79%, e o R² sobe de 0,87 para 0,997. Os três modelos treinados ficam praticamente iguais entre si. Todos os números são da validação cruzada por desenho no treino. Aula 6: "R² não é 98,8% de acerto; para saber o erro olhe MAE/RMSE."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completa. À esquerda, validação cruzada por desenho no treino (usada para comparar). À direita, o teste, aberto uma única vez: os números se mantêm, então não há overfit. Os três modelos treinados são praticamente iguais; em verde, o melhor de cada métrica entre os três. O RMSE é cerca de 2,3 vezes o MAE: erros grandes pesam. Aula 6, métricas I: "MAE e RMSE próximos sugerem que não há poucos erros extremos dominando a avaliação"; aqui não estão próximos, então há erros grandes concentrados em algum lugar (as peças pequenas, como veremos).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ponto é uma linha prevista fora da amostra (por um modelo que não viu o desenho dela); a linha tracejada é a previsão perfeita. A fórmula fixa (cinza) fica abaixo da diagonal: subestima o tempo em ~91% das linhas. Os modelos treinados (azul) colam na diagonal nas peças médias e grandes, mas não preveem nada abaixo de ~0,17 minuto, enquanto o real chega a 0,002: peças muito rápidas ficam superestimadas. Isso é o tempo fixo por peça que o modelo linear só captura como uma constante. Aula 6: "Métrica boa não substitui diagnóstico: sempre olhe os resíduos."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Dividimos o treino em 5 faixas de perímetro com o mesmo número de linhas e calculamos o MAPE de cada modelo em cada faixa (usando previsões fora da amostra). Em valor absoluto o erro cresce com o tamanho da peça, mas em percentual o problema são as peças pequenas: 46% a 56% de erro contra 11% a 13% nas maiores. A fórmula fixa (cinza) é pior em todas as faixas. Os modelos mais complexos ganham um pouco nas peças grandes e perdem nas pequenas.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crítica. 1) O ganho vem do tempo teórico calibrado; adicionar variáveis (múltipla) ou termos (polinomial) praticamente não melhora. 2) RMSE é 2,3 vezes o MAE: erros grandes pesam; pela regra do professor, MAE e RMSE próximos indicariam ausência de extremos, e aqui não estão. 3) Os modelos lineares têm um piso de ~0,17 min. 4) O efeito de gás, material e espessura é multiplicativo sobre o tempo teórico (a razão real/teórico é 1,9 com O2 e 3,8 com Ar/N2), e os modelos que usamos só somam termos. Isso aponta os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específico (g) do documento do projeto: uma prototipagem simples de deployment. O front-end em React + Vite recebe os parâmetros e o DXF; o back-end FastAPI lê o DXF com ezdxf e devolve o perímetro, calcula a fórmula fixa e chama os modelos de regressão treinados com scikit-learn (salvos em .joblib). A tela mostra a fórmula e os modelos lado a lado. Repositório: github.com/abdielpaulino/dxf-nesting-time.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passos, a partir da leitura crítica: alvo em log e interações do tempo teórico com as categorias (o efeito é multiplicativo), regularização para a colinearidade, e as duas famílias de árvores (Random Forest, que é o modelo do documento do projeto, e Gradient Boosting). Do pipeline do professor ainda faltam a checagem de esquema e a seleção de features; e validar com dados reais do chão de fábrica. Todas as decisões de refino devem usar a validação cruzada do treino, nunca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mensagens. 1) A calibração simples do tempo teórico já corta o erro médio em cerca de 79% frente à fórmula atual. 2) O tempo teórico (perímetro ÷ velocidade) explica quase tudo (R² 0,997); múltipla e polinomial não acrescentam. 3) O erro que sobra está nas peças pequenas, onde o tempo fixo domina; os próximos passos atacam isso (log, interações, regularização e árvores).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Referências: material do professor (Aulas 3 e 6 e os dois guias práticos) e o documento de escopo do projeto. Código e dados no repositório do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perguntas sobre correlação. Matriz de Spearman (por ranking) entre as colunas numéricas e o tempo real, calculada no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Distribuição do erro em "vezes" (previsto dividido por real), usando previsões fora da amostra no treino. A fórmula fixa subestima: mediana de 0,37 vezes o real. Os modelos treinados ficam centrados em torno de 1,1 vez; cerca de 7% das linhas são subestimadas por mais de 1,5 vez e 11% a 15% são superestimadas por mais de 1,5 vez (as peças rápidas, por causa do piso).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Nesting Time Estimator · Projeto Final de Machine Learning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Nesting Time Estimator · Projeto Final de Machine Learning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no de nesting com peças recortadas (n002.dxf)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5806440" y="1691640"/>
            <a:ext cx="6035040" cy="371805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PROJETO FINAL · MACHINE LEARNING CLÁSSICO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874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Nesting Time Estimator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Estimando o tempo real de corte a laser com regressão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Gabriel Dagostim  ·  Abdiel Paulino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03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Curso de Engenharia  ·  Prof. Dr. Rodrigo Ramos Silva  ·  2026/2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Roteiro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ROTEIRO DA APRESENTAÇÃO</a:t>
            </a:r>
            <a:endParaRPr lang="en-US" sz="1200" dirty="0"/>
          </a:p>
        </p:txBody>
      </p:sp>
      <p:sp>
        <p:nvSpPr>
          <p:cNvPr id="4" name="Cartão O problema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problema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Por que a estimativa de tempo atual falha</a:t>
            </a:r>
            <a:endParaRPr lang="en-US" sz="1400" dirty="0"/>
          </a:p>
        </p:txBody>
      </p:sp>
      <p:sp>
        <p:nvSpPr>
          <p:cNvPr id="8" name="Cartão Base de dados"/>
          <p:cNvSpPr/>
          <p:nvPr/>
        </p:nvSpPr>
        <p:spPr>
          <a:xfrm>
            <a:off x="4311396" y="17830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85716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85716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Base de dados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85716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176 mil linhas: parâmetros × desenhos DXF</a:t>
            </a:r>
            <a:endParaRPr lang="en-US" sz="1400" dirty="0"/>
          </a:p>
        </p:txBody>
      </p:sp>
      <p:sp>
        <p:nvSpPr>
          <p:cNvPr id="12" name="Cartão Pipeline e EDA"/>
          <p:cNvSpPr/>
          <p:nvPr/>
        </p:nvSpPr>
        <p:spPr>
          <a:xfrm>
            <a:off x="8074152" y="17830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4847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Pipeline e EDA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caminho seguro de um projeto de ML</a:t>
            </a:r>
            <a:endParaRPr lang="en-US" sz="1400" dirty="0"/>
          </a:p>
        </p:txBody>
      </p:sp>
      <p:sp>
        <p:nvSpPr>
          <p:cNvPr id="16" name="Cartão Tipo de problema"/>
          <p:cNvSpPr/>
          <p:nvPr/>
        </p:nvSpPr>
        <p:spPr>
          <a:xfrm>
            <a:off x="548640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Tipo de problema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76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Por que é regressão</a:t>
            </a:r>
            <a:endParaRPr lang="en-US" sz="1400" dirty="0"/>
          </a:p>
        </p:txBody>
      </p:sp>
      <p:sp>
        <p:nvSpPr>
          <p:cNvPr id="20" name="Cartão Modelos e benchmark"/>
          <p:cNvSpPr/>
          <p:nvPr/>
        </p:nvSpPr>
        <p:spPr>
          <a:xfrm>
            <a:off x="4311396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85716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05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585716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Modelos e benchmark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85716" y="5276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Fórmula, linear simples, múltipla e polinomial</a:t>
            </a:r>
            <a:endParaRPr lang="en-US" sz="1400" dirty="0"/>
          </a:p>
        </p:txBody>
      </p:sp>
      <p:sp>
        <p:nvSpPr>
          <p:cNvPr id="24" name="Cartão Resultados e produto"/>
          <p:cNvSpPr/>
          <p:nvPr/>
        </p:nvSpPr>
        <p:spPr>
          <a:xfrm>
            <a:off x="8074152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48472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06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Resultados e produto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5276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Erros, aplicação web e próximos passos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estimativa atual é uma divisão simples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· O PROBLEMA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o software de nesting estima hoje</a:t>
            </a:r>
            <a:endParaRPr lang="en-US" sz="1800" dirty="0"/>
          </a:p>
        </p:txBody>
      </p:sp>
      <p:sp>
        <p:nvSpPr>
          <p:cNvPr id="5" name="Caixa Perímetro total de corte"/>
          <p:cNvSpPr/>
          <p:nvPr/>
        </p:nvSpPr>
        <p:spPr>
          <a:xfrm>
            <a:off x="54864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042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Perímetro total de corte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1945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÷</a:t>
            </a:r>
            <a:endParaRPr lang="en-US" sz="3000" dirty="0"/>
          </a:p>
        </p:txBody>
      </p:sp>
      <p:sp>
        <p:nvSpPr>
          <p:cNvPr id="9" name="Caixa Velocidade nominal"/>
          <p:cNvSpPr/>
          <p:nvPr/>
        </p:nvSpPr>
        <p:spPr>
          <a:xfrm>
            <a:off x="256032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23042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Velocidade nominal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m/min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1945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=</a:t>
            </a:r>
            <a:endParaRPr lang="en-US" sz="3000" dirty="0"/>
          </a:p>
        </p:txBody>
      </p:sp>
      <p:sp>
        <p:nvSpPr>
          <p:cNvPr id="13" name="Caixa Tempo estimado"/>
          <p:cNvSpPr/>
          <p:nvPr/>
        </p:nvSpPr>
        <p:spPr>
          <a:xfrm>
            <a:off x="457200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3042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Tempo estimado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Determinística e linear: não vê o que acontece no chão de fábrica.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até 40 min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10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 desvio por plano de corte, segundo relato do setor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206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2,6×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910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tempo real ÷ estimado no nosso dataset (mediana)</a:t>
            </a:r>
            <a:endParaRPr lang="en-US" sz="1300" dirty="0"/>
          </a:p>
        </p:txBody>
      </p:sp>
      <p:sp>
        <p:nvSpPr>
          <p:cNvPr id="21" name="Cartão: o que a fórmula ignora"/>
          <p:cNvSpPr/>
          <p:nvPr/>
        </p:nvSpPr>
        <p:spPr>
          <a:xfrm>
            <a:off x="6629400" y="1691640"/>
            <a:ext cx="5010912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4944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que a fórmula ignora</a:t>
            </a:r>
            <a:endParaRPr lang="en-US" sz="1800" dirty="0"/>
          </a:p>
        </p:txBody>
      </p:sp>
      <p:sp>
        <p:nvSpPr>
          <p:cNvPr id="23" name="Fundo do ícone FaThermometerHalf"/>
          <p:cNvSpPr/>
          <p:nvPr/>
        </p:nvSpPr>
        <p:spPr>
          <a:xfrm>
            <a:off x="6949440" y="2514600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0" descr="Ícone FaThermometerHal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0316" y="2665476"/>
            <a:ext cx="301752" cy="3017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72400" y="2496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Microparadas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Arrefecimento das lentes do laser</a:t>
            </a:r>
            <a:endParaRPr lang="en-US" sz="1300" dirty="0"/>
          </a:p>
        </p:txBody>
      </p:sp>
      <p:sp>
        <p:nvSpPr>
          <p:cNvPr id="27" name="Fundo do ícone FaClipboardCheck"/>
          <p:cNvSpPr/>
          <p:nvPr/>
        </p:nvSpPr>
        <p:spPr>
          <a:xfrm>
            <a:off x="6949440" y="3538728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1" descr="Ícone 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16" y="3689604"/>
            <a:ext cx="301752" cy="30175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77240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Pausas técnicas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7772400" y="3831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Inspeção de qualidade durante o corte</a:t>
            </a:r>
            <a:endParaRPr lang="en-US" sz="1300" dirty="0"/>
          </a:p>
        </p:txBody>
      </p:sp>
      <p:sp>
        <p:nvSpPr>
          <p:cNvPr id="31" name="Fundo do ícone FaRoute"/>
          <p:cNvSpPr/>
          <p:nvPr/>
        </p:nvSpPr>
        <p:spPr>
          <a:xfrm>
            <a:off x="6949440" y="4562856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2" descr="Ícone 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4713732"/>
            <a:ext cx="301752" cy="30175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772400" y="4544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Lead-in / lead-out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7772400" y="4855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Entrada e saída do feixe em cada contorno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6949440" y="5532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Consequência: retrabalho, atrasos nas ordens de fabricação e turnos mal dimensionados.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proposta: aprender o tempo real com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· O PROBLEMA</a:t>
            </a:r>
            <a:endParaRPr lang="en-US" sz="1200" dirty="0"/>
          </a:p>
        </p:txBody>
      </p:sp>
      <p:sp>
        <p:nvSpPr>
          <p:cNvPr id="4" name="Entrada Desenho DXF"/>
          <p:cNvSpPr/>
          <p:nvPr/>
        </p:nvSpPr>
        <p:spPr>
          <a:xfrm>
            <a:off x="548640" y="1783080"/>
            <a:ext cx="32004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do do ícone FaFileAlt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 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2059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Desenho DXF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Perímetro de corte extraído do arquivo</a:t>
            </a:r>
            <a:endParaRPr lang="en-US" sz="1200" dirty="0"/>
          </a:p>
        </p:txBody>
      </p:sp>
      <p:sp>
        <p:nvSpPr>
          <p:cNvPr id="9" name="Entrada Parâmetros de corte"/>
          <p:cNvSpPr/>
          <p:nvPr/>
        </p:nvSpPr>
        <p:spPr>
          <a:xfrm>
            <a:off x="548640" y="3108960"/>
            <a:ext cx="32004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Fundo do ícone FaSlidersH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Ícone Fa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5318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Parâmetros de corte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Material, espessura, potência e gás</a:t>
            </a:r>
            <a:endParaRPr lang="en-US" sz="1200" dirty="0"/>
          </a:p>
        </p:txBody>
      </p:sp>
      <p:sp>
        <p:nvSpPr>
          <p:cNvPr id="14" name="Seta entrada"/>
          <p:cNvSpPr/>
          <p:nvPr/>
        </p:nvSpPr>
        <p:spPr>
          <a:xfrm>
            <a:off x="3886200" y="2788920"/>
            <a:ext cx="502920" cy="4114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Modelo"/>
          <p:cNvSpPr/>
          <p:nvPr/>
        </p:nvSpPr>
        <p:spPr>
          <a:xfrm>
            <a:off x="4480560" y="1783080"/>
            <a:ext cx="32004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undo do ícone FaProjectDiagram"/>
          <p:cNvSpPr/>
          <p:nvPr/>
        </p:nvSpPr>
        <p:spPr>
          <a:xfrm>
            <a:off x="580644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Ícone 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03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344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Modelo de regressão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treinado com 406 combinações × 435 desenhos</a:t>
            </a:r>
            <a:endParaRPr lang="en-US" sz="1300" dirty="0"/>
          </a:p>
        </p:txBody>
      </p:sp>
      <p:sp>
        <p:nvSpPr>
          <p:cNvPr id="20" name="Seta saída"/>
          <p:cNvSpPr/>
          <p:nvPr/>
        </p:nvSpPr>
        <p:spPr>
          <a:xfrm>
            <a:off x="7772400" y="2788920"/>
            <a:ext cx="502920" cy="4114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aída"/>
          <p:cNvSpPr/>
          <p:nvPr/>
        </p:nvSpPr>
        <p:spPr>
          <a:xfrm>
            <a:off x="8366760" y="1783080"/>
            <a:ext cx="3273552" cy="2468880"/>
          </a:xfrm>
          <a:prstGeom prst="roundRect">
            <a:avLst>
              <a:gd name="adj" fmla="val 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549640" y="2011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min</a:t>
            </a:r>
            <a:endParaRPr lang="en-US" sz="66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Tempo real previsto de execução</a:t>
            </a:r>
            <a:endParaRPr lang="en-US" sz="1600" dirty="0"/>
          </a:p>
        </p:txBody>
      </p:sp>
      <p:sp>
        <p:nvSpPr>
          <p:cNvPr id="24" name="Benefício Programação mais assertiva"/>
          <p:cNvSpPr/>
          <p:nvPr/>
        </p:nvSpPr>
        <p:spPr>
          <a:xfrm>
            <a:off x="548640" y="4617720"/>
            <a:ext cx="36118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Fundo do ícone FaCalendarCheck"/>
          <p:cNvSpPr/>
          <p:nvPr/>
        </p:nvSpPr>
        <p:spPr>
          <a:xfrm>
            <a:off x="777240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3" descr="Ícone 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92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08760" y="4846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Programação mais assertiva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508760" y="5212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Prazos de entrega previsíveis</a:t>
            </a:r>
            <a:endParaRPr lang="en-US" sz="1200" dirty="0"/>
          </a:p>
        </p:txBody>
      </p:sp>
      <p:sp>
        <p:nvSpPr>
          <p:cNvPr id="29" name="Benefício Menos ociosidade"/>
          <p:cNvSpPr/>
          <p:nvPr/>
        </p:nvSpPr>
        <p:spPr>
          <a:xfrm>
            <a:off x="4279392" y="4617720"/>
            <a:ext cx="36118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Fundo do ícone FaChartLine"/>
          <p:cNvSpPr/>
          <p:nvPr/>
        </p:nvSpPr>
        <p:spPr>
          <a:xfrm>
            <a:off x="4507992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4" descr="Ícone FaChartLi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50292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39512" y="4846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Menos ociosidade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39512" y="5212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Menos gargalos e desvios de planejamento</a:t>
            </a:r>
            <a:endParaRPr lang="en-US" sz="1200" dirty="0"/>
          </a:p>
        </p:txBody>
      </p:sp>
      <p:sp>
        <p:nvSpPr>
          <p:cNvPr id="34" name="Benefício Turnos e custos"/>
          <p:cNvSpPr/>
          <p:nvPr/>
        </p:nvSpPr>
        <p:spPr>
          <a:xfrm>
            <a:off x="8010144" y="4617720"/>
            <a:ext cx="36118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Fundo do ícone FaUsers"/>
          <p:cNvSpPr/>
          <p:nvPr/>
        </p:nvSpPr>
        <p:spPr>
          <a:xfrm>
            <a:off x="8238744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Image 5" descr="Ícone 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502920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970264" y="4846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Turnos e custos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970264" y="5212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Dimensionamento correto, inclusive de turnos noturnos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base: 406 combinações × 435 desenhos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· BASE DE DADOS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176.610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32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linhas na 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737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406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32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combinações de parâmetros de corte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435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desenhos DXF (71 nestings + 364 peças)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429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18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colunas</a:t>
            </a:r>
            <a:endParaRPr lang="en-US" sz="1400" dirty="0"/>
          </a:p>
        </p:txBody>
      </p:sp>
      <p:sp>
        <p:nvSpPr>
          <p:cNvPr id="12" name="Cartão: plano de nesting"/>
          <p:cNvSpPr/>
          <p:nvPr/>
        </p:nvSpPr>
        <p:spPr>
          <a:xfrm>
            <a:off x="6263640" y="1691640"/>
            <a:ext cx="5376672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Plano de nesting n002 desenhado a partir do DX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316" y="1828800"/>
            <a:ext cx="4675320" cy="28803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n002.dxf · plano de nesting com 27.023 mm de perímetro de corte</a:t>
            </a:r>
            <a:endParaRPr lang="en-US" sz="1200" dirty="0"/>
          </a:p>
        </p:txBody>
      </p:sp>
      <p:sp>
        <p:nvSpPr>
          <p:cNvPr id="15" name="Faixa explicativa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406 × 435 = 176.610.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desenho foi cortado com cada combinação de parâmetros, e o tempo real foi registrado em cada caso (matriz completa).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cada linha da base carrega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· BASE DE DADOS</a:t>
            </a:r>
            <a:endParaRPr lang="en-US" sz="1200" dirty="0"/>
          </a:p>
        </p:txBody>
      </p:sp>
      <p:sp>
        <p:nvSpPr>
          <p:cNvPr id="4" name="Cartão Parâmetros de corte"/>
          <p:cNvSpPr/>
          <p:nvPr/>
        </p:nvSpPr>
        <p:spPr>
          <a:xfrm>
            <a:off x="548640" y="169164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do do ícone FaSlidersH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 FaSlider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80260"/>
            <a:ext cx="320040" cy="320040"/>
          </a:xfrm>
          <a:prstGeom prst="rect">
            <a:avLst/>
          </a:prstGeom>
        </p:spPr>
      </p:pic>
      <p:sp>
        <p:nvSpPr>
          <p:cNvPr id="7" name="Etiqueta ENTRADA"/>
          <p:cNvSpPr/>
          <p:nvPr/>
        </p:nvSpPr>
        <p:spPr>
          <a:xfrm>
            <a:off x="2057400" y="20574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5740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ENTRADA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Parâmetros de corte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11 colunas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Material (4) e espessura (29)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Potência: 1,5 a 12 kW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Gás auxiliar (3) e pressão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Velocidade de corte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Foco e bocal (tipo, diâmetro, distância)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Tipo de acabamento</a:t>
            </a:r>
            <a:endParaRPr lang="en-US" sz="1350" dirty="0"/>
          </a:p>
        </p:txBody>
      </p:sp>
      <p:sp>
        <p:nvSpPr>
          <p:cNvPr id="12" name="Cartão Geometria"/>
          <p:cNvSpPr/>
          <p:nvPr/>
        </p:nvSpPr>
        <p:spPr>
          <a:xfrm>
            <a:off x="3376879" y="169164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Fundo do ícone FaDraftingCompass"/>
          <p:cNvSpPr/>
          <p:nvPr/>
        </p:nvSpPr>
        <p:spPr>
          <a:xfrm>
            <a:off x="3651199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Ícone FaDrafting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219" y="2080260"/>
            <a:ext cx="320040" cy="320040"/>
          </a:xfrm>
          <a:prstGeom prst="rect">
            <a:avLst/>
          </a:prstGeom>
        </p:spPr>
      </p:pic>
      <p:sp>
        <p:nvSpPr>
          <p:cNvPr id="15" name="Etiqueta ENTRADA"/>
          <p:cNvSpPr/>
          <p:nvPr/>
        </p:nvSpPr>
        <p:spPr>
          <a:xfrm>
            <a:off x="4885639" y="20574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85639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ENTRADA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651199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Geometria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651199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 colunas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651199" y="352044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Plano Desenho: ID do DXF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Perímetro: de 90 a 131.764 mm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Extraído com ezdxf, por layer e por peça</a:t>
            </a:r>
            <a:endParaRPr lang="en-US" sz="1350" dirty="0"/>
          </a:p>
        </p:txBody>
      </p:sp>
      <p:sp>
        <p:nvSpPr>
          <p:cNvPr id="20" name="Cartão Alvo"/>
          <p:cNvSpPr/>
          <p:nvPr/>
        </p:nvSpPr>
        <p:spPr>
          <a:xfrm>
            <a:off x="6205118" y="169164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Fundo do ícone FaBullseye"/>
          <p:cNvSpPr/>
          <p:nvPr/>
        </p:nvSpPr>
        <p:spPr>
          <a:xfrm>
            <a:off x="6479438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2" descr="Ícone 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58" y="2080260"/>
            <a:ext cx="320040" cy="320040"/>
          </a:xfrm>
          <a:prstGeom prst="rect">
            <a:avLst/>
          </a:prstGeom>
        </p:spPr>
      </p:pic>
      <p:sp>
        <p:nvSpPr>
          <p:cNvPr id="23" name="Etiqueta ALVO"/>
          <p:cNvSpPr/>
          <p:nvPr/>
        </p:nvSpPr>
        <p:spPr>
          <a:xfrm>
            <a:off x="7713878" y="20574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13878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ALVO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479438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Alvo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479438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 coluna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479438" y="352044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Tempo Real Minutos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 0,002 a 307,7 min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É o que queremos prever</a:t>
            </a:r>
            <a:endParaRPr lang="en-US" sz="1350" dirty="0"/>
          </a:p>
        </p:txBody>
      </p:sp>
      <p:sp>
        <p:nvSpPr>
          <p:cNvPr id="28" name="Cartão Derivadas do tempo"/>
          <p:cNvSpPr/>
          <p:nvPr/>
        </p:nvSpPr>
        <p:spPr>
          <a:xfrm>
            <a:off x="9033358" y="169164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Fundo do ícone FaBan"/>
          <p:cNvSpPr/>
          <p:nvPr/>
        </p:nvSpPr>
        <p:spPr>
          <a:xfrm>
            <a:off x="9307678" y="19202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3" descr="Ícone Fa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698" y="2080260"/>
            <a:ext cx="320040" cy="320040"/>
          </a:xfrm>
          <a:prstGeom prst="rect">
            <a:avLst/>
          </a:prstGeom>
        </p:spPr>
      </p:pic>
      <p:sp>
        <p:nvSpPr>
          <p:cNvPr id="31" name="Etiqueta FORA"/>
          <p:cNvSpPr/>
          <p:nvPr/>
        </p:nvSpPr>
        <p:spPr>
          <a:xfrm>
            <a:off x="10542118" y="20574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542118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FORA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9307678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Derivadas do tempo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307678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 colunas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9307678" y="352044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Tempo estimado (s e min)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Tempo real em segundos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Diferença de tempo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Fora do modelo: leakage ou a própria fórmula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pipeline de dados que seguimos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Passo Coletar dados"/>
          <p:cNvSpPr/>
          <p:nvPr/>
        </p:nvSpPr>
        <p:spPr>
          <a:xfrm>
            <a:off x="548640" y="1691640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Número 1"/>
          <p:cNvSpPr/>
          <p:nvPr/>
        </p:nvSpPr>
        <p:spPr>
          <a:xfrm>
            <a:off x="713232" y="1773936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Coletar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691640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406 combinações × 435 DXF → dataset.xlsx (176.610 linhas)</a:t>
            </a:r>
            <a:endParaRPr lang="en-US" sz="1300" dirty="0"/>
          </a:p>
        </p:txBody>
      </p:sp>
      <p:sp>
        <p:nvSpPr>
          <p:cNvPr id="9" name="Etiqueta Concluído"/>
          <p:cNvSpPr/>
          <p:nvPr/>
        </p:nvSpPr>
        <p:spPr>
          <a:xfrm>
            <a:off x="10317175" y="1801368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7175" y="18013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Concluído</a:t>
            </a:r>
            <a:endParaRPr lang="en-US" sz="1100" dirty="0"/>
          </a:p>
        </p:txBody>
      </p:sp>
      <p:sp>
        <p:nvSpPr>
          <p:cNvPr id="11" name="Passo Limpeza mínima"/>
          <p:cNvSpPr/>
          <p:nvPr/>
        </p:nvSpPr>
        <p:spPr>
          <a:xfrm>
            <a:off x="548640" y="2249424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Número 2"/>
          <p:cNvSpPr/>
          <p:nvPr/>
        </p:nvSpPr>
        <p:spPr>
          <a:xfrm>
            <a:off x="713232" y="233172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249424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Limpeza mínima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249424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Duplicatas, tipos e unidades, impossíveis → NaN (sem imputar nem tirar outliers)</a:t>
            </a:r>
            <a:endParaRPr lang="en-US" sz="1300" dirty="0"/>
          </a:p>
        </p:txBody>
      </p:sp>
      <p:sp>
        <p:nvSpPr>
          <p:cNvPr id="16" name="Etiqueta Concluído"/>
          <p:cNvSpPr/>
          <p:nvPr/>
        </p:nvSpPr>
        <p:spPr>
          <a:xfrm>
            <a:off x="10317175" y="2359152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17175" y="23591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Concluído</a:t>
            </a:r>
            <a:endParaRPr lang="en-US" sz="1100" dirty="0"/>
          </a:p>
        </p:txBody>
      </p:sp>
      <p:sp>
        <p:nvSpPr>
          <p:cNvPr id="18" name="Passo Split inicial"/>
          <p:cNvSpPr/>
          <p:nvPr/>
        </p:nvSpPr>
        <p:spPr>
          <a:xfrm>
            <a:off x="548640" y="2807208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Número 3"/>
          <p:cNvSpPr/>
          <p:nvPr/>
        </p:nvSpPr>
        <p:spPr>
          <a:xfrm>
            <a:off x="713232" y="2889504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807208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 inicial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2807208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Por desenho: 80% treino e 20% teste, com o teste intocado</a:t>
            </a:r>
            <a:endParaRPr lang="en-US" sz="1300" dirty="0"/>
          </a:p>
        </p:txBody>
      </p:sp>
      <p:sp>
        <p:nvSpPr>
          <p:cNvPr id="23" name="Etiqueta Concluído"/>
          <p:cNvSpPr/>
          <p:nvPr/>
        </p:nvSpPr>
        <p:spPr>
          <a:xfrm>
            <a:off x="10317175" y="2916936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17175" y="29169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Concluído</a:t>
            </a:r>
            <a:endParaRPr lang="en-US" sz="1100" dirty="0"/>
          </a:p>
        </p:txBody>
      </p:sp>
      <p:sp>
        <p:nvSpPr>
          <p:cNvPr id="25" name="Passo Checagem de esquema"/>
          <p:cNvSpPr/>
          <p:nvPr/>
        </p:nvSpPr>
        <p:spPr>
          <a:xfrm>
            <a:off x="548640" y="3364992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Número 4"/>
          <p:cNvSpPr/>
          <p:nvPr/>
        </p:nvSpPr>
        <p:spPr>
          <a:xfrm>
            <a:off x="713232" y="3447288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36499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Checagem de esquema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364992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Colunas obrigatórias, faixas válidas e categorias permitidas</a:t>
            </a:r>
            <a:endParaRPr lang="en-US" sz="1300" dirty="0"/>
          </a:p>
        </p:txBody>
      </p:sp>
      <p:sp>
        <p:nvSpPr>
          <p:cNvPr id="30" name="Etiqueta Próximo"/>
          <p:cNvSpPr/>
          <p:nvPr/>
        </p:nvSpPr>
        <p:spPr>
          <a:xfrm>
            <a:off x="10317175" y="34747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17175" y="34747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Próximo</a:t>
            </a:r>
            <a:endParaRPr lang="en-US" sz="1100" dirty="0"/>
          </a:p>
        </p:txBody>
      </p:sp>
      <p:sp>
        <p:nvSpPr>
          <p:cNvPr id="32" name="Passo EDA (só no treino)"/>
          <p:cNvSpPr/>
          <p:nvPr/>
        </p:nvSpPr>
        <p:spPr>
          <a:xfrm>
            <a:off x="548640" y="3922776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Número 5"/>
          <p:cNvSpPr/>
          <p:nvPr/>
        </p:nvSpPr>
        <p:spPr>
          <a:xfrm>
            <a:off x="713232" y="400507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392277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EDA (só no treino)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3922776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Distribuições, missing, outliers, correlações, leakage e drift</a:t>
            </a:r>
            <a:endParaRPr lang="en-US" sz="1300" dirty="0"/>
          </a:p>
        </p:txBody>
      </p:sp>
      <p:sp>
        <p:nvSpPr>
          <p:cNvPr id="37" name="Etiqueta Concluído"/>
          <p:cNvSpPr/>
          <p:nvPr/>
        </p:nvSpPr>
        <p:spPr>
          <a:xfrm>
            <a:off x="10317175" y="403250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17175" y="40325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Concluído</a:t>
            </a:r>
            <a:endParaRPr lang="en-US" sz="1100" dirty="0"/>
          </a:p>
        </p:txBody>
      </p:sp>
      <p:sp>
        <p:nvSpPr>
          <p:cNvPr id="39" name="Passo 1) Pré-processamento"/>
          <p:cNvSpPr/>
          <p:nvPr/>
        </p:nvSpPr>
        <p:spPr>
          <a:xfrm>
            <a:off x="548640" y="4480560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Número 6"/>
          <p:cNvSpPr/>
          <p:nvPr/>
        </p:nvSpPr>
        <p:spPr>
          <a:xfrm>
            <a:off x="713232" y="4562856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448056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1) Pré-processamento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023360" y="4480560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One-hot (Material e Gás) e padronização, ajustados no treino</a:t>
            </a:r>
            <a:endParaRPr lang="en-US" sz="1300" dirty="0"/>
          </a:p>
        </p:txBody>
      </p:sp>
      <p:sp>
        <p:nvSpPr>
          <p:cNvPr id="44" name="Etiqueta Parcial"/>
          <p:cNvSpPr/>
          <p:nvPr/>
        </p:nvSpPr>
        <p:spPr>
          <a:xfrm>
            <a:off x="10317175" y="4590288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317175" y="45902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Parcial</a:t>
            </a:r>
            <a:endParaRPr lang="en-US" sz="1100" dirty="0"/>
          </a:p>
        </p:txBody>
      </p:sp>
      <p:sp>
        <p:nvSpPr>
          <p:cNvPr id="46" name="Passo 2) Criação de features"/>
          <p:cNvSpPr/>
          <p:nvPr/>
        </p:nvSpPr>
        <p:spPr>
          <a:xfrm>
            <a:off x="548640" y="5038344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Número 7"/>
          <p:cNvSpPr/>
          <p:nvPr/>
        </p:nvSpPr>
        <p:spPr>
          <a:xfrm>
            <a:off x="713232" y="512064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038344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2) Criação de features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023360" y="5038344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tempo_teorico_min = perímetro ÷ velocidade; polinômios de grau 2</a:t>
            </a:r>
            <a:endParaRPr lang="en-US" sz="1300" dirty="0"/>
          </a:p>
        </p:txBody>
      </p:sp>
      <p:sp>
        <p:nvSpPr>
          <p:cNvPr id="51" name="Etiqueta Parcial"/>
          <p:cNvSpPr/>
          <p:nvPr/>
        </p:nvSpPr>
        <p:spPr>
          <a:xfrm>
            <a:off x="10317175" y="5148072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317175" y="5148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Parcial</a:t>
            </a:r>
            <a:endParaRPr lang="en-US" sz="1100" dirty="0"/>
          </a:p>
        </p:txBody>
      </p:sp>
      <p:sp>
        <p:nvSpPr>
          <p:cNvPr id="53" name="Passo 3) Seleção de features"/>
          <p:cNvSpPr/>
          <p:nvPr/>
        </p:nvSpPr>
        <p:spPr>
          <a:xfrm>
            <a:off x="548640" y="5596128"/>
            <a:ext cx="11094415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Número 8"/>
          <p:cNvSpPr/>
          <p:nvPr/>
        </p:nvSpPr>
        <p:spPr>
          <a:xfrm>
            <a:off x="713232" y="5678424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3232" y="5678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234440" y="5596128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3) Seleção de features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4023360" y="5596128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VIF, Lasso/ElasticNet e permutation importance</a:t>
            </a:r>
            <a:endParaRPr lang="en-US" sz="1300" dirty="0"/>
          </a:p>
        </p:txBody>
      </p:sp>
      <p:sp>
        <p:nvSpPr>
          <p:cNvPr id="58" name="Etiqueta Próximo"/>
          <p:cNvSpPr/>
          <p:nvPr/>
        </p:nvSpPr>
        <p:spPr>
          <a:xfrm>
            <a:off x="10317175" y="5705856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317175" y="5705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Próximo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181344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Fonte: Aula 3 — Pré-processamento de Dados em Machine Learning (Dr. Rodrigo Ramos Silva). “Pré-processamento, features e seleção: fit no TREINO.”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Limpeza mínima e o “teste sagrado”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Cartão: limpeza"/>
          <p:cNvSpPr/>
          <p:nvPr/>
        </p:nvSpPr>
        <p:spPr>
          <a:xfrm>
            <a:off x="548640" y="169164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Limpeza mínima (determinística)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duplicatas exatas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valores impossíveis → NaN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linhas totalmente ruins descartadas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✓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tipos e unidades corrigidos (ex.: “3,18 mm (1/8")” → 3,18)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“Não imputar nem remover outliers aqui.” (Aula 3)</a:t>
            </a:r>
            <a:endParaRPr lang="en-US" sz="1200" dirty="0"/>
          </a:p>
        </p:txBody>
      </p:sp>
      <p:sp>
        <p:nvSpPr>
          <p:cNvPr id="15" name="Cartão: split"/>
          <p:cNvSpPr/>
          <p:nvPr/>
        </p:nvSpPr>
        <p:spPr>
          <a:xfrm>
            <a:off x="6172200" y="1691640"/>
            <a:ext cx="5468112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Split por desenho (grupo)</a:t>
            </a:r>
            <a:endParaRPr lang="en-US" sz="1800" dirty="0"/>
          </a:p>
        </p:txBody>
      </p:sp>
      <p:sp>
        <p:nvSpPr>
          <p:cNvPr id="17" name="Barra treino"/>
          <p:cNvSpPr/>
          <p:nvPr/>
        </p:nvSpPr>
        <p:spPr>
          <a:xfrm>
            <a:off x="6446520" y="2423160"/>
            <a:ext cx="3913632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rra teste"/>
          <p:cNvSpPr/>
          <p:nvPr/>
        </p:nvSpPr>
        <p:spPr>
          <a:xfrm>
            <a:off x="10396728" y="2423160"/>
            <a:ext cx="987552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242316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TREINO 80%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348 desenhos · 141.288 linhas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396728" y="242316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20%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Teste: 87 desenhos · 35.322 linhas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94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 desenho aparece em 406 linhas.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o mesmo desenho caísse nos dois lados, o modelo decoraria a peça e a métrica ficaria otimista.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Aula 3: “Por Grupo/Entidade: mantenha cada ID em apenas um conjunto.”</a:t>
            </a:r>
            <a:endParaRPr lang="en-US" sz="1200" dirty="0"/>
          </a:p>
        </p:txBody>
      </p:sp>
      <p:sp>
        <p:nvSpPr>
          <p:cNvPr id="24" name="Faixa regra de ouro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Etiqueta O PROFESSOR DISSE"/>
          <p:cNvSpPr/>
          <p:nvPr/>
        </p:nvSpPr>
        <p:spPr>
          <a:xfrm>
            <a:off x="777240" y="571500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5532120"/>
            <a:ext cx="8625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Regra de ouro: o TESTE não decide nada (não influencia imputação, escala, seleção, tuning, nada).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entender os dados antes de modelar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Item Distribuições"/>
          <p:cNvSpPr/>
          <p:nvPr/>
        </p:nvSpPr>
        <p:spPr>
          <a:xfrm>
            <a:off x="548640" y="1691640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do do ícone FaChartBar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 FaChart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459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Distribuições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671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Como cada coluna se espalha</a:t>
            </a:r>
            <a:endParaRPr lang="en-US" sz="1200" dirty="0"/>
          </a:p>
        </p:txBody>
      </p:sp>
      <p:sp>
        <p:nvSpPr>
          <p:cNvPr id="9" name="Item Valores faltando"/>
          <p:cNvSpPr/>
          <p:nvPr/>
        </p:nvSpPr>
        <p:spPr>
          <a:xfrm>
            <a:off x="4160520" y="1691640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Fundo do ícone FaQuestionCircle"/>
          <p:cNvSpPr/>
          <p:nvPr/>
        </p:nvSpPr>
        <p:spPr>
          <a:xfrm>
            <a:off x="434340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Ícone 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Valores faltando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1671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Quais têm NaN e se há padrão</a:t>
            </a:r>
            <a:endParaRPr lang="en-US" sz="1200" dirty="0"/>
          </a:p>
        </p:txBody>
      </p:sp>
      <p:sp>
        <p:nvSpPr>
          <p:cNvPr id="14" name="Item Outliers"/>
          <p:cNvSpPr/>
          <p:nvPr/>
        </p:nvSpPr>
        <p:spPr>
          <a:xfrm>
            <a:off x="548640" y="2807208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Fundo do ícone FaExclamationTriangle"/>
          <p:cNvSpPr/>
          <p:nvPr/>
        </p:nvSpPr>
        <p:spPr>
          <a:xfrm>
            <a:off x="731520" y="3035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Ícone 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615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Outliers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2826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Erro ou algo legítimo?</a:t>
            </a:r>
            <a:endParaRPr lang="en-US" sz="1200" dirty="0"/>
          </a:p>
        </p:txBody>
      </p:sp>
      <p:sp>
        <p:nvSpPr>
          <p:cNvPr id="19" name="Item Correlações"/>
          <p:cNvSpPr/>
          <p:nvPr/>
        </p:nvSpPr>
        <p:spPr>
          <a:xfrm>
            <a:off x="4160520" y="2807208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Fundo do ícone FaLink"/>
          <p:cNvSpPr/>
          <p:nvPr/>
        </p:nvSpPr>
        <p:spPr>
          <a:xfrm>
            <a:off x="4343400" y="3035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Ícone Fa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130" y="316153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2920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Correlações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029200" y="32826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 que se relaciona com o alvo e entre si</a:t>
            </a:r>
            <a:endParaRPr lang="en-US" sz="1200" dirty="0"/>
          </a:p>
        </p:txBody>
      </p:sp>
      <p:sp>
        <p:nvSpPr>
          <p:cNvPr id="24" name="Item Leakage"/>
          <p:cNvSpPr/>
          <p:nvPr/>
        </p:nvSpPr>
        <p:spPr>
          <a:xfrm>
            <a:off x="548640" y="3922776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Fundo do ícone FaLock"/>
          <p:cNvSpPr/>
          <p:nvPr/>
        </p:nvSpPr>
        <p:spPr>
          <a:xfrm>
            <a:off x="731520" y="4151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Ícone Fa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277106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078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Leakage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43982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Colunas que “entregam” a resposta</a:t>
            </a:r>
            <a:endParaRPr lang="en-US" sz="1200" dirty="0"/>
          </a:p>
        </p:txBody>
      </p:sp>
      <p:sp>
        <p:nvSpPr>
          <p:cNvPr id="29" name="Item Drift"/>
          <p:cNvSpPr/>
          <p:nvPr/>
        </p:nvSpPr>
        <p:spPr>
          <a:xfrm>
            <a:off x="4160520" y="3922776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Fundo do ícone FaWater"/>
          <p:cNvSpPr/>
          <p:nvPr/>
        </p:nvSpPr>
        <p:spPr>
          <a:xfrm>
            <a:off x="4343400" y="4151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Ícone FaW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130" y="4277106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029200" y="4078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Drift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029200" y="43982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Os dados mudam entre grupos ou no tempo?</a:t>
            </a:r>
            <a:endParaRPr lang="en-US" sz="1200" dirty="0"/>
          </a:p>
        </p:txBody>
      </p:sp>
      <p:sp>
        <p:nvSpPr>
          <p:cNvPr id="34" name="Item Hipóteses"/>
          <p:cNvSpPr/>
          <p:nvPr/>
        </p:nvSpPr>
        <p:spPr>
          <a:xfrm>
            <a:off x="548640" y="5038344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Fundo do ícone FaLightbulb"/>
          <p:cNvSpPr/>
          <p:nvPr/>
        </p:nvSpPr>
        <p:spPr>
          <a:xfrm>
            <a:off x="731520" y="526694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Image 6" descr="Ícone FaLightbul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5392674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17320" y="5193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Hipóteses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1417320" y="5513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Ideias de features e transformações (ex.: log no alvo)</a:t>
            </a:r>
            <a:endParaRPr lang="en-US" sz="1200" dirty="0"/>
          </a:p>
        </p:txBody>
      </p:sp>
      <p:sp>
        <p:nvSpPr>
          <p:cNvPr id="39" name="Cartão: por que só no treino"/>
          <p:cNvSpPr/>
          <p:nvPr/>
        </p:nvSpPr>
        <p:spPr>
          <a:xfrm>
            <a:off x="7818120" y="1691640"/>
            <a:ext cx="3822192" cy="4361688"/>
          </a:xfrm>
          <a:prstGeom prst="roundRect">
            <a:avLst>
              <a:gd name="adj" fmla="val 2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Por que só no treino?</a:t>
            </a:r>
            <a:endParaRPr lang="en-US" sz="2000" dirty="0"/>
          </a:p>
        </p:txBody>
      </p:sp>
      <p:sp>
        <p:nvSpPr>
          <p:cNvPr id="41" name="Text 32"/>
          <p:cNvSpPr txBox="1"/>
          <p:nvPr/>
        </p:nvSpPr>
        <p:spPr>
          <a:xfrm>
            <a:off x="8092440" y="24231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 o teste entrasse na exploração, limites de outlier e escolha de features seriam influenciados por ele, e o resultado final ficaria otimista. O teste fica “cego” até o fim.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8092440" y="41605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“A missão do EDA é atuar como a fase de diagnóstico do nosso dataset, gerando insights acionáveis.”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809244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Dr. Rodrigo Ramos Silva · Aula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alvo é muito assimétrico — o log resolve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Cartão histogramas do alvo"/>
          <p:cNvSpPr/>
          <p:nvPr/>
        </p:nvSpPr>
        <p:spPr>
          <a:xfrm>
            <a:off x="548640" y="1691640"/>
            <a:ext cx="822960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Dois histogramas do tempo real: em minutos (quase tudo na primeira faixa) e em escala log (formato de sin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53804"/>
            <a:ext cx="7955280" cy="31332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98280" y="16916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11,9 → 1,3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23500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assimetria do alvo: em minutos → em log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098280" y="320040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0,35 min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385876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mediana (p99 = 33,6 · máx. 307,7)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457200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523036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valores faltando no treino</a:t>
            </a:r>
            <a:endParaRPr lang="en-US" sz="1300" dirty="0"/>
          </a:p>
        </p:txBody>
      </p:sp>
      <p:sp>
        <p:nvSpPr>
          <p:cNvPr id="12" name="Faixa de leitura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55321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Leitura: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quase todas as linhas ficam na primeira faixa em minutos. Em log vira um sino com cauda leve, então o alvo vai para o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Outliers: as peças grandes são legítimas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Limiares candidatos de clipping no alvo (calculados só no treino)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Limiar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Valor (min)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Linhas afetadas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Média do alvo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p99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33,6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1,0%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2,06 → 1,76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p99,5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49,5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0,5%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2,06 → 1,87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p99,9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111,2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0,1%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2,06 → 2,02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tão decisão"/>
          <p:cNvSpPr/>
          <p:nvPr/>
        </p:nvSpPr>
        <p:spPr>
          <a:xfrm>
            <a:off x="548640" y="4434840"/>
            <a:ext cx="658368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572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Decisão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9204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Não remover: são peças grandes de verdade.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for clipar, usar o limite do treino (p99,5 = 49,5 min) e avaliar sem clipar.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Clipar não apaga o dado: limita ao valor máximo (Aula 3).</a:t>
            </a:r>
            <a:endParaRPr lang="en-US" sz="1400" dirty="0"/>
          </a:p>
        </p:txBody>
      </p:sp>
      <p:sp>
        <p:nvSpPr>
          <p:cNvPr id="9" name="Cartão razão da cauda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262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266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Razão real ÷ teórico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≈ 1,5×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264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top 1% do alvo (peças grandes): de 1,4 a 1,7×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977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≈ 2,7×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910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nas demais linhas (mediana), chegando a 1.924× nas peças pequenas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se relaciona com o tempo real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Cartão gráfico de correlação"/>
          <p:cNvSpPr/>
          <p:nvPr/>
        </p:nvSpPr>
        <p:spPr>
          <a:xfrm>
            <a:off x="548640" y="1691640"/>
            <a:ext cx="672084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Barras horizontais com a correlação de Pearson e de Spearman de cada coluna com o tempo 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83685"/>
            <a:ext cx="6492240" cy="4050750"/>
          </a:xfrm>
          <a:prstGeom prst="rect">
            <a:avLst/>
          </a:prstGeom>
        </p:spPr>
      </p:pic>
      <p:sp>
        <p:nvSpPr>
          <p:cNvPr id="6" name="Insight Tempo teórico"/>
          <p:cNvSpPr/>
          <p:nvPr/>
        </p:nvSpPr>
        <p:spPr>
          <a:xfrm>
            <a:off x="7498080" y="1691640"/>
            <a:ext cx="41422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0" y="1828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Tempo teórico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48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0,999 (Pearson) e 0,89 (Spearman): nenhuma outra coluna chega perto.</a:t>
            </a:r>
            <a:endParaRPr lang="en-US" sz="1250" dirty="0"/>
          </a:p>
        </p:txBody>
      </p:sp>
      <p:sp>
        <p:nvSpPr>
          <p:cNvPr id="9" name="Insight Velocidade"/>
          <p:cNvSpPr/>
          <p:nvPr/>
        </p:nvSpPr>
        <p:spPr>
          <a:xfrm>
            <a:off x="7498080" y="3200400"/>
            <a:ext cx="41422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0" y="3337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Velocidade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657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−0,12 no Pearson e −0,52 no Spearman: relação inversa e não linear (tempo ∝ 1/velocidade).</a:t>
            </a:r>
            <a:endParaRPr lang="en-US" sz="1250" dirty="0"/>
          </a:p>
        </p:txBody>
      </p:sp>
      <p:sp>
        <p:nvSpPr>
          <p:cNvPr id="12" name="Insight Colinearidade"/>
          <p:cNvSpPr/>
          <p:nvPr/>
        </p:nvSpPr>
        <p:spPr>
          <a:xfrm>
            <a:off x="7498080" y="4709160"/>
            <a:ext cx="41422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0" y="4846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Colinearidade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5166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Parâmetros se correlacionam entre si (pressão × foco: −0,85). Aula 6: “ausência de multicolinearidade severa (em múltipla)”.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Leakage e drift: o que não pode entrar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040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33832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Coluna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Veredito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Por quê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Tempo Real (segundos)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LEAKAGE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é o alvo em outra unidade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Diferença de Tempo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LEAKAGE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contém o alvo (real − estimado)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Tempo Estimado (s e min)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REDUNDANTE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é só a fórmula perímetro ÷ velocidade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Tipo de Bocal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REDUNDANTE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é função do Gás auxiliar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Tipo de Acabamento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REDUNDANTE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é função de Material + Gás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tempo_teorico_min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calculável antes do corte (DXF + tabela)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itação do professor"/>
          <p:cNvSpPr/>
          <p:nvPr/>
        </p:nvSpPr>
        <p:spPr>
          <a:xfrm>
            <a:off x="7818120" y="1691640"/>
            <a:ext cx="3822192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Etiqueta O PROFESSOR DISSE"/>
          <p:cNvSpPr/>
          <p:nvPr/>
        </p:nvSpPr>
        <p:spPr>
          <a:xfrm>
            <a:off x="8046720" y="1892808"/>
            <a:ext cx="192024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58568"/>
            <a:ext cx="3364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“Leakage (vazamento): quando informações do futuro ou do conjunto de teste “vazam” para o treino, fazendo o modelo parecer muito melhor do que realmente é.”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840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Dr. Rodrigo Ramos Silva · Aula 3</a:t>
            </a:r>
            <a:endParaRPr lang="en-US" sz="1100" dirty="0"/>
          </a:p>
        </p:txBody>
      </p:sp>
      <p:sp>
        <p:nvSpPr>
          <p:cNvPr id="10" name="Cartão drift"/>
          <p:cNvSpPr/>
          <p:nvPr/>
        </p:nvSpPr>
        <p:spPr>
          <a:xfrm>
            <a:off x="7818120" y="4480560"/>
            <a:ext cx="3822192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4590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Drift entre desenhos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≤ 0,14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484632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KS máximo entre grupos de desenhos (perímetro); no alvo, 0,04. Sem coluna de data: sem drift temporal.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a EDA nos faz decidir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· PIPELINE E EDA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O QUE ENCONTRAMOS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 QUE DECIDIMOS</a:t>
            </a:r>
            <a:endParaRPr lang="en-US" sz="1200" dirty="0"/>
          </a:p>
        </p:txBody>
      </p:sp>
      <p:sp>
        <p:nvSpPr>
          <p:cNvPr id="6" name="Descoberta 1"/>
          <p:cNvSpPr/>
          <p:nvPr/>
        </p:nvSpPr>
        <p:spPr>
          <a:xfrm>
            <a:off x="548640" y="1965960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Alvo com assimetria 11,9 (1,3 em log)</a:t>
            </a:r>
            <a:endParaRPr lang="en-US" sz="1400" dirty="0"/>
          </a:p>
        </p:txBody>
      </p:sp>
      <p:sp>
        <p:nvSpPr>
          <p:cNvPr id="8" name="Seta 1"/>
          <p:cNvSpPr/>
          <p:nvPr/>
        </p:nvSpPr>
        <p:spPr>
          <a:xfrm>
            <a:off x="5806440" y="2103120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Decisão 1"/>
          <p:cNvSpPr/>
          <p:nvPr/>
        </p:nvSpPr>
        <p:spPr>
          <a:xfrm>
            <a:off x="6492240" y="1965960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Testar o alvo em log</a:t>
            </a:r>
            <a:endParaRPr lang="en-US" sz="1400" dirty="0"/>
          </a:p>
        </p:txBody>
      </p:sp>
      <p:sp>
        <p:nvSpPr>
          <p:cNvPr id="11" name="Descoberta 2"/>
          <p:cNvSpPr/>
          <p:nvPr/>
        </p:nvSpPr>
        <p:spPr>
          <a:xfrm>
            <a:off x="548640" y="2670048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26700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 ≈ perímetro ÷ velocidade (corr. 0,999)</a:t>
            </a:r>
            <a:endParaRPr lang="en-US" sz="1400" dirty="0"/>
          </a:p>
        </p:txBody>
      </p:sp>
      <p:sp>
        <p:nvSpPr>
          <p:cNvPr id="13" name="Seta 2"/>
          <p:cNvSpPr/>
          <p:nvPr/>
        </p:nvSpPr>
        <p:spPr>
          <a:xfrm>
            <a:off x="5806440" y="2807208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Decisão 2"/>
          <p:cNvSpPr/>
          <p:nvPr/>
        </p:nvSpPr>
        <p:spPr>
          <a:xfrm>
            <a:off x="6492240" y="2670048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6700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Criar a feature tempo_teorico_min</a:t>
            </a:r>
            <a:endParaRPr lang="en-US" sz="1400" dirty="0"/>
          </a:p>
        </p:txBody>
      </p:sp>
      <p:sp>
        <p:nvSpPr>
          <p:cNvPr id="16" name="Descoberta 3"/>
          <p:cNvSpPr/>
          <p:nvPr/>
        </p:nvSpPr>
        <p:spPr>
          <a:xfrm>
            <a:off x="548640" y="3374136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3741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Bocal e Acabamento = f(Material, Gás)</a:t>
            </a:r>
            <a:endParaRPr lang="en-US" sz="1400" dirty="0"/>
          </a:p>
        </p:txBody>
      </p:sp>
      <p:sp>
        <p:nvSpPr>
          <p:cNvPr id="18" name="Seta 3"/>
          <p:cNvSpPr/>
          <p:nvPr/>
        </p:nvSpPr>
        <p:spPr>
          <a:xfrm>
            <a:off x="5806440" y="3511296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Decisão 3"/>
          <p:cNvSpPr/>
          <p:nvPr/>
        </p:nvSpPr>
        <p:spPr>
          <a:xfrm>
            <a:off x="6492240" y="3374136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3741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Usar só Material e Gás (one-hot)</a:t>
            </a:r>
            <a:endParaRPr lang="en-US" sz="1400" dirty="0"/>
          </a:p>
        </p:txBody>
      </p:sp>
      <p:sp>
        <p:nvSpPr>
          <p:cNvPr id="21" name="Descoberta 4"/>
          <p:cNvSpPr/>
          <p:nvPr/>
        </p:nvSpPr>
        <p:spPr>
          <a:xfrm>
            <a:off x="548640" y="4078224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0782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correlacionados entre si</a:t>
            </a:r>
            <a:endParaRPr lang="en-US" sz="1400" dirty="0"/>
          </a:p>
        </p:txBody>
      </p:sp>
      <p:sp>
        <p:nvSpPr>
          <p:cNvPr id="23" name="Seta 4"/>
          <p:cNvSpPr/>
          <p:nvPr/>
        </p:nvSpPr>
        <p:spPr>
          <a:xfrm>
            <a:off x="5806440" y="4215384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Decisão 4"/>
          <p:cNvSpPr/>
          <p:nvPr/>
        </p:nvSpPr>
        <p:spPr>
          <a:xfrm>
            <a:off x="6492240" y="4078224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40782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Regularização (Ridge/Lasso) e checar VIF</a:t>
            </a:r>
            <a:endParaRPr lang="en-US" sz="1400" dirty="0"/>
          </a:p>
        </p:txBody>
      </p:sp>
      <p:sp>
        <p:nvSpPr>
          <p:cNvPr id="26" name="Descoberta 5"/>
          <p:cNvSpPr/>
          <p:nvPr/>
        </p:nvSpPr>
        <p:spPr>
          <a:xfrm>
            <a:off x="548640" y="4782312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47823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≈ 1,5× teórico + tempo fixo por peça</a:t>
            </a:r>
            <a:endParaRPr lang="en-US" sz="1400" dirty="0"/>
          </a:p>
        </p:txBody>
      </p:sp>
      <p:sp>
        <p:nvSpPr>
          <p:cNvPr id="28" name="Seta 5"/>
          <p:cNvSpPr/>
          <p:nvPr/>
        </p:nvSpPr>
        <p:spPr>
          <a:xfrm>
            <a:off x="5806440" y="4919472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Decisão 5"/>
          <p:cNvSpPr/>
          <p:nvPr/>
        </p:nvSpPr>
        <p:spPr>
          <a:xfrm>
            <a:off x="6492240" y="4782312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47823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Interações do tempo teórico com Gás e Material</a:t>
            </a:r>
            <a:endParaRPr lang="en-US" sz="1400" dirty="0"/>
          </a:p>
        </p:txBody>
      </p:sp>
      <p:sp>
        <p:nvSpPr>
          <p:cNvPr id="31" name="Descoberta 6"/>
          <p:cNvSpPr/>
          <p:nvPr/>
        </p:nvSpPr>
        <p:spPr>
          <a:xfrm>
            <a:off x="548640" y="5486400"/>
            <a:ext cx="512064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5486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Colunas de tempo derivadas do alvo</a:t>
            </a:r>
            <a:endParaRPr lang="en-US" sz="1400" dirty="0"/>
          </a:p>
        </p:txBody>
      </p:sp>
      <p:sp>
        <p:nvSpPr>
          <p:cNvPr id="33" name="Seta 6"/>
          <p:cNvSpPr/>
          <p:nvPr/>
        </p:nvSpPr>
        <p:spPr>
          <a:xfrm>
            <a:off x="5806440" y="5623560"/>
            <a:ext cx="548640" cy="3200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Decisão 6"/>
          <p:cNvSpPr/>
          <p:nvPr/>
        </p:nvSpPr>
        <p:spPr>
          <a:xfrm>
            <a:off x="6492240" y="5486400"/>
            <a:ext cx="5148072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5486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Fora do modelo (leakage)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É um problema de regressão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· TIPO DE PROBLEMA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Regressão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Classificação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O que prevê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Um valor numérico em escala contínua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Uma categoria ou classe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Exemplos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Preço de casa, temperatura, tempo de corte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Spam ou não spam, tipo de material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Resposta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0,35 min, 2,7 min, 307,7 min… qualquer valor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“rápido”, “médio” ou “lento”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Métricas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MAE, RMSE, R²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acurácia, F1, matriz de confusão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tão: no nosso caso"/>
          <p:cNvSpPr/>
          <p:nvPr/>
        </p:nvSpPr>
        <p:spPr>
          <a:xfrm>
            <a:off x="7635240" y="1691640"/>
            <a:ext cx="4005072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No nosso caso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0,002 → 307,7 min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8803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Sem balanceamento de classes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Sem estratificação: split por grupo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Métricas de erro numérico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Modelos regressores</a:t>
            </a:r>
            <a:endParaRPr lang="en-US" sz="1300" dirty="0"/>
          </a:p>
        </p:txBody>
      </p:sp>
      <p:sp>
        <p:nvSpPr>
          <p:cNvPr id="9" name="Citação do professor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Etiqueta O PROFESSOR DISSE"/>
          <p:cNvSpPr/>
          <p:nvPr/>
        </p:nvSpPr>
        <p:spPr>
          <a:xfrm>
            <a:off x="777240" y="534924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880360" y="4974336"/>
            <a:ext cx="8485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“Manufatura e qualidade: prever rendimento, espessura, resistência, consumo de energia e tempo de ciclo a partir de ajustes de máquina.”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5742432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Dr. Rodrigo Ramos Silva · Aula 6, “Onde usamos a regressão?”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Modelos disponíveis para regressão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05 · MODELOS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3474720"/>
                <a:gridCol w="10332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Por que entra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Ponto fraco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Fórmula fixa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É o que existe hoje; todo modelo precisa superá-la.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Não é um modelo treinado.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F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Linear simples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Baseline mais simples; captura a parte proporcional.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Ignora parâmetros e o tempo fixo.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F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Linear múltipla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Interpretável: um coeficiente por variável.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Só funciona bem com tempo teórico ou log.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F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Polinomial múltipla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Captura curvatura e interações entre variáveis.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Muitos termos; risco de overfit nas bordas.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F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Ridge / Lasso / ElasticNet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Controlam colinearidade; o Lasso seleciona features.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Precisam de escala e ajuste de alpha.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98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Captura interações e os dois regimes sem transformar.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Não extrapola para peças maiores que as do treino.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98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3"/>
                          </a:solidFill>
                        </a:rPr>
                        <a:t>Gradient Boosting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Costuma ser o mais preciso em dados tabulares.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3"/>
                          </a:solidFill>
                        </a:rPr>
                        <a:t>Mais hiperparâmetros; também não extrapola.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98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Não recomendados aqui: KNN e SVR (lentos com 140 mil linhas e sensíveis à escala) e redes neurais (exagero para dados tabulares).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quatro modelos do benchmark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05 · MODELOS</a:t>
            </a:r>
            <a:endParaRPr lang="en-US" sz="1200" dirty="0"/>
          </a:p>
        </p:txBody>
      </p:sp>
      <p:sp>
        <p:nvSpPr>
          <p:cNvPr id="4" name="Modelo Fórmula fixa"/>
          <p:cNvSpPr/>
          <p:nvPr/>
        </p:nvSpPr>
        <p:spPr>
          <a:xfrm>
            <a:off x="548640" y="169164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Número do modelo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Fórmula fixa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Referência, sem treino</a:t>
            </a:r>
            <a:endParaRPr lang="en-US" sz="1300" dirty="0"/>
          </a:p>
        </p:txBody>
      </p:sp>
      <p:sp>
        <p:nvSpPr>
          <p:cNvPr id="9" name="Fórmula do modelo 1"/>
          <p:cNvSpPr/>
          <p:nvPr/>
        </p:nvSpPr>
        <p:spPr>
          <a:xfrm>
            <a:off x="777240" y="3383280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tempo = perímetro ÷ velocidade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variáveis (perímetro e velocidade)</a:t>
            </a:r>
            <a:endParaRPr lang="en-US" sz="1200" dirty="0"/>
          </a:p>
        </p:txBody>
      </p:sp>
      <p:sp>
        <p:nvSpPr>
          <p:cNvPr id="12" name="Modelo Linear simples"/>
          <p:cNvSpPr/>
          <p:nvPr/>
        </p:nvSpPr>
        <p:spPr>
          <a:xfrm>
            <a:off x="3376879" y="169164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Número do modelo 2"/>
          <p:cNvSpPr/>
          <p:nvPr/>
        </p:nvSpPr>
        <p:spPr>
          <a:xfrm>
            <a:off x="3605479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5479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05479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Linear simples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05479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Uma reta sobre o tempo teórico</a:t>
            </a:r>
            <a:endParaRPr lang="en-US" sz="1300" dirty="0"/>
          </a:p>
        </p:txBody>
      </p:sp>
      <p:sp>
        <p:nvSpPr>
          <p:cNvPr id="17" name="Fórmula do modelo 2"/>
          <p:cNvSpPr/>
          <p:nvPr/>
        </p:nvSpPr>
        <p:spPr>
          <a:xfrm>
            <a:off x="3605479" y="3383280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1199" y="3383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ŷ = w₀ + w₁ · tempo_teórico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05479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variável</a:t>
            </a:r>
            <a:endParaRPr lang="en-US" sz="1200" dirty="0"/>
          </a:p>
        </p:txBody>
      </p:sp>
      <p:sp>
        <p:nvSpPr>
          <p:cNvPr id="20" name="Modelo Linear múltipla"/>
          <p:cNvSpPr/>
          <p:nvPr/>
        </p:nvSpPr>
        <p:spPr>
          <a:xfrm>
            <a:off x="6205118" y="169164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Número do modelo 3"/>
          <p:cNvSpPr/>
          <p:nvPr/>
        </p:nvSpPr>
        <p:spPr>
          <a:xfrm>
            <a:off x="6433718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371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33718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Linear múltipla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33718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Vários fatores ao mesmo tempo</a:t>
            </a:r>
            <a:endParaRPr lang="en-US" sz="1300" dirty="0"/>
          </a:p>
        </p:txBody>
      </p:sp>
      <p:sp>
        <p:nvSpPr>
          <p:cNvPr id="25" name="Fórmula do modelo 3"/>
          <p:cNvSpPr/>
          <p:nvPr/>
        </p:nvSpPr>
        <p:spPr>
          <a:xfrm>
            <a:off x="6433718" y="3383280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9438" y="3383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ŷ = w₀ + Σ wⱼ · xⱼ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33718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numéricas padronizadas + Material e Gás (one-hot)</a:t>
            </a:r>
            <a:endParaRPr lang="en-US" sz="1200" dirty="0"/>
          </a:p>
        </p:txBody>
      </p:sp>
      <p:sp>
        <p:nvSpPr>
          <p:cNvPr id="28" name="Modelo Polinomial múltipla"/>
          <p:cNvSpPr/>
          <p:nvPr/>
        </p:nvSpPr>
        <p:spPr>
          <a:xfrm>
            <a:off x="9033358" y="1691640"/>
            <a:ext cx="2606040" cy="33375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Número do modelo 4"/>
          <p:cNvSpPr/>
          <p:nvPr/>
        </p:nvSpPr>
        <p:spPr>
          <a:xfrm>
            <a:off x="9261958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6195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61958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Polinomial múltipla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261958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As mesmas, com curvatura</a:t>
            </a:r>
            <a:endParaRPr lang="en-US" sz="1300" dirty="0"/>
          </a:p>
        </p:txBody>
      </p:sp>
      <p:sp>
        <p:nvSpPr>
          <p:cNvPr id="33" name="Fórmula do modelo 4"/>
          <p:cNvSpPr/>
          <p:nvPr/>
        </p:nvSpPr>
        <p:spPr>
          <a:xfrm>
            <a:off x="9261958" y="3383280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07678" y="3383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grau 2: xⱼ, xⱼ² e xᵢ · xⱼ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261958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54 termos numéricos + Material e Gás</a:t>
            </a:r>
            <a:endParaRPr lang="en-US" sz="1200" dirty="0"/>
          </a:p>
        </p:txBody>
      </p:sp>
      <p:sp>
        <p:nvSpPr>
          <p:cNvPr id="36" name="Citação do professor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Etiqueta O PROFESSOR DISSE"/>
          <p:cNvSpPr/>
          <p:nvPr/>
        </p:nvSpPr>
        <p:spPr>
          <a:xfrm>
            <a:off x="777240" y="557784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880360" y="5294376"/>
            <a:ext cx="8488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“A regressão polinomial continua linear nos coeficientes. O que muda são as features: além de x, criamos x², x³ e assim por diante.”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880360" y="5879592"/>
            <a:ext cx="8488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Guia Prático Aula 6 — Regressão em Python, seção 11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avaliamos: erro, não só R²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05 · MODELOS</a:t>
            </a:r>
            <a:endParaRPr lang="en-US" sz="1200" dirty="0"/>
          </a:p>
        </p:txBody>
      </p:sp>
      <p:sp>
        <p:nvSpPr>
          <p:cNvPr id="4" name="Métrica MAE"/>
          <p:cNvSpPr/>
          <p:nvPr/>
        </p:nvSpPr>
        <p:spPr>
          <a:xfrm>
            <a:off x="548640" y="169164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MAE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erro médio, na unidade do alvo (min)</a:t>
            </a:r>
            <a:endParaRPr lang="en-US" sz="1300" dirty="0"/>
          </a:p>
        </p:txBody>
      </p:sp>
      <p:sp>
        <p:nvSpPr>
          <p:cNvPr id="7" name="Métrica RMSE"/>
          <p:cNvSpPr/>
          <p:nvPr/>
        </p:nvSpPr>
        <p:spPr>
          <a:xfrm>
            <a:off x="3611880" y="169164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40480" y="1856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RMSE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pesa mais os erros grandes</a:t>
            </a:r>
            <a:endParaRPr lang="en-US" sz="1300" dirty="0"/>
          </a:p>
        </p:txBody>
      </p:sp>
      <p:sp>
        <p:nvSpPr>
          <p:cNvPr id="10" name="Métrica MAPE"/>
          <p:cNvSpPr/>
          <p:nvPr/>
        </p:nvSpPr>
        <p:spPr>
          <a:xfrm>
            <a:off x="548640" y="329184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MAPE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erro percentual médio</a:t>
            </a:r>
            <a:endParaRPr lang="en-US" sz="1300" dirty="0"/>
          </a:p>
        </p:txBody>
      </p:sp>
      <p:sp>
        <p:nvSpPr>
          <p:cNvPr id="13" name="Métrica R²"/>
          <p:cNvSpPr/>
          <p:nvPr/>
        </p:nvSpPr>
        <p:spPr>
          <a:xfrm>
            <a:off x="3611880" y="329184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4048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R²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fração da variação explicada</a:t>
            </a:r>
            <a:endParaRPr lang="en-US" sz="1300" dirty="0"/>
          </a:p>
        </p:txBody>
      </p:sp>
      <p:sp>
        <p:nvSpPr>
          <p:cNvPr id="16" name="Protocolo 1"/>
          <p:cNvSpPr/>
          <p:nvPr/>
        </p:nvSpPr>
        <p:spPr>
          <a:xfrm>
            <a:off x="6903720" y="1691640"/>
            <a:ext cx="473659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Número protocolo 1"/>
          <p:cNvSpPr/>
          <p:nvPr/>
        </p:nvSpPr>
        <p:spPr>
          <a:xfrm>
            <a:off x="713232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 por desenho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167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80% treino · 20% teste, sem repetir desenho</a:t>
            </a:r>
            <a:endParaRPr lang="en-US" sz="1250" dirty="0"/>
          </a:p>
        </p:txBody>
      </p:sp>
      <p:sp>
        <p:nvSpPr>
          <p:cNvPr id="21" name="Protocolo 2"/>
          <p:cNvSpPr/>
          <p:nvPr/>
        </p:nvSpPr>
        <p:spPr>
          <a:xfrm>
            <a:off x="6903720" y="2770632"/>
            <a:ext cx="473659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Número protocolo 2"/>
          <p:cNvSpPr/>
          <p:nvPr/>
        </p:nvSpPr>
        <p:spPr>
          <a:xfrm>
            <a:off x="7132320" y="29992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Validação cruzada por desenho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5 folds só no treino (GroupKFold)</a:t>
            </a:r>
            <a:endParaRPr lang="en-US" sz="1250" dirty="0"/>
          </a:p>
        </p:txBody>
      </p:sp>
      <p:sp>
        <p:nvSpPr>
          <p:cNvPr id="26" name="Protocolo 3"/>
          <p:cNvSpPr/>
          <p:nvPr/>
        </p:nvSpPr>
        <p:spPr>
          <a:xfrm>
            <a:off x="6903720" y="3849624"/>
            <a:ext cx="473659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Número protocolo 3"/>
          <p:cNvSpPr/>
          <p:nvPr/>
        </p:nvSpPr>
        <p:spPr>
          <a:xfrm>
            <a:off x="71323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986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 aberto uma única vez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4325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no final, com o modelo treinado no treino inteiro</a:t>
            </a:r>
            <a:endParaRPr lang="en-US" sz="1250" dirty="0"/>
          </a:p>
        </p:txBody>
      </p:sp>
      <p:sp>
        <p:nvSpPr>
          <p:cNvPr id="31" name="Citação do professor"/>
          <p:cNvSpPr/>
          <p:nvPr/>
        </p:nvSpPr>
        <p:spPr>
          <a:xfrm>
            <a:off x="548640" y="50749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Etiqueta O PROFESSOR DISSE"/>
          <p:cNvSpPr/>
          <p:nvPr/>
        </p:nvSpPr>
        <p:spPr>
          <a:xfrm>
            <a:off x="777240" y="550926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092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880360" y="5202936"/>
            <a:ext cx="8488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“R² não é “98,8% de acerto”. Para saber o erro em reais, graus ou centímetros, olhe MAE/RMSE.”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880360" y="5833872"/>
            <a:ext cx="8488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Dr. Rodrigo Ramos Silva · Aula 6, Métricas II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Calibrar o tempo teórico corta o erro em ~79%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 · RESULTADOS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−79%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erro médio (MAE): 0,81 → 0,17 min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0,87 → 0,997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R² da fórmula fixa → linear simples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Validação cruzada por desenho, só no treino.</a:t>
            </a:r>
            <a:endParaRPr lang="en-US" sz="1300" dirty="0"/>
          </a:p>
        </p:txBody>
      </p:sp>
      <p:sp>
        <p:nvSpPr>
          <p:cNvPr id="9" name="Cartão gráfico MAE"/>
          <p:cNvSpPr/>
          <p:nvPr/>
        </p:nvSpPr>
        <p:spPr>
          <a:xfrm>
            <a:off x="4846320" y="1691640"/>
            <a:ext cx="6793992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Barras do erro médio absoluto em minutos: fórmula fixa 0,81 e modelos treinados 0,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1920465"/>
            <a:ext cx="6492240" cy="39771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Resultado: validação cruzada e teste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 · RESULTADOS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78992"/>
              </a:tblGrid>
              <a:tr h="50292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Validação cruzada (treino)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Teste (aberto 1×)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(min)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(min)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 (%)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(min)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(min)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 (%)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8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Fórmula fixa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0,813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2,752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62,6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0,8690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0,770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2,238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61,3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0,8663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Linear simples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0,172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0,394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28,5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0,9970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0,166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0,333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25,5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0,9970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Linear múltipla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0,173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0,392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31,0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0,9971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0,165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0,329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27,6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0,9971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</a:rPr>
                        <a:t>Polinomial múltipla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0,173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0,391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32,3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0,9971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0,166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0,329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28,6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</a:rPr>
                        <a:t>0,9971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eitura Teste ≈ validação"/>
          <p:cNvSpPr/>
          <p:nvPr/>
        </p:nvSpPr>
        <p:spPr>
          <a:xfrm>
            <a:off x="548640" y="4983480"/>
            <a:ext cx="36118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074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Teste ≈ validação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394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MAE 0,166 no teste contra 0,172 na validação: sem sinal de overfit.</a:t>
            </a:r>
            <a:endParaRPr lang="en-US" sz="1250" dirty="0"/>
          </a:p>
        </p:txBody>
      </p:sp>
      <p:sp>
        <p:nvSpPr>
          <p:cNvPr id="8" name="Leitura RMSE ≈ 2,3× o MAE"/>
          <p:cNvSpPr/>
          <p:nvPr/>
        </p:nvSpPr>
        <p:spPr>
          <a:xfrm>
            <a:off x="4279392" y="4983480"/>
            <a:ext cx="36118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07992" y="5074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RMSE ≈ 2,3× o MAE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07992" y="5394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Poucos erros grandes pesam. Professor: MAE e RMSE próximos sugerem ausência de extremos.</a:t>
            </a:r>
            <a:endParaRPr lang="en-US" sz="1250" dirty="0"/>
          </a:p>
        </p:txBody>
      </p:sp>
      <p:sp>
        <p:nvSpPr>
          <p:cNvPr id="11" name="Leitura Melhor por métrica"/>
          <p:cNvSpPr/>
          <p:nvPr/>
        </p:nvSpPr>
        <p:spPr>
          <a:xfrm>
            <a:off x="8010144" y="4983480"/>
            <a:ext cx="36118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38744" y="5074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Melhor por métrica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38744" y="5394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Verde = melhor entre os 3 treinados; as diferenças são mínimas.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× previsto: o piso de ~0,17 min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 · RESULTADOS</a:t>
            </a:r>
            <a:endParaRPr lang="en-US" sz="1200" dirty="0"/>
          </a:p>
        </p:txBody>
      </p:sp>
      <p:sp>
        <p:nvSpPr>
          <p:cNvPr id="4" name="Cartão real versus previsto"/>
          <p:cNvSpPr/>
          <p:nvPr/>
        </p:nvSpPr>
        <p:spPr>
          <a:xfrm>
            <a:off x="548640" y="1645920"/>
            <a:ext cx="11094415" cy="3109093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Quatro gráficos de dispersão real versus previsto em escala log, um por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10820095" cy="27646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613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91%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96261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das linhas: a fórmula fixa subestima o tempo em mais de 1,5×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79392" y="4983613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0,17 min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279392" y="5596261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menor valor previsto pelos modelos lineares; o real chega a 0,002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10144" y="4983613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11–15%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010144" y="5596261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das linhas ficam acima de 1,5× o real nos modelos treinados (peças rápidas)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erro percentual está nas peças pequenas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 · RESULTADOS</a:t>
            </a:r>
            <a:endParaRPr lang="en-US" sz="1200" dirty="0"/>
          </a:p>
        </p:txBody>
      </p:sp>
      <p:sp>
        <p:nvSpPr>
          <p:cNvPr id="4" name="Cartão gráfico por tamanho"/>
          <p:cNvSpPr/>
          <p:nvPr/>
        </p:nvSpPr>
        <p:spPr>
          <a:xfrm>
            <a:off x="548640" y="1691640"/>
            <a:ext cx="704088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Linhas do erro percentual médio por faixa de tamanho de peça, uma linha por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389"/>
            <a:ext cx="6858000" cy="4069342"/>
          </a:xfrm>
          <a:prstGeom prst="rect">
            <a:avLst/>
          </a:prstGeom>
        </p:spPr>
      </p:pic>
      <p:sp>
        <p:nvSpPr>
          <p:cNvPr id="6" name="Leitura Menores peças"/>
          <p:cNvSpPr/>
          <p:nvPr/>
        </p:nvSpPr>
        <p:spPr>
          <a:xfrm>
            <a:off x="7818120" y="1691640"/>
            <a:ext cx="38221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Menores peças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1671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46% a 56% de erro: o tempo fixo domina e o modelo não o separa.</a:t>
            </a:r>
            <a:endParaRPr lang="en-US" sz="1250" dirty="0"/>
          </a:p>
        </p:txBody>
      </p:sp>
      <p:sp>
        <p:nvSpPr>
          <p:cNvPr id="9" name="Leitura Maiores peças"/>
          <p:cNvSpPr/>
          <p:nvPr/>
        </p:nvSpPr>
        <p:spPr>
          <a:xfrm>
            <a:off x="7818120" y="3200400"/>
            <a:ext cx="38221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467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Maiores peças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6758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11% a 13%: aqui os modelos funcionam bem.</a:t>
            </a:r>
            <a:endParaRPr lang="en-US" sz="1250" dirty="0"/>
          </a:p>
        </p:txBody>
      </p:sp>
      <p:sp>
        <p:nvSpPr>
          <p:cNvPr id="12" name="Leitura Mais complexo ≠ melhor"/>
          <p:cNvSpPr/>
          <p:nvPr/>
        </p:nvSpPr>
        <p:spPr>
          <a:xfrm>
            <a:off x="7818120" y="4709160"/>
            <a:ext cx="38221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4672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Mais complexo ≠ melhor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1846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Múltipla e polinomial ganham um pouco nas grandes e perdem nas pequenas.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Leitura crítica dos resultados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 · RESULTADOS</a:t>
            </a:r>
            <a:endParaRPr lang="en-US" sz="1200" dirty="0"/>
          </a:p>
        </p:txBody>
      </p:sp>
      <p:sp>
        <p:nvSpPr>
          <p:cNvPr id="4" name="Achado 1"/>
          <p:cNvSpPr/>
          <p:nvPr/>
        </p:nvSpPr>
        <p:spPr>
          <a:xfrm>
            <a:off x="548640" y="1691640"/>
            <a:ext cx="68580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Número achado 1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96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Múltipla e polinomial ≈ simples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671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 MAE vai de 0,172 para 0,173: o ganho vem do tempo teórico, não de mais variáveis.</a:t>
            </a:r>
            <a:endParaRPr lang="en-US" sz="1300" dirty="0"/>
          </a:p>
        </p:txBody>
      </p:sp>
      <p:sp>
        <p:nvSpPr>
          <p:cNvPr id="9" name="Achado 2"/>
          <p:cNvSpPr/>
          <p:nvPr/>
        </p:nvSpPr>
        <p:spPr>
          <a:xfrm>
            <a:off x="548640" y="2788920"/>
            <a:ext cx="68580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Número achado 2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169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RMSE ≈ 2,3× o MAE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644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Poucos erros grandes pesam, concentrados nas peças pequenas.</a:t>
            </a:r>
            <a:endParaRPr lang="en-US" sz="1300" dirty="0"/>
          </a:p>
        </p:txBody>
      </p:sp>
      <p:sp>
        <p:nvSpPr>
          <p:cNvPr id="14" name="Achado 3"/>
          <p:cNvSpPr/>
          <p:nvPr/>
        </p:nvSpPr>
        <p:spPr>
          <a:xfrm>
            <a:off x="548640" y="3886200"/>
            <a:ext cx="68580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Número achado 3"/>
          <p:cNvSpPr/>
          <p:nvPr/>
        </p:nvSpPr>
        <p:spPr>
          <a:xfrm>
            <a:off x="777240" y="41330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142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Piso de ~0,17 min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61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Os lineares superestimam peças muito rápidas: falta o tempo fixo por peça.</a:t>
            </a:r>
            <a:endParaRPr lang="en-US" sz="1300" dirty="0"/>
          </a:p>
        </p:txBody>
      </p:sp>
      <p:sp>
        <p:nvSpPr>
          <p:cNvPr id="19" name="Achado 4"/>
          <p:cNvSpPr/>
          <p:nvPr/>
        </p:nvSpPr>
        <p:spPr>
          <a:xfrm>
            <a:off x="548640" y="4983480"/>
            <a:ext cx="68580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Número achado 4"/>
          <p:cNvSpPr/>
          <p:nvPr/>
        </p:nvSpPr>
        <p:spPr>
          <a:xfrm>
            <a:off x="777240" y="52303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11149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Efeito multiplicativo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458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Gás, material e espessura escalam o tempo; modelos aditivos não capturam isso.</a:t>
            </a:r>
            <a:endParaRPr lang="en-US" sz="1300" dirty="0"/>
          </a:p>
        </p:txBody>
      </p:sp>
      <p:sp>
        <p:nvSpPr>
          <p:cNvPr id="24" name="Citação do professor"/>
          <p:cNvSpPr/>
          <p:nvPr/>
        </p:nvSpPr>
        <p:spPr>
          <a:xfrm>
            <a:off x="7680960" y="1691640"/>
            <a:ext cx="395935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Etiqueta O PROFESSOR DISSE"/>
          <p:cNvSpPr/>
          <p:nvPr/>
        </p:nvSpPr>
        <p:spPr>
          <a:xfrm>
            <a:off x="7909560" y="1892808"/>
            <a:ext cx="192024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 PROFESSOR DISSE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258568"/>
            <a:ext cx="3502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“Métrica boa não substitui diagnóstico: sempre olhe os resíduos.”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33832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Dr. Rodrigo Ramos Silva · Aula 6, Interpretação</a:t>
            </a:r>
            <a:endParaRPr lang="en-US" sz="1100" dirty="0"/>
          </a:p>
        </p:txBody>
      </p:sp>
      <p:sp>
        <p:nvSpPr>
          <p:cNvPr id="29" name="Citação do professor"/>
          <p:cNvSpPr/>
          <p:nvPr/>
        </p:nvSpPr>
        <p:spPr>
          <a:xfrm>
            <a:off x="7680960" y="4023360"/>
            <a:ext cx="3959352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Etiqueta MATERIAL DA AULA"/>
          <p:cNvSpPr/>
          <p:nvPr/>
        </p:nvSpPr>
        <p:spPr>
          <a:xfrm>
            <a:off x="7909560" y="4224528"/>
            <a:ext cx="192024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0956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MATERIAL DA AULA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590288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“Não existe “métrica boa” fora de contexto.”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56235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Guia Prático — Métricas em Machine Learning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produto: uma aplicação web de ponta a ponta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07 · PRODUTO E PRÓXIMOS PASSOS</a:t>
            </a:r>
            <a:endParaRPr lang="en-US" sz="1200" dirty="0"/>
          </a:p>
        </p:txBody>
      </p:sp>
      <p:sp>
        <p:nvSpPr>
          <p:cNvPr id="4" name="Cartão Front-end"/>
          <p:cNvSpPr/>
          <p:nvPr/>
        </p:nvSpPr>
        <p:spPr>
          <a:xfrm>
            <a:off x="548640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do do ícone FaDesktop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 Fa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Front-end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React + Vite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Seleção em cascata: material → espessura → potência → gás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Upload e desenho do arquivo .dxf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Mostra a fórmula e os modelos lado a lado</a:t>
            </a:r>
            <a:endParaRPr lang="en-US" sz="1450" dirty="0"/>
          </a:p>
        </p:txBody>
      </p:sp>
      <p:sp>
        <p:nvSpPr>
          <p:cNvPr id="10" name="Seta 1"/>
          <p:cNvSpPr/>
          <p:nvPr/>
        </p:nvSpPr>
        <p:spPr>
          <a:xfrm>
            <a:off x="4041648" y="3108960"/>
            <a:ext cx="27432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tão Back-end"/>
          <p:cNvSpPr/>
          <p:nvPr/>
        </p:nvSpPr>
        <p:spPr>
          <a:xfrm>
            <a:off x="4379976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Fundo do ícone FaServer"/>
          <p:cNvSpPr/>
          <p:nvPr/>
        </p:nvSpPr>
        <p:spPr>
          <a:xfrm>
            <a:off x="4654296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Ícone 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0802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5816" y="1938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Back-end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385816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FastAPI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54296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POST /api/dxf/analisar: perímetro com ezdxf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POST /api/estimativa: fórmula fixa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POST /api/estimativa/ml: modelos de regressão</a:t>
            </a:r>
            <a:endParaRPr lang="en-US" sz="1450" dirty="0"/>
          </a:p>
        </p:txBody>
      </p:sp>
      <p:sp>
        <p:nvSpPr>
          <p:cNvPr id="17" name="Seta 2"/>
          <p:cNvSpPr/>
          <p:nvPr/>
        </p:nvSpPr>
        <p:spPr>
          <a:xfrm>
            <a:off x="7872984" y="3108960"/>
            <a:ext cx="27432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artão Modelos"/>
          <p:cNvSpPr/>
          <p:nvPr/>
        </p:nvSpPr>
        <p:spPr>
          <a:xfrm>
            <a:off x="8211312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Fundo do ícone FaCube"/>
          <p:cNvSpPr/>
          <p:nvPr/>
        </p:nvSpPr>
        <p:spPr>
          <a:xfrm>
            <a:off x="8485632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Ícone FaCu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52" y="20802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17152" y="1938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Modelos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9217152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485632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Pipelines treinados e salvos em .joblib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Linear simples, múltipla e polinomial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Mesmo pré-processamento no treino e na API</a:t>
            </a:r>
            <a:endParaRPr lang="en-US" sz="1450" dirty="0"/>
          </a:p>
        </p:txBody>
      </p:sp>
      <p:sp>
        <p:nvSpPr>
          <p:cNvPr id="24" name="Faixa do fluxo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Passo 1"/>
          <p:cNvSpPr/>
          <p:nvPr/>
        </p:nvSpPr>
        <p:spPr>
          <a:xfrm>
            <a:off x="868680" y="5440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6868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371600" y="5349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Envia o .dxf</a:t>
            </a:r>
            <a:endParaRPr lang="en-US" sz="1350" dirty="0"/>
          </a:p>
        </p:txBody>
      </p:sp>
      <p:sp>
        <p:nvSpPr>
          <p:cNvPr id="28" name="Passo 2"/>
          <p:cNvSpPr/>
          <p:nvPr/>
        </p:nvSpPr>
        <p:spPr>
          <a:xfrm>
            <a:off x="3566160" y="5440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5661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5349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ezdxf mede o perímetro</a:t>
            </a:r>
            <a:endParaRPr lang="en-US" sz="1350" dirty="0"/>
          </a:p>
        </p:txBody>
      </p:sp>
      <p:sp>
        <p:nvSpPr>
          <p:cNvPr id="31" name="Passo 3"/>
          <p:cNvSpPr/>
          <p:nvPr/>
        </p:nvSpPr>
        <p:spPr>
          <a:xfrm>
            <a:off x="6263640" y="5440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2636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766560" y="5349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Modelos preveem o tempo</a:t>
            </a:r>
            <a:endParaRPr lang="en-US" sz="1350" dirty="0"/>
          </a:p>
        </p:txBody>
      </p:sp>
      <p:sp>
        <p:nvSpPr>
          <p:cNvPr id="34" name="Passo 4"/>
          <p:cNvSpPr/>
          <p:nvPr/>
        </p:nvSpPr>
        <p:spPr>
          <a:xfrm>
            <a:off x="8961120" y="5440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9611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9464040" y="5349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Mostra fórmula × modelos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Próximos passos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07 · PRODUTO E PRÓXIMOS PASSOS</a:t>
            </a:r>
            <a:endParaRPr lang="en-US" sz="1200" dirty="0"/>
          </a:p>
        </p:txBody>
      </p:sp>
      <p:sp>
        <p:nvSpPr>
          <p:cNvPr id="4" name="Passo Alvo em log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do do ícone FaChartLine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 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14550"/>
            <a:ext cx="297180" cy="297180"/>
          </a:xfrm>
          <a:prstGeom prst="rect">
            <a:avLst/>
          </a:prstGeom>
        </p:spPr>
      </p:pic>
      <p:sp>
        <p:nvSpPr>
          <p:cNvPr id="7" name="Etiqueta Linear"/>
          <p:cNvSpPr/>
          <p:nvPr/>
        </p:nvSpPr>
        <p:spPr>
          <a:xfrm>
            <a:off x="2880360" y="205740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036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Linear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Alvo em log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Melhora o erro relativo nas peças pequenas.</a:t>
            </a:r>
            <a:endParaRPr lang="en-US" sz="1300" dirty="0"/>
          </a:p>
        </p:txBody>
      </p:sp>
      <p:sp>
        <p:nvSpPr>
          <p:cNvPr id="11" name="Passo Interações"/>
          <p:cNvSpPr/>
          <p:nvPr/>
        </p:nvSpPr>
        <p:spPr>
          <a:xfrm>
            <a:off x="4311396" y="169164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Fundo do ícone FaTimes"/>
          <p:cNvSpPr/>
          <p:nvPr/>
        </p:nvSpPr>
        <p:spPr>
          <a:xfrm>
            <a:off x="4585716" y="1965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Ícone 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06" y="2114550"/>
            <a:ext cx="297180" cy="297180"/>
          </a:xfrm>
          <a:prstGeom prst="rect">
            <a:avLst/>
          </a:prstGeom>
        </p:spPr>
      </p:pic>
      <p:sp>
        <p:nvSpPr>
          <p:cNvPr id="14" name="Etiqueta Linear"/>
          <p:cNvSpPr/>
          <p:nvPr/>
        </p:nvSpPr>
        <p:spPr>
          <a:xfrm>
            <a:off x="6643116" y="205740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43116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Linear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85716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Interações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585716" y="3063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Tempo teórico × gás, material e espessura (efeito multiplicativo).</a:t>
            </a:r>
            <a:endParaRPr lang="en-US" sz="1300" dirty="0"/>
          </a:p>
        </p:txBody>
      </p:sp>
      <p:sp>
        <p:nvSpPr>
          <p:cNvPr id="18" name="Passo Regularização"/>
          <p:cNvSpPr/>
          <p:nvPr/>
        </p:nvSpPr>
        <p:spPr>
          <a:xfrm>
            <a:off x="8074152" y="169164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Fundo do ícone FaSlidersH"/>
          <p:cNvSpPr/>
          <p:nvPr/>
        </p:nvSpPr>
        <p:spPr>
          <a:xfrm>
            <a:off x="8348472" y="1965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Ícone FaSlider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62" y="2114550"/>
            <a:ext cx="297180" cy="297180"/>
          </a:xfrm>
          <a:prstGeom prst="rect">
            <a:avLst/>
          </a:prstGeom>
        </p:spPr>
      </p:pic>
      <p:sp>
        <p:nvSpPr>
          <p:cNvPr id="21" name="Etiqueta Linear"/>
          <p:cNvSpPr/>
          <p:nvPr/>
        </p:nvSpPr>
        <p:spPr>
          <a:xfrm>
            <a:off x="10405872" y="205740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405872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Linear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348472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Regularização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348472" y="3063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Ridge, Lasso e ElasticNet: colinearidade e seleção de features.</a:t>
            </a:r>
            <a:endParaRPr lang="en-US" sz="1300" dirty="0"/>
          </a:p>
        </p:txBody>
      </p:sp>
      <p:sp>
        <p:nvSpPr>
          <p:cNvPr id="25" name="Passo Random Forest"/>
          <p:cNvSpPr/>
          <p:nvPr/>
        </p:nvSpPr>
        <p:spPr>
          <a:xfrm>
            <a:off x="548640" y="40690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Fundo do ícone FaTree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3" descr="Ícone FaTre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491990"/>
            <a:ext cx="297180" cy="297180"/>
          </a:xfrm>
          <a:prstGeom prst="rect">
            <a:avLst/>
          </a:prstGeom>
        </p:spPr>
      </p:pic>
      <p:sp>
        <p:nvSpPr>
          <p:cNvPr id="28" name="Etiqueta Árvores"/>
          <p:cNvSpPr/>
          <p:nvPr/>
        </p:nvSpPr>
        <p:spPr>
          <a:xfrm>
            <a:off x="2880360" y="443484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880360" y="4434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Árvores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Captura interações e os dois regimes sem transformar.</a:t>
            </a:r>
            <a:endParaRPr lang="en-US" sz="1300" dirty="0"/>
          </a:p>
        </p:txBody>
      </p:sp>
      <p:sp>
        <p:nvSpPr>
          <p:cNvPr id="32" name="Passo Gradient Boosting"/>
          <p:cNvSpPr/>
          <p:nvPr/>
        </p:nvSpPr>
        <p:spPr>
          <a:xfrm>
            <a:off x="4311396" y="40690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Fundo do ícone FaBolt"/>
          <p:cNvSpPr/>
          <p:nvPr/>
        </p:nvSpPr>
        <p:spPr>
          <a:xfrm>
            <a:off x="4585716" y="43434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Image 4" descr="Ícone FaBo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06" y="4491990"/>
            <a:ext cx="297180" cy="297180"/>
          </a:xfrm>
          <a:prstGeom prst="rect">
            <a:avLst/>
          </a:prstGeom>
        </p:spPr>
      </p:pic>
      <p:sp>
        <p:nvSpPr>
          <p:cNvPr id="35" name="Etiqueta Árvores"/>
          <p:cNvSpPr/>
          <p:nvPr/>
        </p:nvSpPr>
        <p:spPr>
          <a:xfrm>
            <a:off x="6643116" y="443484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643116" y="4434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Árvores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85716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Gradient Boosting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4585716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Costuma ser o mais preciso em dados tabulares.</a:t>
            </a:r>
            <a:endParaRPr lang="en-US" sz="1300" dirty="0"/>
          </a:p>
        </p:txBody>
      </p:sp>
      <p:sp>
        <p:nvSpPr>
          <p:cNvPr id="39" name="Passo Rigor do pipeline"/>
          <p:cNvSpPr/>
          <p:nvPr/>
        </p:nvSpPr>
        <p:spPr>
          <a:xfrm>
            <a:off x="8074152" y="40690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Fundo do ícone FaClipboardCheck"/>
          <p:cNvSpPr/>
          <p:nvPr/>
        </p:nvSpPr>
        <p:spPr>
          <a:xfrm>
            <a:off x="8348472" y="43434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1" name="Image 5" descr="Ícone Fa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062" y="4491990"/>
            <a:ext cx="297180" cy="297180"/>
          </a:xfrm>
          <a:prstGeom prst="rect">
            <a:avLst/>
          </a:prstGeom>
        </p:spPr>
      </p:pic>
      <p:sp>
        <p:nvSpPr>
          <p:cNvPr id="42" name="Etiqueta Pipeline"/>
          <p:cNvSpPr/>
          <p:nvPr/>
        </p:nvSpPr>
        <p:spPr>
          <a:xfrm>
            <a:off x="10405872" y="443484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405872" y="4434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Pipeline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8348472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Rigor do pipeline</a:t>
            </a:r>
            <a:endParaRPr lang="en-US" sz="1700" dirty="0"/>
          </a:p>
        </p:txBody>
      </p:sp>
      <p:sp>
        <p:nvSpPr>
          <p:cNvPr id="45" name="Text 37"/>
          <p:cNvSpPr txBox="1"/>
          <p:nvPr/>
        </p:nvSpPr>
        <p:spPr>
          <a:xfrm>
            <a:off x="8348472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Checagem de esquema, VIF, permutation importance e dados reais do chão de fábrica.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Conclusões</a:t>
            </a:r>
            <a:endParaRPr lang="en-US" sz="3200" dirty="0"/>
          </a:p>
        </p:txBody>
      </p:sp>
      <p:pic>
        <p:nvPicPr>
          <p:cNvPr id="3" name="Image 0" descr="Plano de nesting decorativo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498080" y="4206240"/>
            <a:ext cx="4846320" cy="29857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−79%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de erro médio frente à fórmula atual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279392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 variável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279392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quase tudo: o tempo teórico explica R² de 0,997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10144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Peças pequenas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10144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concentram o erro: é onde o refino precisa agir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2336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Regressão é o tipo certo de problema: o alvo é um tempo contínuo em minutos.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Seguimos o pipeline do professor: split por desenho, EDA só no treino e teste aberto uma vez.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Modelos mais complexos não ajudaram: o próximo ganho está em log, interações e árvores.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Obrigado — perguntas?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REFERÊNCIAS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RAMOS SILVA, Rodrigo. Aula 3 — Pré-processamento de Dados em Machine Learning. Material de aula, 2026/2.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RAMOS SILVA, Rodrigo. Aula 6 — Regressão Linear, Múltipla e Polinomial. Material de aula, 2026.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Guia Prático Aula 6 — Regressão em Python; Guia Prático — Métricas em Machine Learning.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Projeto Final: Nesting Time Estimator. Documento de escopo do projeto.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Código e dados: github.com/abdielpaulino/dxf-nesting-time</a:t>
            </a:r>
            <a:endParaRPr lang="en-US" sz="1400" dirty="0"/>
          </a:p>
        </p:txBody>
      </p:sp>
      <p:pic>
        <p:nvPicPr>
          <p:cNvPr id="5" name="Image 0" descr="Plano de nesting decorativo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863840" y="3291840"/>
            <a:ext cx="4480560" cy="27603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Apêndice A: matriz de correlação (Spearman)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APÊNDICE</a:t>
            </a:r>
            <a:endParaRPr lang="en-US" sz="1200" dirty="0"/>
          </a:p>
        </p:txBody>
      </p:sp>
      <p:sp>
        <p:nvSpPr>
          <p:cNvPr id="4" name="Cartão heatmap"/>
          <p:cNvSpPr/>
          <p:nvPr/>
        </p:nvSpPr>
        <p:spPr>
          <a:xfrm>
            <a:off x="548640" y="1691640"/>
            <a:ext cx="5828694" cy="4617720"/>
          </a:xfrm>
          <a:prstGeom prst="roundRect">
            <a:avLst>
              <a:gd name="adj" fmla="val 23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Matriz de correlação de Spearman entre as colunas numéricas e o tempo 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462934" cy="4434840"/>
          </a:xfrm>
          <a:prstGeom prst="rect">
            <a:avLst/>
          </a:prstGeom>
        </p:spPr>
      </p:pic>
      <p:sp>
        <p:nvSpPr>
          <p:cNvPr id="6" name="Nota Perímetro ⟂ parâmetros"/>
          <p:cNvSpPr/>
          <p:nvPr/>
        </p:nvSpPr>
        <p:spPr>
          <a:xfrm>
            <a:off x="6651654" y="1691640"/>
            <a:ext cx="4991401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80254" y="1828800"/>
            <a:ext cx="45342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Perímetro ⟂ parâmetros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80254" y="2167128"/>
            <a:ext cx="453420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Correlação 0,00: cada desenho foi cortado com todas as 406 combinações.</a:t>
            </a:r>
            <a:endParaRPr lang="en-US" sz="1250" dirty="0"/>
          </a:p>
        </p:txBody>
      </p:sp>
      <p:sp>
        <p:nvSpPr>
          <p:cNvPr id="9" name="Nota Parâmetros entre si"/>
          <p:cNvSpPr/>
          <p:nvPr/>
        </p:nvSpPr>
        <p:spPr>
          <a:xfrm>
            <a:off x="6651654" y="3246120"/>
            <a:ext cx="4991401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80254" y="3383280"/>
            <a:ext cx="45342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Parâmetros entre si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80254" y="3721608"/>
            <a:ext cx="453420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Pressão × foco −0,85; foco × distância do bocal +0,79; espessura × diâmetro do bocal +0,79.</a:t>
            </a:r>
            <a:endParaRPr lang="en-US" sz="1250" dirty="0"/>
          </a:p>
        </p:txBody>
      </p:sp>
      <p:sp>
        <p:nvSpPr>
          <p:cNvPr id="12" name="Nota Tempo teórico"/>
          <p:cNvSpPr/>
          <p:nvPr/>
        </p:nvSpPr>
        <p:spPr>
          <a:xfrm>
            <a:off x="6651654" y="4800600"/>
            <a:ext cx="4991401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80254" y="4937760"/>
            <a:ext cx="45342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Tempo teórico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80254" y="5276088"/>
            <a:ext cx="453420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0,89 com o tempo real; −0,60 com a velocidade, 0,76 com o perímetro.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Apêndice B: quantas vezes cada modelo erra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APÊNDICE</a:t>
            </a:r>
            <a:endParaRPr lang="en-US" sz="1200" dirty="0"/>
          </a:p>
        </p:txBody>
      </p:sp>
      <p:sp>
        <p:nvSpPr>
          <p:cNvPr id="4" name="Cartão distribuição da razão"/>
          <p:cNvSpPr/>
          <p:nvPr/>
        </p:nvSpPr>
        <p:spPr>
          <a:xfrm>
            <a:off x="548640" y="1691640"/>
            <a:ext cx="11094415" cy="2660043"/>
          </a:xfrm>
          <a:prstGeom prst="roundRect">
            <a:avLst>
              <a:gd name="adj" fmla="val 41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Histogramas da razão previsto sobre real em escala log, um por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10820095" cy="23857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17443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Como ler: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gráfico mostra previsto ÷ real em escala log. Zero é acerto exato; −0,3 é metade do real e +0,3 é o dobro. A fórmula fixa fica deslocada para a esquerda (mediana 0,37× o real); os modelos treinados ficam centrados perto de 1,1×.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sting Laser">
  <a:themeElements>
    <a:clrScheme name="Nesting Laser">
      <a:dk1>
        <a:srgbClr val="0F1B2D"/>
      </a:dk1>
      <a:lt1>
        <a:srgbClr val="FFFFFF"/>
      </a:lt1>
      <a:dk2>
        <a:srgbClr val="1B2A41"/>
      </a:dk2>
      <a:lt2>
        <a:srgbClr val="F3F5F8"/>
      </a:lt2>
      <a:accent1>
        <a:srgbClr val="2A78D6"/>
      </a:accent1>
      <a:accent2>
        <a:srgbClr val="EB6834"/>
      </a:accent2>
      <a:accent3>
        <a:srgbClr val="1BAF7A"/>
      </a:accent3>
      <a:accent4>
        <a:srgbClr val="8A8984"/>
      </a:accent4>
      <a:accent5>
        <a:srgbClr val="E34948"/>
      </a:accent5>
      <a:accent6>
        <a:srgbClr val="5B6575"/>
      </a:accent6>
      <a:hlink>
        <a:srgbClr val="2A78D6"/>
      </a:hlink>
      <a:folHlink>
        <a:srgbClr val="5B6575"/>
      </a:folHlink>
    </a:clrScheme>
    <a:fontScheme name="Nesting Las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Nesting Time Estimator</dc:title>
  <dc:subject>Estimativa do tempo real de corte a laser com regressão</dc:subject>
  <dc:creator>Gabriel Dagostim; Abdiel Paulino</dc:creator>
  <cp:lastModifiedBy>Gabriel Dagostim; Abdiel Paulino</cp:lastModifiedBy>
  <cp:revision>1</cp:revision>
  <dcterms:created xsi:type="dcterms:W3CDTF">2026-10-02T04:25:41Z</dcterms:created>
  <dcterms:modified xsi:type="dcterms:W3CDTF">2026-10-02T04:25:41Z</dcterms:modified>
</cp:coreProperties>
</file>