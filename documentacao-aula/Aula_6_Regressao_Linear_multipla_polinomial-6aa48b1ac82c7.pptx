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8"/>
  </p:notesMasterIdLst>
  <p:sldIdLst>
    <p:sldId id="256" r:id="rId2"/>
    <p:sldId id="264" r:id="rId3"/>
    <p:sldId id="306" r:id="rId4"/>
    <p:sldId id="384" r:id="rId5"/>
    <p:sldId id="266" r:id="rId6"/>
    <p:sldId id="265" r:id="rId7"/>
    <p:sldId id="271" r:id="rId8"/>
    <p:sldId id="359" r:id="rId9"/>
    <p:sldId id="360" r:id="rId10"/>
    <p:sldId id="361" r:id="rId11"/>
    <p:sldId id="363" r:id="rId12"/>
    <p:sldId id="362" r:id="rId13"/>
    <p:sldId id="410" r:id="rId14"/>
    <p:sldId id="414" r:id="rId15"/>
    <p:sldId id="415" r:id="rId16"/>
    <p:sldId id="366" r:id="rId17"/>
    <p:sldId id="365" r:id="rId18"/>
    <p:sldId id="367" r:id="rId19"/>
    <p:sldId id="368" r:id="rId20"/>
    <p:sldId id="369" r:id="rId21"/>
    <p:sldId id="411" r:id="rId22"/>
    <p:sldId id="418" r:id="rId23"/>
    <p:sldId id="419" r:id="rId24"/>
    <p:sldId id="370" r:id="rId25"/>
    <p:sldId id="374" r:id="rId26"/>
    <p:sldId id="371" r:id="rId27"/>
    <p:sldId id="420" r:id="rId28"/>
    <p:sldId id="375" r:id="rId29"/>
    <p:sldId id="412" r:id="rId30"/>
    <p:sldId id="376" r:id="rId31"/>
    <p:sldId id="377" r:id="rId32"/>
    <p:sldId id="372" r:id="rId33"/>
    <p:sldId id="378" r:id="rId34"/>
    <p:sldId id="379" r:id="rId35"/>
    <p:sldId id="382" r:id="rId36"/>
    <p:sldId id="383" r:id="rId37"/>
    <p:sldId id="380" r:id="rId38"/>
    <p:sldId id="381" r:id="rId39"/>
    <p:sldId id="385" r:id="rId40"/>
    <p:sldId id="386" r:id="rId41"/>
    <p:sldId id="387" r:id="rId42"/>
    <p:sldId id="267" r:id="rId43"/>
    <p:sldId id="333" r:id="rId44"/>
    <p:sldId id="334" r:id="rId45"/>
    <p:sldId id="335" r:id="rId46"/>
    <p:sldId id="336" r:id="rId47"/>
    <p:sldId id="337" r:id="rId48"/>
    <p:sldId id="338" r:id="rId49"/>
    <p:sldId id="339" r:id="rId50"/>
    <p:sldId id="340" r:id="rId51"/>
    <p:sldId id="341" r:id="rId52"/>
    <p:sldId id="343" r:id="rId53"/>
    <p:sldId id="344" r:id="rId54"/>
    <p:sldId id="345" r:id="rId55"/>
    <p:sldId id="346" r:id="rId56"/>
    <p:sldId id="304" r:id="rId5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39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0519" autoAdjust="0"/>
  </p:normalViewPr>
  <p:slideViewPr>
    <p:cSldViewPr snapToGrid="0">
      <p:cViewPr varScale="1">
        <p:scale>
          <a:sx n="66" d="100"/>
          <a:sy n="66" d="100"/>
        </p:scale>
        <p:origin x="1253" y="5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17:12:37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0 8468,'0'0'656,"0"0"-304,0 0-272,0 0-80,0 0 337,0 0 751,0 0-336,-43 0-47,43 6-545,-10 0-96,0 6 160,-10 0-192,13 0 16,7-9-48,0-3-512,0 0-3890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17:12:37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0 8468,'0'0'656,"0"0"-304,0 0-272,0 0-80,0 0 337,0 0 751,0 0-336,-43 0-47,43 6-545,-10 0-96,0 6 160,-10 0-192,13 0 16,7-9-48,0-3-512,0 0-3890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CE8D53-2432-4DDB-A099-3E72A3296649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D99B70-AA64-44CA-81E6-C1A8899923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5820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284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83582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71083-3C82-8090-E88A-AB15EDF31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213D33E-0932-48E7-4825-801B131C04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DD862F4-D70E-0DAE-D2D5-6D2F6C9EC7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02DDF8C-86E3-C637-66C1-9F7EA13589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70960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68296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75004-FCBD-B22D-EED5-3EB6F588B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7B7C684-8BE7-3A8B-9AC5-22464CBD6E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09F74E-495A-156B-24F1-7BE5231394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F48305A-DB89-F2D3-2C65-3ADF64B0EE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66260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FB56B-4588-80A3-EF5C-F4D60E0A0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C073CB7-E18A-2E6F-C7EA-D67CBB79C7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7B68292-13AC-9D8C-B318-7CEDCED397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E40268-DECF-A208-442F-1F194BA44F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31008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2127D-4D46-8647-98A5-ABD16657E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CF11185-55E8-94ED-93DB-92629D76AD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4DB4125-C755-195E-B363-A4814EA4E9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A3483EA-0EE2-7221-2B8A-8AAAA0F37F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83739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33B54-F8CD-A6A4-989D-0CD1198BF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ABD9E55-9E69-7448-2A89-B4A44D021F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35233B7-5D6D-487F-D9F3-5ABAE42E41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02A4B4F-9E12-D639-7DC4-590A6485E9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13263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10790-65B7-0261-C5F1-69823FCFE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D3A8726-5CBB-84EE-5776-FBAE6C2008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59AE8CC-389F-CC63-1095-37597F766A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174E930-D0DD-87B9-B0B1-5F96E7678A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39263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568A0-DE8A-1D80-D31B-E355AF782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2ABB84D-4C3D-27E4-5CA9-6724909E2F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5968E42-1522-F004-B38A-5DA9BD0E50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8BEB0C5-99EB-EF8E-8FED-614F7E0045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35509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EB63F-C069-8E91-1522-16DFF0D7C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C44C38C-E641-1F9B-8E77-EC80F4294B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65E11F5-4AF1-2EF4-913E-0A6DA2328E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8BA20EC-B1F2-E2AF-2F02-F999017A69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8726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4373C-6831-3C15-A31A-9E767DC7C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777ED52-7B0C-852B-24CB-619A18489E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0FB8F72-7251-3DB8-76D0-5B5DD8DB68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51ACE3A-B695-EB00-D486-D880F63981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64895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ABE40-18D2-3E8F-45CD-B82E4680E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34C9100-6FEB-FAD6-791A-7F4AA5D0B2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1FD6426-9E20-1EC9-6E45-A5F9DB05C8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78DE621-3DFF-3EE0-5B5D-260A910BB3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61938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F101D-7070-4E50-55CD-24E5CD7BB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C46DDD3-AE58-BC2A-9528-A171F39EC8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FB029B5-855A-A981-D5AE-CA7521DAF9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232B4DB-FF4E-C100-7F35-153052C2BD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36137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F1777-3C93-864A-77E2-982947B64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39EF316-7D54-83E2-970D-CA43A3433C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2CD775D-EA47-56D1-D6DB-D186F5CF01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0314BD6-FF76-2E43-6243-B120315210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25706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065AB-3CBC-9583-40C8-DCAD7FAE5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ADA4977-0BEF-F738-FD6F-8CF49BBF7E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1348EE1-0E6B-FB89-E79D-E06F925934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2489A11-2981-76EC-69C0-5807EE5090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08112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BC6C6-65B0-B675-ED06-EE0C49767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938AD29-8615-D9DE-F897-2F2E0C9E92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9041501-7924-3581-2971-D9182795D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4A310B3-E0A4-B1CA-367E-F0CF126F50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00277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73BED-4CCD-50A7-AEF6-F656B7EEC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6CFA309-D4AF-1EA2-671E-5C65752807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16AF6BD-1644-81C6-5DE9-877027E25E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82E259E-0866-1E27-EE86-132EB5311C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17864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6219F-5C5F-3633-9787-20317282B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96501EF-D145-0ED5-8DA6-F34B5C11B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EB11CF4-37DD-5833-7D31-342B031FF9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F899106-406A-E40F-E84F-D7B11C81F2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04936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C9688-950B-68FF-FC98-264D9C0D9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B754222-1105-FB51-1D57-17F108220A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7B8F422-6CD8-1D7D-7BFF-245C4BB249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4BD69B5-8224-4623-561B-3D6AF40CB3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34924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781AE-4558-4B21-8C42-90877F094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8F77380-6AF2-47F7-8F35-C64426B47B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5C80D68-85DC-8AD2-F601-CF41C9919F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E7A5915-1B89-AFCA-F809-A408E4580C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3493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D47DC-61B1-30D2-46C2-F16F80DF4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650E686-F72E-FBBE-E5EE-05C552E48D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4973BCC-3FFA-CE33-9458-CCA8AACB90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A5B2234-8F7B-63D5-0FBE-015F57E85A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85383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95E1F-60B6-714C-90F8-1F9A904D4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9A561CA-0CD6-0971-D688-F18D874A38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0AB0EAB-CDB6-CB17-4C4D-FBCD55E2A1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083DD26-A304-7BA6-D9DD-7F25A2D324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08960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A334B-D050-71A6-C58D-7B0CBC716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C5E2D22-1ACB-C755-D364-2078C421D1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8EE1230-9EE9-2747-2C1F-58BA7C6B83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É quando </a:t>
            </a:r>
            <a:r>
              <a:rPr lang="pt-PT" b="1" dirty="0"/>
              <a:t>duas ou mais variáveis independentes (features)</a:t>
            </a:r>
            <a:r>
              <a:rPr lang="pt-PT" dirty="0"/>
              <a:t> em um modelo de regressão estão </a:t>
            </a:r>
            <a:r>
              <a:rPr lang="pt-PT" b="1" dirty="0"/>
              <a:t>altamente correlacionadas entre si</a:t>
            </a:r>
            <a:r>
              <a:rPr lang="pt-PT" dirty="0"/>
              <a:t>.</a:t>
            </a:r>
          </a:p>
          <a:p>
            <a:r>
              <a:rPr lang="pt-PT" dirty="0"/>
              <a:t>Ou seja, elas carregam </a:t>
            </a:r>
            <a:r>
              <a:rPr lang="pt-PT" b="1" dirty="0"/>
              <a:t>informações redundantes</a:t>
            </a:r>
            <a:r>
              <a:rPr lang="pt-PT" dirty="0"/>
              <a:t>, dificultando para o modelo separar o efeito individual de cada uma sobre y.</a:t>
            </a:r>
          </a:p>
          <a:p>
            <a:endParaRPr lang="pt-PT" dirty="0"/>
          </a:p>
          <a:p>
            <a:r>
              <a:rPr lang="pt-PT" dirty="0"/>
              <a:t>L1 - ele pode </a:t>
            </a:r>
            <a:r>
              <a:rPr lang="pt-PT" b="1" dirty="0"/>
              <a:t>forçar alguns pesos wj​ a serem exatamente 0</a:t>
            </a:r>
            <a:r>
              <a:rPr lang="pt-PT" dirty="0"/>
              <a:t>.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F860DE2-5882-9891-547B-9E71CD05A2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47613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2E4B3-E9AF-10DB-AEB6-7232C84FD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E7350CF-8798-2FA9-275D-04A6ED626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EBC9892-2AF5-F36F-B77B-244946F690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F1F9FBC-163F-34C3-7BCB-AEFB1F96D9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165066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BC67C-4CF8-E430-09CB-A607AD914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1277D19-1EDC-70D1-8586-0F45515F65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DCA2E25-1DD4-45C8-4497-98F1C77426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CB944BA-9DDF-FEB5-C224-96D0346967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80633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95EE6-CD8A-6F4C-C836-7ABEDB2CC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013C9FB-8B94-0AFB-234A-FDE25A5FE8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449C7DF-A76D-3ABA-F1AB-4ECB7A69D4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4CA61EA-374F-4615-B162-F213D15C74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41556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C1256-D881-3D89-3DCA-91700F51C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C14EA79-21AC-7A7D-E0B3-4AB88B38EC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CF83C12-D798-B442-22FA-E95497139B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1629A57-6EE8-BABB-D436-5FBCF3FC06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97300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3CB60-22C1-248D-8F4A-5E3F7A74D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69827FF-1C65-B526-82F1-A6FFEF5197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B3EC04F-5518-A080-D099-EED39BEF53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88E3EA1-54AF-5194-FF72-908DF9A070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501700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C7E44-B795-89D2-908E-FE093F802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1FFB8E0-F0D6-07AC-78E8-BD45457FC1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6C5A97A-6FAE-233E-F13D-1BDE351299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2B51BC2-EC98-903E-16B5-AD640267F8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090274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6D4A3-045B-7762-FE88-C7C39D4A9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5C0D9F4-160C-4B78-1427-CEF810D6E1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1B9A99F-AB7A-03D5-AFFC-2A57647880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E3E2EEE-82C4-D88C-1C16-57B29D1B79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779721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EEA57-FEBE-4E01-302E-21AD1449D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3D6BB8D-FC43-1EF8-DCB2-7FAF970100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6A48BD3-9EB2-F127-4120-4D7B473AB2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CB7CFC2-B628-B26F-B9B4-2717FE6A3A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793775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986A1-52D5-E2FD-C916-793388FA1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A3E4F1F-1660-5B79-447A-4F809224EF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83ADE02-A78C-AE59-EABD-7D74AE7556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6C8CC88-B38B-4AB6-A79A-4EB7E9BAD3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40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194522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482C5-E41C-0A3C-D5B5-72ADEEAED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B0DF3B4-0AC1-5619-A48F-6796EF5F00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6B6CF39-93DD-88FC-6804-EFAD337DED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0D83336-EF98-3885-A5B7-59AFC5EA26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41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575849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9a63a48450_0_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2" name="Google Shape;192;g9a63a48450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9a63a48450_0_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2" name="Google Shape;192;g9a63a48450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8909910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9a63a48450_0_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2" name="Google Shape;192;g9a63a48450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1010111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9a63a48450_0_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2" name="Google Shape;192;g9a63a48450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4387290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9a63a48450_0_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2" name="Google Shape;192;g9a63a48450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4233557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9a63a48450_0_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2" name="Google Shape;192;g9a63a48450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7971924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9a63a48450_0_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2" name="Google Shape;192;g9a63a48450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2538576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9a63a48450_0_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2" name="Google Shape;192;g9a63a48450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4871308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9a63a48450_0_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2" name="Google Shape;192;g9a63a48450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7445943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9a63a48450_0_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2" name="Google Shape;192;g9a63a48450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4776895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9a63a48450_0_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2" name="Google Shape;192;g9a63a48450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2973480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9a63a48450_0_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2" name="Google Shape;192;g9a63a48450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5341573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9a63a48450_0_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2" name="Google Shape;192;g9a63a48450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0816500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9a63a48450_0_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2" name="Google Shape;192;g9a63a48450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77606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188EE9-35D9-44E0-934B-3B4AF87F1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E8BF95-7DB2-437B-8677-A2C48CE674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06F4C54-7F24-4815-B375-FCFB4621E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1C66C-0622-4057-9A8F-41ABA6A00B0C}" type="datetime1">
              <a:rPr lang="pt-BR" smtClean="0"/>
              <a:t>08/09/2026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0A53F2-4991-4CFB-A5B0-BDD47575E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5F577B-0B2F-425F-9538-09BAFD378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8FC8-E31D-4F23-A3B0-3DC82BD55F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8497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130A3B-2335-431B-A4F7-7B8BD9E50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80D06D-97B9-4B75-851D-17389329A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915DB4-4809-4B8E-897E-549BEC583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FC009-E659-4C5E-A085-389C3F5E6976}" type="datetime1">
              <a:rPr lang="pt-BR" smtClean="0"/>
              <a:t>08/09/2026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154262-8C63-4521-8A2C-678716B3B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E63663-9A1C-4989-96D6-7DFB5AE5A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8FC8-E31D-4F23-A3B0-3DC82BD55F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3039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CD9DC2-B265-48A8-AA25-5BBB2513C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FC02AB0-B703-496D-9C90-FBAE9F2E4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6745AC8-9C89-4673-846E-76A81A783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1F52E-E385-45D6-9C9C-478A43B9B1F5}" type="datetime1">
              <a:rPr lang="pt-BR" smtClean="0"/>
              <a:t>10/09/2026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C252D0-390D-48BE-AAB6-66C2AB843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4C295C5-22E7-4A9B-98BC-E26CB4651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8FC8-E31D-4F23-A3B0-3DC82BD55F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1377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44A3CD-5C38-4029-AF67-261D547FF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ABD9C0-5A79-482B-948E-8FF6C0F442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69C8404-21BE-406F-9053-B978A48D06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273A459-E728-451B-8A95-0C64F84AF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D1D87-8F45-48CC-ADFA-762C0DD5109C}" type="datetime1">
              <a:rPr lang="pt-BR" smtClean="0"/>
              <a:t>10/09/2026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6C32BC-B901-465B-B28B-09E582CF7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7EEBFCE-B30C-43BA-82E6-0DF258E09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8FC8-E31D-4F23-A3B0-3DC82BD55F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9094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83D7D3-7F09-49A5-8A57-9689EFD55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24FCEF6-A69A-4EA2-AF2C-A4BE7F75F5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34B67CD-358D-42FC-9893-9332848518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9B8A791-FACA-4289-8FFE-D89E34054A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1A29A48-6090-4C40-853B-C62E4679BC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0F660D0-9B73-4FB0-B826-55E83E2B6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DDE3D-F89F-4DA6-AC8C-6B667814E987}" type="datetime1">
              <a:rPr lang="pt-BR" smtClean="0"/>
              <a:t>10/09/2026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5AB1CA2-5169-4399-99F4-F3D50FE76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1A7A87C-7D0D-421B-9300-22774AE8F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8FC8-E31D-4F23-A3B0-3DC82BD55F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2726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FC8D08-1B39-4585-BFAC-725D77D0C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2EC3431-BDC3-4753-A507-C3C4FB152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A6EF6-53E0-4F04-B7D7-10D4755DAFEA}" type="datetime1">
              <a:rPr lang="pt-BR" smtClean="0"/>
              <a:t>10/09/2026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2AFBF5-FC87-41AD-9BE5-F901329A4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17E06CC-B1E4-4382-90DC-7742D170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8FC8-E31D-4F23-A3B0-3DC82BD55F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493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25DD363-144D-41CE-94CF-E2459E514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0A54A-877B-448B-8F34-9B83D1A0E4C0}" type="datetime1">
              <a:rPr lang="pt-BR" smtClean="0"/>
              <a:t>10/09/2026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2E2A2A1-C7C1-457E-97D0-F2C440534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4C7CEA-1299-483A-8AAB-2989DF0D5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8FC8-E31D-4F23-A3B0-3DC82BD55F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4885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90F7D5-3A15-4932-9223-0F08DB7FA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BE542F-1125-4657-B31C-73427FC4A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1886511-D02B-43BB-A182-600621BF39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BED9DDE-A5F5-4B4F-8C1B-7A9EEE0C1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51FE5-6824-40F4-AA5C-1E93DC678B4C}" type="datetime1">
              <a:rPr lang="pt-BR" smtClean="0"/>
              <a:t>10/09/2026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ACA570-D4CB-4141-9BEF-8279C9043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04BD7F5-14B3-40E7-93B0-E5A5E2C05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8FC8-E31D-4F23-A3B0-3DC82BD55F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8509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C7D25-B680-42D6-9232-415FDA60B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C176EF1-DD74-4B3D-A094-5FACD19CA8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DA0AEB4-BD24-4F27-883F-F3B7FEA46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DA3D6E0-56D0-4591-B9CE-CB7F25621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B790C-5A5D-48BE-9835-6F495E8F8169}" type="datetime1">
              <a:rPr lang="pt-BR" smtClean="0"/>
              <a:t>10/09/2026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085481D-E102-496F-86BB-95D7F6F42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DAB937E-306E-4B5E-B150-F04718071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8FC8-E31D-4F23-A3B0-3DC82BD55F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8852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D46546-F711-4E8A-A332-C877EDFB6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54CBB98-24D0-458E-A9AA-096A4F69D8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9AF7F5-694A-4C82-A9A4-CE6736903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4B63F-CCA2-4A0C-A322-23A5B91B22F1}" type="datetime1">
              <a:rPr lang="pt-BR" smtClean="0"/>
              <a:t>10/09/2026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159477-D0AB-4157-B421-6E1773106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452FA18-8268-4A18-8873-D1F855DF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8FC8-E31D-4F23-A3B0-3DC82BD55F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1457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C886681-ABED-4846-B98E-CE18D4B53D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E1A0CC1-3933-4097-98AC-8566C4D172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993FB3-D199-408E-AF9A-66F2798CF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C1F73-F02C-49A2-8376-2FC6168462DE}" type="datetime1">
              <a:rPr lang="pt-BR" smtClean="0"/>
              <a:t>10/09/2026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B03D492-3731-4F74-8424-A042A518E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8807F5-8F66-49C8-AF20-57EF8873E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8FC8-E31D-4F23-A3B0-3DC82BD55F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9920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B6AE854-0973-4056-B7D8-AF348DF3E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C5C39FB-1079-4E34-881D-DDF20003C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E36169-01FC-483E-B62A-5C134F3DF7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0D1542-75A7-4A64-8D19-5B158B383712}" type="datetime1">
              <a:rPr lang="pt-BR" smtClean="0"/>
              <a:t>08/09/2026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9B608C-064A-405D-9AAE-C7A2B4183F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0D129A6-A980-4CBF-A865-5A62B2F578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BD8FC8-E31D-4F23-A3B0-3DC82BD55F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9214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7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emf"/><Relationship Id="rId5" Type="http://schemas.openxmlformats.org/officeDocument/2006/relationships/image" Target="../media/image2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12.gi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6.png"/><Relationship Id="rId7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4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6.png"/><Relationship Id="rId7" Type="http://schemas.openxmlformats.org/officeDocument/2006/relationships/image" Target="../media/image2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5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4.jpg"/><Relationship Id="rId4" Type="http://schemas.openxmlformats.org/officeDocument/2006/relationships/image" Target="../media/image6.png"/><Relationship Id="rId9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4.png"/><Relationship Id="rId3" Type="http://schemas.openxmlformats.org/officeDocument/2006/relationships/image" Target="../media/image5.png"/><Relationship Id="rId7" Type="http://schemas.openxmlformats.org/officeDocument/2006/relationships/image" Target="../media/image29.png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4.jpg"/><Relationship Id="rId9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5.png"/><Relationship Id="rId7" Type="http://schemas.openxmlformats.org/officeDocument/2006/relationships/image" Target="../media/image36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50.png"/><Relationship Id="rId5" Type="http://schemas.openxmlformats.org/officeDocument/2006/relationships/image" Target="../media/image6.png"/><Relationship Id="rId10" Type="http://schemas.openxmlformats.org/officeDocument/2006/relationships/image" Target="../media/image4.jpg"/><Relationship Id="rId4" Type="http://schemas.openxmlformats.org/officeDocument/2006/relationships/image" Target="../media/image35.png"/><Relationship Id="rId9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image" Target="../media/image5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6.png"/><Relationship Id="rId9" Type="http://schemas.openxmlformats.org/officeDocument/2006/relationships/image" Target="../media/image4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50.pn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12" Type="http://schemas.openxmlformats.org/officeDocument/2006/relationships/image" Target="../media/image61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5" Type="http://schemas.openxmlformats.org/officeDocument/2006/relationships/image" Target="../media/image64.png"/><Relationship Id="rId10" Type="http://schemas.openxmlformats.org/officeDocument/2006/relationships/image" Target="../media/image59.png"/><Relationship Id="rId4" Type="http://schemas.openxmlformats.org/officeDocument/2006/relationships/image" Target="../media/image55.png"/><Relationship Id="rId9" Type="http://schemas.openxmlformats.org/officeDocument/2006/relationships/image" Target="../media/image58.png"/><Relationship Id="rId14" Type="http://schemas.openxmlformats.org/officeDocument/2006/relationships/image" Target="../media/image6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5.png"/><Relationship Id="rId7" Type="http://schemas.openxmlformats.org/officeDocument/2006/relationships/image" Target="../media/image4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5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4.jpg"/><Relationship Id="rId4" Type="http://schemas.openxmlformats.org/officeDocument/2006/relationships/image" Target="../media/image6.png"/><Relationship Id="rId9" Type="http://schemas.openxmlformats.org/officeDocument/2006/relationships/image" Target="../media/image71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5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6.png"/><Relationship Id="rId9" Type="http://schemas.openxmlformats.org/officeDocument/2006/relationships/image" Target="../media/image4.jp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5.png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6.png"/><Relationship Id="rId9" Type="http://schemas.openxmlformats.org/officeDocument/2006/relationships/image" Target="../media/image4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80.png"/><Relationship Id="rId4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81.png"/><Relationship Id="rId4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82.png"/><Relationship Id="rId4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83.png"/><Relationship Id="rId4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85.png"/><Relationship Id="rId4" Type="http://schemas.openxmlformats.org/officeDocument/2006/relationships/image" Target="../media/image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86.png"/><Relationship Id="rId4" Type="http://schemas.openxmlformats.org/officeDocument/2006/relationships/image" Target="../media/image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image" Target="../media/image5.png"/><Relationship Id="rId7" Type="http://schemas.openxmlformats.org/officeDocument/2006/relationships/image" Target="../media/image8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5.png"/><Relationship Id="rId7" Type="http://schemas.openxmlformats.org/officeDocument/2006/relationships/image" Target="../media/image9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10" Type="http://schemas.openxmlformats.org/officeDocument/2006/relationships/image" Target="../media/image4.jpg"/><Relationship Id="rId4" Type="http://schemas.openxmlformats.org/officeDocument/2006/relationships/image" Target="../media/image6.png"/><Relationship Id="rId9" Type="http://schemas.openxmlformats.org/officeDocument/2006/relationships/image" Target="../media/image9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95.png"/><Relationship Id="rId4" Type="http://schemas.openxmlformats.org/officeDocument/2006/relationships/image" Target="../media/image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96.png"/><Relationship Id="rId4" Type="http://schemas.openxmlformats.org/officeDocument/2006/relationships/image" Target="../media/image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5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99.png"/><Relationship Id="rId4" Type="http://schemas.openxmlformats.org/officeDocument/2006/relationships/image" Target="../media/image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100.png"/><Relationship Id="rId4" Type="http://schemas.openxmlformats.org/officeDocument/2006/relationships/image" Target="../media/image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101.png"/><Relationship Id="rId4" Type="http://schemas.openxmlformats.org/officeDocument/2006/relationships/image" Target="../media/image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102.png"/><Relationship Id="rId4" Type="http://schemas.openxmlformats.org/officeDocument/2006/relationships/image" Target="../media/image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105.png"/><Relationship Id="rId4" Type="http://schemas.openxmlformats.org/officeDocument/2006/relationships/image" Target="../media/image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106.png"/><Relationship Id="rId4" Type="http://schemas.openxmlformats.org/officeDocument/2006/relationships/image" Target="../media/image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5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108.png"/><Relationship Id="rId4" Type="http://schemas.openxmlformats.org/officeDocument/2006/relationships/image" Target="../media/image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1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5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111.png"/><Relationship Id="rId4" Type="http://schemas.openxmlformats.org/officeDocument/2006/relationships/image" Target="../media/image6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7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emf"/><Relationship Id="rId5" Type="http://schemas.openxmlformats.org/officeDocument/2006/relationships/image" Target="../media/image2.jpeg"/><Relationship Id="rId4" Type="http://schemas.openxmlformats.org/officeDocument/2006/relationships/image" Target="../media/image3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2658" y="-10003"/>
            <a:ext cx="6669342" cy="686800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BA12F36F-D394-45EE-96CF-DFFBD6CA31A6}"/>
                  </a:ext>
                </a:extLst>
              </p14:cNvPr>
              <p14:cNvContentPartPr/>
              <p14:nvPr/>
            </p14:nvContentPartPr>
            <p14:xfrm>
              <a:off x="4503141" y="3110426"/>
              <a:ext cx="32400" cy="1872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BA12F36F-D394-45EE-96CF-DFFBD6CA31A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94141" y="3101426"/>
                <a:ext cx="50040" cy="3636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Imagem 5">
            <a:extLst>
              <a:ext uri="{FF2B5EF4-FFF2-40B4-BE49-F238E27FC236}">
                <a16:creationId xmlns:a16="http://schemas.microsoft.com/office/drawing/2014/main" id="{8DBC2051-7AF2-4D6F-9135-589CE4137C5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88" r="11351"/>
          <a:stretch/>
        </p:blipFill>
        <p:spPr>
          <a:xfrm>
            <a:off x="0" y="0"/>
            <a:ext cx="5336998" cy="6858000"/>
          </a:xfrm>
          <a:prstGeom prst="flowChartDelay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640B3ACD-FF88-40B0-8AD9-B0BC4EB9F4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3141" y="2076426"/>
            <a:ext cx="2243122" cy="2705148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2896F3CE-DE9A-4F5A-AE63-9DBB2CFDE036}"/>
              </a:ext>
            </a:extLst>
          </p:cNvPr>
          <p:cNvSpPr txBox="1"/>
          <p:nvPr/>
        </p:nvSpPr>
        <p:spPr>
          <a:xfrm>
            <a:off x="6518366" y="2644170"/>
            <a:ext cx="55575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rgbClr val="003958"/>
                </a:solidFill>
                <a:latin typeface="Impact" panose="020B0806030902050204" pitchFamily="34" charset="0"/>
              </a:rPr>
              <a:t>Aula – Regressão Linear</a:t>
            </a:r>
            <a:r>
              <a:rPr lang="pt-BR" sz="3600">
                <a:solidFill>
                  <a:srgbClr val="003958"/>
                </a:solidFill>
                <a:latin typeface="Impact" panose="020B0806030902050204" pitchFamily="34" charset="0"/>
              </a:rPr>
              <a:t>, Múltipla </a:t>
            </a:r>
            <a:r>
              <a:rPr lang="pt-BR" sz="3600" dirty="0">
                <a:solidFill>
                  <a:srgbClr val="003958"/>
                </a:solidFill>
                <a:latin typeface="Impact" panose="020B0806030902050204" pitchFamily="34" charset="0"/>
              </a:rPr>
              <a:t>e Polinomial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F505634-22BF-4832-B2EF-A87CBD713B85}"/>
              </a:ext>
            </a:extLst>
          </p:cNvPr>
          <p:cNvSpPr txBox="1"/>
          <p:nvPr/>
        </p:nvSpPr>
        <p:spPr>
          <a:xfrm>
            <a:off x="5336999" y="4781574"/>
            <a:ext cx="67388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32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Dr. Rodrigo Ramos Silva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25F351CD-BC4A-0798-AC5F-AC6DDD2BED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8175" y="-10003"/>
            <a:ext cx="3559701" cy="3181089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5BD3214F-2C10-FFAE-C8FC-9567DA311313}"/>
              </a:ext>
            </a:extLst>
          </p:cNvPr>
          <p:cNvSpPr/>
          <p:nvPr/>
        </p:nvSpPr>
        <p:spPr>
          <a:xfrm>
            <a:off x="661069" y="2803883"/>
            <a:ext cx="303391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500"/>
              </a:lnSpc>
              <a:buSzPct val="100000"/>
            </a:pPr>
            <a:r>
              <a:rPr lang="en-US" sz="1550" dirty="0" err="1">
                <a:latin typeface="Epilogue" pitchFamily="34" charset="0"/>
                <a:ea typeface="Epilogue" pitchFamily="34" charset="-122"/>
                <a:cs typeface="Epilogue" pitchFamily="34" charset="-120"/>
              </a:rPr>
              <a:t>Curso</a:t>
            </a:r>
            <a:r>
              <a:rPr lang="en-US" sz="1550" dirty="0">
                <a:latin typeface="Epilogue" pitchFamily="34" charset="0"/>
                <a:ea typeface="Epilogue" pitchFamily="34" charset="-122"/>
                <a:cs typeface="Epilogue" pitchFamily="34" charset="-120"/>
              </a:rPr>
              <a:t> de </a:t>
            </a:r>
            <a:r>
              <a:rPr lang="en-US" sz="1550" dirty="0" err="1">
                <a:latin typeface="Epilogue" pitchFamily="34" charset="0"/>
                <a:ea typeface="Epilogue" pitchFamily="34" charset="-122"/>
                <a:cs typeface="Epilogue" pitchFamily="34" charset="-120"/>
              </a:rPr>
              <a:t>Engenharia</a:t>
            </a: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1470876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772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3600" dirty="0">
                <a:solidFill>
                  <a:srgbClr val="003958"/>
                </a:solidFill>
                <a:latin typeface="+mj-lt"/>
              </a:rPr>
              <a:t> Regressão Linear – O que é ? 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2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DB50D73-8E93-4906-B347-71B399DCEDBE}"/>
              </a:ext>
            </a:extLst>
          </p:cNvPr>
          <p:cNvSpPr txBox="1"/>
          <p:nvPr/>
        </p:nvSpPr>
        <p:spPr>
          <a:xfrm>
            <a:off x="800100" y="1921587"/>
            <a:ext cx="10936919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Modelos de regressão, são modelos matemáticos que relacionam o comportamento de uma variável </a:t>
            </a:r>
            <a:r>
              <a:rPr lang="pt-BR" sz="2800" b="1" dirty="0">
                <a:solidFill>
                  <a:srgbClr val="FF0000"/>
                </a:solidFill>
              </a:rPr>
              <a:t>Y</a:t>
            </a:r>
            <a:r>
              <a:rPr lang="pt-BR" sz="2800" dirty="0"/>
              <a:t> com outra </a:t>
            </a:r>
            <a:r>
              <a:rPr lang="pt-BR" sz="2800" b="1" dirty="0">
                <a:solidFill>
                  <a:srgbClr val="0070C0"/>
                </a:solidFill>
              </a:rPr>
              <a:t>X</a:t>
            </a:r>
            <a:r>
              <a:rPr lang="pt-BR" sz="2800" dirty="0"/>
              <a:t>.</a:t>
            </a:r>
          </a:p>
          <a:p>
            <a:pPr algn="just"/>
            <a:endParaRPr lang="pt-BR" sz="2800" dirty="0"/>
          </a:p>
          <a:p>
            <a:pPr algn="just"/>
            <a:endParaRPr lang="pt-BR" sz="2800" dirty="0"/>
          </a:p>
          <a:p>
            <a:pPr algn="ctr"/>
            <a:r>
              <a:rPr lang="pt-BR" sz="2400" dirty="0"/>
              <a:t>Variável independente (</a:t>
            </a:r>
            <a:r>
              <a:rPr lang="pt-BR" sz="2400" b="1" dirty="0">
                <a:solidFill>
                  <a:srgbClr val="0070C0"/>
                </a:solidFill>
              </a:rPr>
              <a:t>X</a:t>
            </a:r>
            <a:r>
              <a:rPr lang="pt-BR" sz="2400" dirty="0"/>
              <a:t>) -&gt; Variável dependente (</a:t>
            </a:r>
            <a:r>
              <a:rPr lang="pt-BR" sz="2400" b="1" dirty="0">
                <a:solidFill>
                  <a:srgbClr val="FF0000"/>
                </a:solidFill>
              </a:rPr>
              <a:t>Y</a:t>
            </a:r>
            <a:r>
              <a:rPr lang="pt-BR" sz="2400" dirty="0"/>
              <a:t>)</a:t>
            </a:r>
          </a:p>
          <a:p>
            <a:pPr algn="just"/>
            <a:endParaRPr lang="pt-BR" sz="2800" dirty="0"/>
          </a:p>
          <a:p>
            <a:pPr algn="just"/>
            <a:endParaRPr lang="pt-BR" sz="28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srgbClr val="0070C0"/>
                </a:solidFill>
              </a:rPr>
              <a:t>Variável independente ou preditora: </a:t>
            </a:r>
            <a:r>
              <a:rPr lang="pt-BR" sz="2800" dirty="0"/>
              <a:t>é aquela que será passada para o modelo, tendo influência na variável que queremos encontrar.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srgbClr val="FF0000"/>
                </a:solidFill>
              </a:rPr>
              <a:t>Variável alvo ou dependente: </a:t>
            </a:r>
            <a:r>
              <a:rPr lang="pt-BR" sz="2800" dirty="0"/>
              <a:t>é a variável que queremos prever.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D5D721C-4A42-76B6-37A7-7D6CD796E1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933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785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000" dirty="0">
                <a:solidFill>
                  <a:srgbClr val="003958"/>
                </a:solidFill>
                <a:latin typeface="+mj-lt"/>
              </a:rPr>
              <a:t>Tipos de Regressão : Simples e Múltiplas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3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F9159F6-3B63-4358-A419-C7F2783C3210}"/>
              </a:ext>
            </a:extLst>
          </p:cNvPr>
          <p:cNvSpPr txBox="1"/>
          <p:nvPr/>
        </p:nvSpPr>
        <p:spPr>
          <a:xfrm>
            <a:off x="993300" y="1467782"/>
            <a:ext cx="1093691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Existem 2 tipos de regressão linear: </a:t>
            </a:r>
          </a:p>
          <a:p>
            <a:pPr algn="just"/>
            <a:endParaRPr lang="pt-BR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/>
              <a:t>Regressão linear simples : refere-se quando temos somente </a:t>
            </a:r>
            <a:r>
              <a:rPr lang="pt-BR" sz="2800" b="1" dirty="0">
                <a:solidFill>
                  <a:srgbClr val="0070C0"/>
                </a:solidFill>
              </a:rPr>
              <a:t>uma variável independente (X)</a:t>
            </a:r>
            <a:r>
              <a:rPr lang="pt-BR" sz="2800" dirty="0"/>
              <a:t> para fazermos a predição.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/>
              <a:t>Regressão linear múltipla: refere-se </a:t>
            </a:r>
            <a:r>
              <a:rPr lang="pt-BR" sz="2800" b="1" dirty="0">
                <a:solidFill>
                  <a:srgbClr val="0070C0"/>
                </a:solidFill>
              </a:rPr>
              <a:t>a várias variáveis independentes (X)</a:t>
            </a:r>
            <a:r>
              <a:rPr lang="pt-BR" sz="2800" dirty="0">
                <a:solidFill>
                  <a:srgbClr val="0070C0"/>
                </a:solidFill>
              </a:rPr>
              <a:t> </a:t>
            </a:r>
            <a:r>
              <a:rPr lang="pt-BR" sz="2800" dirty="0"/>
              <a:t>usadas para fazer a predição.</a:t>
            </a:r>
            <a:endParaRPr lang="pt-BR" sz="24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33A8216-E045-4CDD-AB8C-877D1AA3B3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0157" y="4431131"/>
            <a:ext cx="4715533" cy="2276793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77FE05FD-32D6-D606-2E28-8ED40D006A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849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D6EF4-033E-5B50-7C70-6844F9361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EC055EED-4062-368F-05A5-5CC6BE5C8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B6DBB77A-E40F-96CE-29EE-D14989E1EE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50A5EED-182B-BDF9-4C41-462F24DC59F8}"/>
              </a:ext>
            </a:extLst>
          </p:cNvPr>
          <p:cNvSpPr txBox="1"/>
          <p:nvPr/>
        </p:nvSpPr>
        <p:spPr>
          <a:xfrm>
            <a:off x="1023257" y="341091"/>
            <a:ext cx="10877006" cy="785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000" dirty="0">
                <a:solidFill>
                  <a:srgbClr val="003958"/>
                </a:solidFill>
                <a:latin typeface="+mj-lt"/>
              </a:rPr>
              <a:t>Regressão : Suposições usuais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E4CCC15A-D05B-6F2B-64A3-38935005F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4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080D644-6155-D21D-6C40-B5D4E5225BB0}"/>
              </a:ext>
            </a:extLst>
          </p:cNvPr>
          <p:cNvSpPr txBox="1"/>
          <p:nvPr/>
        </p:nvSpPr>
        <p:spPr>
          <a:xfrm>
            <a:off x="1694089" y="1882094"/>
            <a:ext cx="8803822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1463" indent="-271463">
              <a:buNone/>
            </a:pPr>
            <a:r>
              <a:rPr lang="pt-PT" sz="2800" b="1" dirty="0"/>
              <a:t>Diagnóstico</a:t>
            </a:r>
          </a:p>
          <a:p>
            <a:pPr marL="271463" indent="-271463">
              <a:buNone/>
            </a:pPr>
            <a:endParaRPr lang="pt-PT" sz="2000" b="1" dirty="0"/>
          </a:p>
          <a:p>
            <a:pPr marL="271463" indent="-271463">
              <a:buFont typeface="Arial" panose="020B0604020202020204" pitchFamily="34" charset="0"/>
              <a:buChar char="•"/>
            </a:pPr>
            <a:r>
              <a:rPr lang="pt-PT" sz="2000" b="1" dirty="0"/>
              <a:t>Linearidade</a:t>
            </a:r>
            <a:r>
              <a:rPr lang="pt-PT" sz="2000" dirty="0"/>
              <a:t> (na forma escolhida de features)</a:t>
            </a:r>
          </a:p>
          <a:p>
            <a:pPr marL="271463" indent="-271463">
              <a:buFont typeface="Arial" panose="020B0604020202020204" pitchFamily="34" charset="0"/>
              <a:buChar char="•"/>
            </a:pPr>
            <a:r>
              <a:rPr lang="pt-PT" sz="2000" b="1" dirty="0"/>
              <a:t>Independência</a:t>
            </a:r>
            <a:r>
              <a:rPr lang="pt-PT" sz="2000" dirty="0"/>
              <a:t> dos erros</a:t>
            </a:r>
          </a:p>
          <a:p>
            <a:pPr marL="271463" indent="-271463">
              <a:buFont typeface="Arial" panose="020B0604020202020204" pitchFamily="34" charset="0"/>
              <a:buChar char="•"/>
            </a:pPr>
            <a:r>
              <a:rPr lang="pt-PT" sz="2000" b="1" dirty="0"/>
              <a:t>Homoscedasticidade</a:t>
            </a:r>
            <a:r>
              <a:rPr lang="pt-PT" sz="2000" dirty="0"/>
              <a:t> (variância constante dos erros)</a:t>
            </a:r>
          </a:p>
          <a:p>
            <a:pPr marL="271463" indent="-271463">
              <a:buFont typeface="Arial" panose="020B0604020202020204" pitchFamily="34" charset="0"/>
              <a:buChar char="•"/>
            </a:pPr>
            <a:r>
              <a:rPr lang="pt-PT" sz="2000" b="1" dirty="0"/>
              <a:t>Normalidade dos resíduos</a:t>
            </a:r>
            <a:r>
              <a:rPr lang="pt-PT" sz="2000" dirty="0"/>
              <a:t> (seguem uma distribuição Normal com média 0 e variância constante)</a:t>
            </a:r>
          </a:p>
          <a:p>
            <a:pPr marL="271463" indent="-271463">
              <a:buFont typeface="Arial" panose="020B0604020202020204" pitchFamily="34" charset="0"/>
              <a:buChar char="•"/>
            </a:pPr>
            <a:r>
              <a:rPr lang="pt-PT" sz="2000" b="1" dirty="0"/>
              <a:t>Ausência de multicolinearidade severa</a:t>
            </a:r>
            <a:r>
              <a:rPr lang="pt-PT" sz="2000" dirty="0"/>
              <a:t> (em múltipla)</a:t>
            </a:r>
          </a:p>
          <a:p>
            <a:pPr marL="271463" indent="-271463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71463" indent="-271463">
              <a:buNone/>
            </a:pPr>
            <a:r>
              <a:rPr lang="pt-PT" sz="2000" b="1" dirty="0"/>
              <a:t>Como checar:</a:t>
            </a:r>
            <a:r>
              <a:rPr lang="pt-PT" sz="2000" dirty="0"/>
              <a:t> gráficos de resíduos vs. predições, QQ-plot, VIF, análise de influência (Cook’s distance), Durbin–Watson para autocorrelação.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F4454F19-13BB-D3DE-C9E1-061378DF45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888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1556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000" dirty="0">
                <a:solidFill>
                  <a:srgbClr val="003958"/>
                </a:solidFill>
                <a:latin typeface="+mj-lt"/>
              </a:rPr>
              <a:t>Regressão Linear – Variável independente </a:t>
            </a:r>
            <a:br>
              <a:rPr lang="pt-BR" sz="4000" dirty="0">
                <a:solidFill>
                  <a:srgbClr val="003958"/>
                </a:solidFill>
                <a:latin typeface="+mj-lt"/>
              </a:rPr>
            </a:br>
            <a:r>
              <a:rPr lang="pt-BR" sz="4000" dirty="0">
                <a:solidFill>
                  <a:srgbClr val="003958"/>
                </a:solidFill>
                <a:latin typeface="+mj-lt"/>
              </a:rPr>
              <a:t>e Variável dependente 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5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2050" name="Picture 2" descr="Regressão Linear com Python">
            <a:extLst>
              <a:ext uri="{FF2B5EF4-FFF2-40B4-BE49-F238E27FC236}">
                <a16:creationId xmlns:a16="http://schemas.microsoft.com/office/drawing/2014/main" id="{3919F950-6FE4-4A4F-95D6-EEFBFB91AC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389458"/>
            <a:ext cx="5370277" cy="3087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40413CA-EE3D-40AF-B2CB-45CA337649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099" y="2475628"/>
            <a:ext cx="3763047" cy="3572087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612E4F42-A492-544D-3D32-EEABAFD03B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EC145A06-BADF-550A-A645-EA6D693D76E0}"/>
              </a:ext>
            </a:extLst>
          </p:cNvPr>
          <p:cNvSpPr txBox="1"/>
          <p:nvPr/>
        </p:nvSpPr>
        <p:spPr>
          <a:xfrm>
            <a:off x="2049235" y="6039944"/>
            <a:ext cx="80935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dirty="0"/>
              <a:t>* Quanto as vendas variam em função do investimento em propaganda?</a:t>
            </a:r>
          </a:p>
          <a:p>
            <a:r>
              <a:rPr lang="pt-PT" dirty="0"/>
              <a:t>* Quanto o investimento em propaganda varia em função das vendas?</a:t>
            </a:r>
          </a:p>
          <a:p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BE00575-FC50-B4F6-5BF9-DF8D1387A1E5}"/>
              </a:ext>
            </a:extLst>
          </p:cNvPr>
          <p:cNvSpPr txBox="1"/>
          <p:nvPr/>
        </p:nvSpPr>
        <p:spPr>
          <a:xfrm>
            <a:off x="953205" y="6039944"/>
            <a:ext cx="1249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b="1" dirty="0"/>
              <a:t>Responta: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02796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Modelos de Regressão Linear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6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DB50D73-8E93-4906-B347-71B399DCEDBE}"/>
              </a:ext>
            </a:extLst>
          </p:cNvPr>
          <p:cNvSpPr txBox="1"/>
          <p:nvPr/>
        </p:nvSpPr>
        <p:spPr>
          <a:xfrm>
            <a:off x="6525506" y="1622225"/>
            <a:ext cx="53747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000" dirty="0"/>
              <a:t>A linha traçada pode ser representada pela equação:</a:t>
            </a:r>
          </a:p>
        </p:txBody>
      </p:sp>
      <p:pic>
        <p:nvPicPr>
          <p:cNvPr id="1026" name="Picture 2" descr="Regressão Linear - Gráfico">
            <a:extLst>
              <a:ext uri="{FF2B5EF4-FFF2-40B4-BE49-F238E27FC236}">
                <a16:creationId xmlns:a16="http://schemas.microsoft.com/office/drawing/2014/main" id="{AFFF0277-B40A-4617-87BF-DE6FFEFAC6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19" y="1644576"/>
            <a:ext cx="5766350" cy="4739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62AA9567-2D80-415D-8890-FCDFFA96A7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6180" y="2011580"/>
            <a:ext cx="2186288" cy="357236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EF50DB9C-7160-4565-899B-8CCF0F3B9E67}"/>
              </a:ext>
            </a:extLst>
          </p:cNvPr>
          <p:cNvSpPr txBox="1"/>
          <p:nvPr/>
        </p:nvSpPr>
        <p:spPr>
          <a:xfrm>
            <a:off x="6525506" y="2533745"/>
            <a:ext cx="555013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b="1" dirty="0">
                <a:solidFill>
                  <a:srgbClr val="FF0000"/>
                </a:solidFill>
              </a:rPr>
              <a:t>Y é a variável (dependente)</a:t>
            </a:r>
            <a:r>
              <a:rPr lang="pt-BR" sz="2000" dirty="0"/>
              <a:t> e representa o que o modelo tentará prever; 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ADEE99B-44B1-43D9-81EA-F3FF5DCFB056}"/>
              </a:ext>
            </a:extLst>
          </p:cNvPr>
          <p:cNvSpPr txBox="1"/>
          <p:nvPr/>
        </p:nvSpPr>
        <p:spPr>
          <a:xfrm>
            <a:off x="6525506" y="3306263"/>
            <a:ext cx="53747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b="1" dirty="0">
                <a:solidFill>
                  <a:srgbClr val="FF0000"/>
                </a:solidFill>
              </a:rPr>
              <a:t>α</a:t>
            </a:r>
            <a:r>
              <a:rPr lang="pt-BR" sz="2000" dirty="0"/>
              <a:t> é a constante, representa a interceptação da reta com o eixo vertical; 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2975943-D071-4E1D-B661-89002E425715}"/>
              </a:ext>
            </a:extLst>
          </p:cNvPr>
          <p:cNvSpPr txBox="1"/>
          <p:nvPr/>
        </p:nvSpPr>
        <p:spPr>
          <a:xfrm>
            <a:off x="6525506" y="4128032"/>
            <a:ext cx="53747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b="1" dirty="0">
                <a:solidFill>
                  <a:srgbClr val="FF0000"/>
                </a:solidFill>
              </a:rPr>
              <a:t>ß</a:t>
            </a:r>
            <a:r>
              <a:rPr lang="pt-BR" sz="2000" dirty="0"/>
              <a:t> representa a inclinação em relação à variável explicativa</a:t>
            </a:r>
            <a:r>
              <a:rPr lang="pt-BR" sz="1800" dirty="0"/>
              <a:t>;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642EBBE-59FF-4AC5-A2A8-0660D08CF9E5}"/>
              </a:ext>
            </a:extLst>
          </p:cNvPr>
          <p:cNvSpPr txBox="1"/>
          <p:nvPr/>
        </p:nvSpPr>
        <p:spPr>
          <a:xfrm>
            <a:off x="6525506" y="4900644"/>
            <a:ext cx="6317672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b="1" dirty="0">
                <a:solidFill>
                  <a:schemeClr val="accent1"/>
                </a:solidFill>
              </a:rPr>
              <a:t>X é a variável explicativa (independente);</a:t>
            </a:r>
          </a:p>
          <a:p>
            <a:pPr algn="just"/>
            <a:endParaRPr lang="pt-BR" sz="1800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9ED625C-0CD4-449F-BBA6-FA7ACDE318D3}"/>
              </a:ext>
            </a:extLst>
          </p:cNvPr>
          <p:cNvSpPr txBox="1"/>
          <p:nvPr/>
        </p:nvSpPr>
        <p:spPr>
          <a:xfrm>
            <a:off x="6525506" y="5393086"/>
            <a:ext cx="53747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b="1" dirty="0">
                <a:solidFill>
                  <a:srgbClr val="FF0000"/>
                </a:solidFill>
              </a:rPr>
              <a:t>ε</a:t>
            </a:r>
            <a:r>
              <a:rPr lang="pt-BR" sz="2000" dirty="0"/>
              <a:t> representa os valores residuais e possíveis erros.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219D135-2800-2983-FD8E-E53FD25AF4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638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Modelos de Regressão Linear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7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3074" name="Picture 2" descr="Image for post">
            <a:extLst>
              <a:ext uri="{FF2B5EF4-FFF2-40B4-BE49-F238E27FC236}">
                <a16:creationId xmlns:a16="http://schemas.microsoft.com/office/drawing/2014/main" id="{9E01BD84-CB77-4AB7-8772-506844BC4B0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011" y="1153749"/>
            <a:ext cx="8044741" cy="5363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4BACE2F8-BA32-A5A6-7731-0632672F2A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184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654FD-E20F-DC2F-896B-732AEFDBD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1768BCF-DB88-7C10-A999-9D833AD9A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2E4069BE-DC4A-9B23-1E06-A6B803567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D0060CD5-5D66-5219-F05D-2276E03AA13F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Modelos de Regressão Linear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D89671E5-1840-CCF5-8514-F69E83B5F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8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116816B-386B-76EA-12DD-FCB0EC6CDD20}"/>
              </a:ext>
            </a:extLst>
          </p:cNvPr>
          <p:cNvSpPr txBox="1"/>
          <p:nvPr/>
        </p:nvSpPr>
        <p:spPr>
          <a:xfrm>
            <a:off x="1023257" y="1669011"/>
            <a:ext cx="2329543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2400"/>
              </a:spcBef>
              <a:buNone/>
            </a:pPr>
            <a:r>
              <a:rPr lang="en-US" sz="1800" b="1" kern="0" dirty="0" err="1">
                <a:solidFill>
                  <a:srgbClr val="365F91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Modelo</a:t>
            </a:r>
            <a:endParaRPr lang="pt-BR" sz="1800" b="1" kern="0" dirty="0">
              <a:solidFill>
                <a:srgbClr val="365F91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FA23849-47B6-70EC-B3C2-B41CF0E7D8A6}"/>
              </a:ext>
            </a:extLst>
          </p:cNvPr>
          <p:cNvSpPr txBox="1"/>
          <p:nvPr/>
        </p:nvSpPr>
        <p:spPr>
          <a:xfrm>
            <a:off x="1211036" y="2021515"/>
            <a:ext cx="6319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Equação do modelo: 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E37679A3-11AB-2C9F-9665-0DAAD8C3DA99}"/>
                  </a:ext>
                </a:extLst>
              </p:cNvPr>
              <p:cNvSpPr txBox="1"/>
              <p:nvPr/>
            </p:nvSpPr>
            <p:spPr>
              <a:xfrm>
                <a:off x="3815442" y="1913793"/>
                <a:ext cx="3252107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t-BR" sz="32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pt-BR" sz="3200" b="1" i="0">
                          <a:latin typeface="Cambria Math" panose="02040503050406030204" pitchFamily="18" charset="0"/>
                        </a:rPr>
                        <m:t>̂ = </m:t>
                      </m:r>
                      <m:r>
                        <a:rPr lang="pt-BR" sz="3200" b="1" i="1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pt-BR" sz="3200" b="1" i="0">
                          <a:latin typeface="Cambria Math" panose="02040503050406030204" pitchFamily="18" charset="0"/>
                        </a:rPr>
                        <m:t>₀ + </m:t>
                      </m:r>
                      <m:r>
                        <a:rPr lang="pt-BR" sz="3200" b="1" i="1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pt-BR" sz="3200" b="1" i="0">
                          <a:latin typeface="Cambria Math" panose="02040503050406030204" pitchFamily="18" charset="0"/>
                        </a:rPr>
                        <m:t>₁</m:t>
                      </m:r>
                      <m:r>
                        <a:rPr lang="pt-BR" sz="3200" b="1" i="1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pt-BR" sz="3200" b="1" dirty="0"/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E37679A3-11AB-2C9F-9665-0DAAD8C3DA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5442" y="1913793"/>
                <a:ext cx="3252107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aixaDeTexto 14">
            <a:extLst>
              <a:ext uri="{FF2B5EF4-FFF2-40B4-BE49-F238E27FC236}">
                <a16:creationId xmlns:a16="http://schemas.microsoft.com/office/drawing/2014/main" id="{799542C5-80A2-F168-ACDC-AB7BBB75C9BC}"/>
              </a:ext>
            </a:extLst>
          </p:cNvPr>
          <p:cNvSpPr txBox="1"/>
          <p:nvPr/>
        </p:nvSpPr>
        <p:spPr>
          <a:xfrm>
            <a:off x="1072243" y="3062533"/>
            <a:ext cx="2903764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2400"/>
              </a:spcBef>
              <a:buNone/>
            </a:pPr>
            <a:r>
              <a:rPr lang="en-US" sz="1800" b="1" kern="0" dirty="0">
                <a:solidFill>
                  <a:srgbClr val="365F91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Erro/</a:t>
            </a:r>
            <a:r>
              <a:rPr lang="en-US" sz="1800" b="1" kern="0" dirty="0" err="1">
                <a:solidFill>
                  <a:srgbClr val="365F91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Resíduo</a:t>
            </a:r>
            <a:endParaRPr lang="pt-BR" sz="1800" b="1" kern="0" dirty="0">
              <a:solidFill>
                <a:srgbClr val="365F91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658E780-BF7F-C9A9-2998-FEF5241CA535}"/>
              </a:ext>
            </a:extLst>
          </p:cNvPr>
          <p:cNvSpPr txBox="1"/>
          <p:nvPr/>
        </p:nvSpPr>
        <p:spPr>
          <a:xfrm>
            <a:off x="1072243" y="3400610"/>
            <a:ext cx="1510392" cy="383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Resíduo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endParaRPr lang="pt-BR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6E82DAB3-F7A2-57F8-C1C0-D403B4597CC3}"/>
                  </a:ext>
                </a:extLst>
              </p:cNvPr>
              <p:cNvSpPr txBox="1"/>
              <p:nvPr/>
            </p:nvSpPr>
            <p:spPr>
              <a:xfrm>
                <a:off x="3752850" y="3357921"/>
                <a:ext cx="631915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pt-BR" sz="2800" b="1" i="0">
                          <a:latin typeface="Cambria Math" panose="02040503050406030204" pitchFamily="18" charset="0"/>
                        </a:rPr>
                        <m:t>ᵢ = </m:t>
                      </m:r>
                      <m:r>
                        <a:rPr lang="pt-BR" sz="2800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pt-BR" sz="2800" b="1" i="0">
                          <a:latin typeface="Cambria Math" panose="02040503050406030204" pitchFamily="18" charset="0"/>
                        </a:rPr>
                        <m:t>ᵢ − </m:t>
                      </m:r>
                      <m:r>
                        <a:rPr lang="pt-BR" sz="2800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pt-BR" sz="2800" b="1" i="0">
                          <a:latin typeface="Cambria Math" panose="02040503050406030204" pitchFamily="18" charset="0"/>
                        </a:rPr>
                        <m:t>̂ᵢ = </m:t>
                      </m:r>
                      <m:r>
                        <a:rPr lang="pt-BR" sz="2800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pt-BR" sz="2800" b="1" i="0">
                          <a:latin typeface="Cambria Math" panose="02040503050406030204" pitchFamily="18" charset="0"/>
                        </a:rPr>
                        <m:t>ᵢ − </m:t>
                      </m:r>
                      <m:d>
                        <m:dPr>
                          <m:ctrlPr>
                            <a:rPr lang="pt-BR" sz="2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1" i="1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pt-BR" sz="2800" b="1" i="0">
                              <a:latin typeface="Cambria Math" panose="02040503050406030204" pitchFamily="18" charset="0"/>
                            </a:rPr>
                            <m:t>₀ + </m:t>
                          </m:r>
                          <m:r>
                            <a:rPr lang="pt-BR" sz="2800" b="1" i="1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pt-BR" sz="2800" b="1" i="0">
                              <a:latin typeface="Cambria Math" panose="02040503050406030204" pitchFamily="18" charset="0"/>
                            </a:rPr>
                            <m:t>₁</m:t>
                          </m:r>
                          <m:r>
                            <a:rPr lang="pt-BR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pt-BR" sz="2800" b="1" i="0">
                              <a:latin typeface="Cambria Math" panose="02040503050406030204" pitchFamily="18" charset="0"/>
                            </a:rPr>
                            <m:t>ᵢ</m:t>
                          </m:r>
                        </m:e>
                      </m:d>
                    </m:oMath>
                  </m:oMathPara>
                </a14:m>
                <a:endParaRPr lang="pt-BR" b="1" dirty="0"/>
              </a:p>
            </p:txBody>
          </p:sp>
        </mc:Choice>
        <mc:Fallback xmlns="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6E82DAB3-F7A2-57F8-C1C0-D403B4597C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2850" y="3357921"/>
                <a:ext cx="631915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CaixaDeTexto 22">
            <a:extLst>
              <a:ext uri="{FF2B5EF4-FFF2-40B4-BE49-F238E27FC236}">
                <a16:creationId xmlns:a16="http://schemas.microsoft.com/office/drawing/2014/main" id="{2017DC46-0FA0-D2CC-EA5C-B4E28EDE5B93}"/>
              </a:ext>
            </a:extLst>
          </p:cNvPr>
          <p:cNvSpPr txBox="1"/>
          <p:nvPr/>
        </p:nvSpPr>
        <p:spPr>
          <a:xfrm>
            <a:off x="1072243" y="4558502"/>
            <a:ext cx="6319156" cy="383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Medidas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de </a:t>
            </a:r>
            <a:r>
              <a:rPr lang="en-US" sz="1800" dirty="0" err="1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erro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</a:t>
            </a:r>
            <a:endParaRPr lang="pt-BR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9B5EF2A9-203E-E5FA-E69F-8596E6B8363F}"/>
                  </a:ext>
                </a:extLst>
              </p:cNvPr>
              <p:cNvSpPr txBox="1"/>
              <p:nvPr/>
            </p:nvSpPr>
            <p:spPr>
              <a:xfrm>
                <a:off x="1072243" y="5384622"/>
                <a:ext cx="2375853" cy="47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𝑺𝑺𝑬</m:t>
                      </m:r>
                      <m:r>
                        <a:rPr lang="pt-BR" sz="2400" b="1" i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pt-BR" sz="2400" b="1" i="1">
                          <a:latin typeface="Cambria Math" panose="02040503050406030204" pitchFamily="18" charset="0"/>
                        </a:rPr>
                        <m:t>𝜮</m:t>
                      </m:r>
                      <m:r>
                        <a:rPr lang="pt-BR" sz="2400" b="1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400" b="1" i="1">
                          <a:latin typeface="Cambria Math" panose="02040503050406030204" pitchFamily="18" charset="0"/>
                        </a:rPr>
                        <m:t>𝒆</m:t>
                      </m:r>
                      <m:sSup>
                        <m:sSupPr>
                          <m:ctrlPr>
                            <a:rPr lang="pt-BR" sz="2400" b="1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1" i="0">
                              <a:latin typeface="Cambria Math" panose="02040503050406030204" pitchFamily="18" charset="0"/>
                            </a:rPr>
                            <m:t>ᵢ</m:t>
                          </m:r>
                        </m:e>
                        <m:sup>
                          <m:r>
                            <a:rPr lang="pt-BR" sz="24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pt-BR" sz="2400" b="1" dirty="0"/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9B5EF2A9-203E-E5FA-E69F-8596E6B836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243" y="5384622"/>
                <a:ext cx="2375853" cy="470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8FB14CF1-E38C-EFE5-E0DE-8F16620DBB1C}"/>
                  </a:ext>
                </a:extLst>
              </p:cNvPr>
              <p:cNvSpPr txBox="1"/>
              <p:nvPr/>
            </p:nvSpPr>
            <p:spPr>
              <a:xfrm>
                <a:off x="3550738" y="5158534"/>
                <a:ext cx="3016067" cy="9221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𝑴𝑺𝑬</m:t>
                      </m:r>
                      <m:r>
                        <a:rPr lang="pt-BR" sz="2400" b="1" i="0"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ctrlPr>
                            <a:rPr lang="pt-BR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400" b="1" i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b="1" i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pt-BR" sz="24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den>
                          </m:f>
                        </m:e>
                      </m:d>
                      <m:r>
                        <a:rPr lang="pt-BR" sz="2400" b="1" i="1">
                          <a:latin typeface="Cambria Math" panose="02040503050406030204" pitchFamily="18" charset="0"/>
                        </a:rPr>
                        <m:t>𝜮</m:t>
                      </m:r>
                      <m:r>
                        <a:rPr lang="pt-BR" sz="2400" b="1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400" b="1" i="1">
                          <a:latin typeface="Cambria Math" panose="02040503050406030204" pitchFamily="18" charset="0"/>
                        </a:rPr>
                        <m:t>𝒆</m:t>
                      </m:r>
                      <m:sSup>
                        <m:sSupPr>
                          <m:ctrlPr>
                            <a:rPr lang="pt-BR" sz="2400" b="1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1" i="0">
                              <a:latin typeface="Cambria Math" panose="02040503050406030204" pitchFamily="18" charset="0"/>
                            </a:rPr>
                            <m:t>ᵢ</m:t>
                          </m:r>
                        </m:e>
                        <m:sup>
                          <m:r>
                            <a:rPr lang="pt-BR" sz="24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pt-BR" sz="2400" b="1" dirty="0"/>
              </a:p>
            </p:txBody>
          </p:sp>
        </mc:Choice>
        <mc:Fallback xmlns="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8FB14CF1-E38C-EFE5-E0DE-8F16620DBB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0738" y="5158534"/>
                <a:ext cx="3016067" cy="92217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1D4E570A-7DE9-5CB8-0F23-4C045534D98D}"/>
                  </a:ext>
                </a:extLst>
              </p:cNvPr>
              <p:cNvSpPr txBox="1"/>
              <p:nvPr/>
            </p:nvSpPr>
            <p:spPr>
              <a:xfrm>
                <a:off x="7067549" y="5384622"/>
                <a:ext cx="373788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𝑱</m:t>
                      </m:r>
                      <m:d>
                        <m:dPr>
                          <m:sepChr m:val=","/>
                          <m:ctrlPr>
                            <a:rPr lang="pt-BR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e>
                          <m:r>
                            <a:rPr lang="pt-BR" sz="2400" b="1" i="0">
                              <a:latin typeface="Cambria Math" panose="02040503050406030204" pitchFamily="18" charset="0"/>
                            </a:rPr>
                            <m:t>₀</m:t>
                          </m:r>
                          <m:r>
                            <a:rPr lang="pt-BR" sz="2400" b="1" i="1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pt-BR" sz="2400" b="1" i="0">
                              <a:latin typeface="Cambria Math" panose="02040503050406030204" pitchFamily="18" charset="0"/>
                            </a:rPr>
                            <m:t>₁</m:t>
                          </m:r>
                        </m:e>
                      </m:d>
                      <m:r>
                        <a:rPr lang="pt-BR" sz="2400" b="1" i="0"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ctrlPr>
                            <a:rPr lang="pt-BR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pt-BR" sz="2400" b="1" i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b="1" i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pt-BR" sz="24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  <m:r>
                            <a:rPr lang="pt-BR" sz="24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pt-BR" sz="2400" b="1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400" b="1" i="1">
                          <a:latin typeface="Cambria Math" panose="02040503050406030204" pitchFamily="18" charset="0"/>
                        </a:rPr>
                        <m:t>𝜮</m:t>
                      </m:r>
                      <m:r>
                        <a:rPr lang="pt-BR" sz="2400" b="1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400" b="1" i="1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pt-BR" sz="2400" b="1" i="0">
                          <a:latin typeface="Cambria Math" panose="02040503050406030204" pitchFamily="18" charset="0"/>
                        </a:rPr>
                        <m:t>ᵢ²</m:t>
                      </m:r>
                    </m:oMath>
                  </m:oMathPara>
                </a14:m>
                <a:endParaRPr lang="pt-BR" sz="2400" b="1" dirty="0"/>
              </a:p>
            </p:txBody>
          </p:sp>
        </mc:Choice>
        <mc:Fallback xmlns="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1D4E570A-7DE9-5CB8-0F23-4C045534D9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7549" y="5384622"/>
                <a:ext cx="3737880" cy="461665"/>
              </a:xfrm>
              <a:prstGeom prst="rect">
                <a:avLst/>
              </a:prstGeom>
              <a:blipFill>
                <a:blip r:embed="rId8"/>
                <a:stretch>
                  <a:fillRect t="-125000" r="-163" b="-1907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" name="Imagem 29">
            <a:extLst>
              <a:ext uri="{FF2B5EF4-FFF2-40B4-BE49-F238E27FC236}">
                <a16:creationId xmlns:a16="http://schemas.microsoft.com/office/drawing/2014/main" id="{590115B8-F027-BD29-E01E-0CBE71BC556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07E63320-3460-275B-B6FC-321D46EB827A}"/>
              </a:ext>
            </a:extLst>
          </p:cNvPr>
          <p:cNvSpPr txBox="1"/>
          <p:nvPr/>
        </p:nvSpPr>
        <p:spPr>
          <a:xfrm>
            <a:off x="5541417" y="1051893"/>
            <a:ext cx="1988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b="1" u="sng" dirty="0">
                <a:solidFill>
                  <a:srgbClr val="FF0000"/>
                </a:solidFill>
              </a:rPr>
              <a:t>PREDITO</a:t>
            </a:r>
            <a:endParaRPr lang="pt-BR" sz="2800" b="1" u="sng" dirty="0">
              <a:solidFill>
                <a:srgbClr val="FF0000"/>
              </a:solidFill>
            </a:endParaRPr>
          </a:p>
        </p:txBody>
      </p:sp>
      <p:sp>
        <p:nvSpPr>
          <p:cNvPr id="8" name="Seta: para a Esquerda 7">
            <a:extLst>
              <a:ext uri="{FF2B5EF4-FFF2-40B4-BE49-F238E27FC236}">
                <a16:creationId xmlns:a16="http://schemas.microsoft.com/office/drawing/2014/main" id="{10C41702-3E5B-D9C5-B80C-A4F9A6E9A4A9}"/>
              </a:ext>
            </a:extLst>
          </p:cNvPr>
          <p:cNvSpPr/>
          <p:nvPr/>
        </p:nvSpPr>
        <p:spPr>
          <a:xfrm rot="20024265">
            <a:off x="4294695" y="1334863"/>
            <a:ext cx="1132115" cy="451050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239BF95-45A8-3BC5-CE88-100A44E8B1AF}"/>
              </a:ext>
            </a:extLst>
          </p:cNvPr>
          <p:cNvSpPr txBox="1"/>
          <p:nvPr/>
        </p:nvSpPr>
        <p:spPr>
          <a:xfrm>
            <a:off x="1343048" y="6045314"/>
            <a:ext cx="18342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 dirty="0"/>
              <a:t>Soma dos Erros </a:t>
            </a:r>
          </a:p>
          <a:p>
            <a:pPr algn="ctr"/>
            <a:r>
              <a:rPr lang="pt-PT" dirty="0"/>
              <a:t>ao Quadrado</a:t>
            </a:r>
            <a:endParaRPr lang="pt-BR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A9A159E-55E8-A2A2-1A56-4B9A89371B63}"/>
              </a:ext>
            </a:extLst>
          </p:cNvPr>
          <p:cNvSpPr txBox="1"/>
          <p:nvPr/>
        </p:nvSpPr>
        <p:spPr>
          <a:xfrm>
            <a:off x="3815442" y="6045316"/>
            <a:ext cx="22941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dirty="0"/>
              <a:t>Erro Quadrático </a:t>
            </a:r>
          </a:p>
          <a:p>
            <a:pPr algn="ctr"/>
            <a:r>
              <a:rPr lang="pt-BR" dirty="0"/>
              <a:t>Médio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BC05DC8-E905-C42A-4E01-69E45D940D66}"/>
              </a:ext>
            </a:extLst>
          </p:cNvPr>
          <p:cNvSpPr txBox="1"/>
          <p:nvPr/>
        </p:nvSpPr>
        <p:spPr>
          <a:xfrm>
            <a:off x="7067549" y="6045315"/>
            <a:ext cx="3537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 dirty="0"/>
              <a:t>Função de custo </a:t>
            </a:r>
          </a:p>
          <a:p>
            <a:pPr algn="ctr"/>
            <a:r>
              <a:rPr lang="pt-PT" dirty="0"/>
              <a:t>do modelo</a:t>
            </a:r>
            <a:endParaRPr lang="pt-BR" dirty="0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5DADC3B8-9A5D-BD7F-2C9F-251339A575D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496" y="2576432"/>
            <a:ext cx="5974608" cy="41942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36156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1EB4F-1186-C946-7BBB-5223A5228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E0B8CB75-4650-9BE1-D035-E522B1794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0E966EF0-D575-D963-225B-84DD10700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88342B90-FBD4-072F-113C-344F7D49B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9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34" name="Imagem 33">
            <a:extLst>
              <a:ext uri="{FF2B5EF4-FFF2-40B4-BE49-F238E27FC236}">
                <a16:creationId xmlns:a16="http://schemas.microsoft.com/office/drawing/2014/main" id="{2083B896-7211-D5B1-2E7B-662784FCFF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24128" y="1051560"/>
            <a:ext cx="10332720" cy="31089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defRPr sz="2000" b="1">
                <a:solidFill>
                  <a:srgbClr val="00435E"/>
                </a:solidFill>
                <a:latin typeface="Aptos"/>
              </a:defRPr>
            </a:pPr>
            <a:r>
              <a:t>Do erro individual ao erro total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" y="1353312"/>
            <a:ext cx="10607040" cy="29260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defRPr sz="1320" b="0">
                <a:solidFill>
                  <a:srgbClr val="1E1E1E"/>
                </a:solidFill>
                <a:latin typeface="Aptos"/>
              </a:defRPr>
            </a:pPr>
            <a:r>
              <a:t>Queremos encontrar a reta que reduz o erro conjunto dos dados, não apenas o erro de um ponto isolado.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0120" y="1783080"/>
            <a:ext cx="3520440" cy="1874519"/>
          </a:xfrm>
          <a:prstGeom prst="roundRect">
            <a:avLst/>
          </a:prstGeom>
          <a:solidFill>
            <a:srgbClr val="F6F8FB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078992" y="1920240"/>
            <a:ext cx="420624" cy="347472"/>
          </a:xfrm>
          <a:prstGeom prst="roundRect">
            <a:avLst/>
          </a:prstGeom>
          <a:solidFill>
            <a:srgbClr val="004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81912" y="1874519"/>
            <a:ext cx="2770632" cy="31089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defRPr sz="1650" b="1">
                <a:solidFill>
                  <a:srgbClr val="00435E"/>
                </a:solidFill>
                <a:latin typeface="Aptos"/>
              </a:defRPr>
            </a:pPr>
            <a:r>
              <a:t>Cada ponto produz um erro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61288" y="2304288"/>
            <a:ext cx="3118104" cy="43891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defRPr sz="1260" b="0">
                <a:solidFill>
                  <a:srgbClr val="1E1E1E"/>
                </a:solidFill>
                <a:latin typeface="Aptos"/>
              </a:defRPr>
            </a:pPr>
            <a:r>
              <a:t>O modelo prevê ŷᵢ e comparamos com o valor real yᵢ.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61288" y="2770632"/>
            <a:ext cx="3118104" cy="777239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defRPr sz="1600" b="1">
                <a:solidFill>
                  <a:srgbClr val="00435E"/>
                </a:solidFill>
                <a:latin typeface="Cambria Math"/>
              </a:defRPr>
            </a:pPr>
            <a:r>
              <a:t>ŷᵢ = w₀ + w₁xᵢ</a:t>
            </a:r>
            <a:br/>
            <a:r>
              <a:t>eᵢ = yᵢ − ŷᵢ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53712" y="1783080"/>
            <a:ext cx="3730752" cy="1874519"/>
          </a:xfrm>
          <a:prstGeom prst="roundRect">
            <a:avLst/>
          </a:prstGeom>
          <a:solidFill>
            <a:srgbClr val="F6F8FB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4672584" y="1920240"/>
            <a:ext cx="420624" cy="347472"/>
          </a:xfrm>
          <a:prstGeom prst="roundRect">
            <a:avLst/>
          </a:prstGeom>
          <a:solidFill>
            <a:srgbClr val="39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75504" y="1874519"/>
            <a:ext cx="2980944" cy="31089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defRPr sz="1650" b="1">
                <a:solidFill>
                  <a:srgbClr val="3978B4"/>
                </a:solidFill>
                <a:latin typeface="Aptos"/>
              </a:defRPr>
            </a:pPr>
            <a:r>
              <a:t>Juntamos todos os erros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80" y="2304288"/>
            <a:ext cx="3328416" cy="43891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defRPr sz="1260" b="0">
                <a:solidFill>
                  <a:srgbClr val="1E1E1E"/>
                </a:solidFill>
                <a:latin typeface="Aptos"/>
              </a:defRPr>
            </a:pPr>
            <a:r>
              <a:t>Uma única reta deve atender todos os pontos ao mesmo tempo.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4880" y="2770632"/>
            <a:ext cx="3328416" cy="777239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defRPr sz="1600" b="1">
                <a:solidFill>
                  <a:srgbClr val="00435E"/>
                </a:solidFill>
                <a:latin typeface="Cambria Math"/>
              </a:defRPr>
            </a:pPr>
            <a:r>
              <a:t>E(w₀,w₁) = Σᵢ₌₁ᵐ [yᵢ − (w₁xᵢ + w₀)]²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476488" y="1920240"/>
            <a:ext cx="420624" cy="347472"/>
          </a:xfrm>
          <a:prstGeom prst="roundRect">
            <a:avLst/>
          </a:prstGeom>
          <a:solidFill>
            <a:srgbClr val="327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79408" y="1874519"/>
            <a:ext cx="2313432" cy="31089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defRPr sz="1650" b="1">
                <a:solidFill>
                  <a:srgbClr val="327D36"/>
                </a:solidFill>
                <a:latin typeface="Aptos"/>
              </a:defRPr>
            </a:pPr>
            <a:r>
              <a:t>Separamos os efeitos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58784" y="2304288"/>
            <a:ext cx="2660904" cy="43891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defRPr sz="1260" b="0">
                <a:solidFill>
                  <a:srgbClr val="1E1E1E"/>
                </a:solidFill>
                <a:latin typeface="Aptos"/>
              </a:defRPr>
            </a:pPr>
            <a:r>
              <a:t>Avaliamos como cada coeficiente altera o erro total.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58784" y="2770632"/>
            <a:ext cx="2660904" cy="777239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defRPr sz="1600" b="1">
                <a:solidFill>
                  <a:srgbClr val="00435E"/>
                </a:solidFill>
                <a:latin typeface="Cambria Math"/>
              </a:defRPr>
            </a:pPr>
            <a:r>
              <a:t>∂E/∂w₀  →  efeito do intercepto</a:t>
            </a:r>
            <a:br/>
            <a:r>
              <a:t>∂E/∂w₁  →  efeito da inclinação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2773" y="4403923"/>
            <a:ext cx="3840480" cy="29260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defRPr sz="1650" b="1">
                <a:solidFill>
                  <a:srgbClr val="00435E"/>
                </a:solidFill>
                <a:latin typeface="Aptos"/>
              </a:defRPr>
            </a:pPr>
            <a:r>
              <a:t>Por que aparece a regra da cadeia?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2773" y="4742252"/>
            <a:ext cx="4114800" cy="47548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defRPr sz="1280" b="0">
                <a:solidFill>
                  <a:srgbClr val="1E1E1E"/>
                </a:solidFill>
                <a:latin typeface="Aptos"/>
              </a:defRPr>
            </a:pPr>
            <a:r>
              <a:t>Porque estamos derivando um quadrado cujo conteúdo também depende de w₀ e w₁.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84213" y="5318324"/>
            <a:ext cx="4023360" cy="502920"/>
          </a:xfrm>
          <a:prstGeom prst="roundRect">
            <a:avLst/>
          </a:prstGeom>
          <a:solidFill>
            <a:srgbClr val="FAFAFA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00435E"/>
                </a:solidFill>
                <a:latin typeface="Cambria Math"/>
              </a:defRPr>
            </a:pPr>
            <a:r>
              <a:t>[g(w)]²  →  2g(w)·g′(w)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19053" y="4403923"/>
            <a:ext cx="5303520" cy="29260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defRPr sz="1650" b="1">
                <a:solidFill>
                  <a:srgbClr val="00435E"/>
                </a:solidFill>
                <a:latin typeface="Aptos"/>
              </a:defRPr>
            </a:pPr>
            <a:r>
              <a:t>Condição de mínimo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19053" y="4742252"/>
            <a:ext cx="5303520" cy="47548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defRPr sz="1280" b="0">
                <a:solidFill>
                  <a:srgbClr val="1E1E1E"/>
                </a:solidFill>
                <a:latin typeface="Aptos"/>
              </a:defRPr>
            </a:pPr>
            <a:r>
              <a:t>No melhor ajuste, mexer um pouco em w₀ ou w₁ já não diminui o erro total.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610493" y="5318324"/>
            <a:ext cx="4754880" cy="502920"/>
          </a:xfrm>
          <a:prstGeom prst="roundRect">
            <a:avLst/>
          </a:prstGeom>
          <a:solidFill>
            <a:srgbClr val="FAFAFA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00435E"/>
                </a:solidFill>
                <a:latin typeface="Cambria Math"/>
              </a:defRPr>
            </a:pPr>
            <a:r>
              <a:t>∂E/∂w₀ = 0          ∂E/∂w₁ = 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0" y="5532120"/>
            <a:ext cx="5303520" cy="29260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defRPr sz="1280" b="1">
                <a:solidFill>
                  <a:srgbClr val="327D36"/>
                </a:solidFill>
                <a:latin typeface="Aptos"/>
              </a:defRPr>
            </a:pPr>
            <a:r>
              <a:t>Resultado desta etapa: duas condições para descobrir dois coeficientes.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7240" y="1033271"/>
            <a:ext cx="6217920" cy="30175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900" b="1">
                <a:solidFill>
                  <a:srgbClr val="00405A"/>
                </a:solidFill>
                <a:latin typeface="Aptos"/>
              </a:rPr>
              <a:t>Por que minimizamos o erro?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7240" y="1344168"/>
            <a:ext cx="10149840" cy="30175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350" b="0">
                <a:solidFill>
                  <a:srgbClr val="555555"/>
                </a:solidFill>
                <a:latin typeface="Aptos"/>
              </a:rPr>
              <a:t>Objetivo: transformar vários erros individuais em um único problema de ajuste da reta.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77240" y="1783080"/>
            <a:ext cx="5074920" cy="16002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905256" y="1929384"/>
            <a:ext cx="384048" cy="384048"/>
          </a:xfrm>
          <a:prstGeom prst="ellipse">
            <a:avLst/>
          </a:prstGeom>
          <a:solidFill>
            <a:srgbClr val="3D7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05256" y="1961388"/>
            <a:ext cx="384048" cy="256032"/>
          </a:xfrm>
          <a:prstGeom prst="rect">
            <a:avLst/>
          </a:prstGeom>
          <a:noFill/>
        </p:spPr>
        <p:txBody>
          <a:bodyPr wrap="square" lIns="0" tIns="27432" rIns="0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80744" y="1901952"/>
            <a:ext cx="4325112" cy="34747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700" b="1">
                <a:solidFill>
                  <a:srgbClr val="3D7DB8"/>
                </a:solidFill>
                <a:latin typeface="Aptos"/>
              </a:rPr>
              <a:t>Cada ponto produz um erro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71013" y="2276856"/>
            <a:ext cx="4325113" cy="858697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320" b="0" dirty="0">
                <a:solidFill>
                  <a:srgbClr val="191919"/>
                </a:solidFill>
                <a:latin typeface="Aptos"/>
              </a:rPr>
              <a:t>Para </a:t>
            </a:r>
            <a:r>
              <a:rPr sz="1320" b="0" dirty="0" err="1">
                <a:solidFill>
                  <a:srgbClr val="191919"/>
                </a:solidFill>
                <a:latin typeface="Aptos"/>
              </a:rPr>
              <a:t>uma</a:t>
            </a:r>
            <a:r>
              <a:rPr sz="1320" b="0" dirty="0">
                <a:solidFill>
                  <a:srgbClr val="191919"/>
                </a:solidFill>
                <a:latin typeface="Aptos"/>
              </a:rPr>
              <a:t> </a:t>
            </a:r>
            <a:r>
              <a:rPr sz="1320" b="0" dirty="0" err="1">
                <a:solidFill>
                  <a:srgbClr val="191919"/>
                </a:solidFill>
                <a:latin typeface="Aptos"/>
              </a:rPr>
              <a:t>observação</a:t>
            </a:r>
            <a:r>
              <a:rPr sz="1320" b="0" dirty="0">
                <a:solidFill>
                  <a:srgbClr val="191919"/>
                </a:solidFill>
                <a:latin typeface="Aptos"/>
              </a:rPr>
              <a:t>, </a:t>
            </a:r>
            <a:r>
              <a:rPr sz="1320" b="0" dirty="0" err="1">
                <a:solidFill>
                  <a:srgbClr val="191919"/>
                </a:solidFill>
                <a:latin typeface="Aptos"/>
              </a:rPr>
              <a:t>comparamos</a:t>
            </a:r>
            <a:r>
              <a:rPr sz="1320" b="0" dirty="0">
                <a:solidFill>
                  <a:srgbClr val="191919"/>
                </a:solidFill>
                <a:latin typeface="Aptos"/>
              </a:rPr>
              <a:t> o valor real yᵢ com o valor </a:t>
            </a:r>
            <a:r>
              <a:rPr sz="1320" b="0" dirty="0" err="1">
                <a:solidFill>
                  <a:srgbClr val="191919"/>
                </a:solidFill>
                <a:latin typeface="Aptos"/>
              </a:rPr>
              <a:t>previsto</a:t>
            </a:r>
            <a:r>
              <a:rPr sz="1320" b="0" dirty="0">
                <a:solidFill>
                  <a:srgbClr val="191919"/>
                </a:solidFill>
                <a:latin typeface="Aptos"/>
              </a:rPr>
              <a:t> pela </a:t>
            </a:r>
            <a:r>
              <a:rPr sz="1320" b="0" dirty="0" err="1">
                <a:solidFill>
                  <a:srgbClr val="191919"/>
                </a:solidFill>
                <a:latin typeface="Aptos"/>
              </a:rPr>
              <a:t>reta</a:t>
            </a:r>
            <a:r>
              <a:rPr sz="1320" b="0" dirty="0">
                <a:solidFill>
                  <a:srgbClr val="191919"/>
                </a:solidFill>
                <a:latin typeface="Aptos"/>
              </a:rPr>
              <a:t>.
Esse </a:t>
            </a:r>
            <a:r>
              <a:rPr sz="1320" b="0" dirty="0" err="1">
                <a:solidFill>
                  <a:srgbClr val="191919"/>
                </a:solidFill>
                <a:latin typeface="Aptos"/>
              </a:rPr>
              <a:t>erro</a:t>
            </a:r>
            <a:r>
              <a:rPr sz="1320" b="0" dirty="0">
                <a:solidFill>
                  <a:srgbClr val="191919"/>
                </a:solidFill>
                <a:latin typeface="Aptos"/>
              </a:rPr>
              <a:t> individual </a:t>
            </a:r>
            <a:r>
              <a:rPr sz="1320" b="0" dirty="0" err="1">
                <a:solidFill>
                  <a:srgbClr val="191919"/>
                </a:solidFill>
                <a:latin typeface="Aptos"/>
              </a:rPr>
              <a:t>mostra</a:t>
            </a:r>
            <a:r>
              <a:rPr sz="1320" b="0" dirty="0">
                <a:solidFill>
                  <a:srgbClr val="191919"/>
                </a:solidFill>
                <a:latin typeface="Aptos"/>
              </a:rPr>
              <a:t> se a </a:t>
            </a:r>
            <a:r>
              <a:rPr sz="1320" b="0" dirty="0" err="1">
                <a:solidFill>
                  <a:srgbClr val="191919"/>
                </a:solidFill>
                <a:latin typeface="Aptos"/>
              </a:rPr>
              <a:t>reta</a:t>
            </a:r>
            <a:r>
              <a:rPr sz="1320" b="0" dirty="0">
                <a:solidFill>
                  <a:srgbClr val="191919"/>
                </a:solidFill>
                <a:latin typeface="Aptos"/>
              </a:rPr>
              <a:t> </a:t>
            </a:r>
            <a:r>
              <a:rPr sz="1320" b="0" dirty="0" err="1">
                <a:solidFill>
                  <a:srgbClr val="191919"/>
                </a:solidFill>
                <a:latin typeface="Aptos"/>
              </a:rPr>
              <a:t>ficou</a:t>
            </a:r>
            <a:r>
              <a:rPr sz="1320" b="0" dirty="0">
                <a:solidFill>
                  <a:srgbClr val="191919"/>
                </a:solidFill>
                <a:latin typeface="Aptos"/>
              </a:rPr>
              <a:t> </a:t>
            </a:r>
            <a:r>
              <a:rPr sz="1320" b="0" dirty="0" err="1">
                <a:solidFill>
                  <a:srgbClr val="191919"/>
                </a:solidFill>
                <a:latin typeface="Aptos"/>
              </a:rPr>
              <a:t>acima</a:t>
            </a:r>
            <a:r>
              <a:rPr sz="1320" b="0" dirty="0">
                <a:solidFill>
                  <a:srgbClr val="191919"/>
                </a:solidFill>
                <a:latin typeface="Aptos"/>
              </a:rPr>
              <a:t> </a:t>
            </a:r>
            <a:r>
              <a:rPr sz="1320" b="0" dirty="0" err="1">
                <a:solidFill>
                  <a:srgbClr val="191919"/>
                </a:solidFill>
                <a:latin typeface="Aptos"/>
              </a:rPr>
              <a:t>ou</a:t>
            </a:r>
            <a:r>
              <a:rPr sz="1320" b="0" dirty="0">
                <a:solidFill>
                  <a:srgbClr val="191919"/>
                </a:solidFill>
                <a:latin typeface="Aptos"/>
              </a:rPr>
              <a:t> </a:t>
            </a:r>
            <a:r>
              <a:rPr sz="1320" b="0" dirty="0" err="1">
                <a:solidFill>
                  <a:srgbClr val="191919"/>
                </a:solidFill>
                <a:latin typeface="Aptos"/>
              </a:rPr>
              <a:t>abaixo</a:t>
            </a:r>
            <a:r>
              <a:rPr sz="1320" b="0" dirty="0">
                <a:solidFill>
                  <a:srgbClr val="191919"/>
                </a:solidFill>
                <a:latin typeface="Aptos"/>
              </a:rPr>
              <a:t> </a:t>
            </a:r>
            <a:r>
              <a:rPr sz="1320" b="0" dirty="0" err="1">
                <a:solidFill>
                  <a:srgbClr val="191919"/>
                </a:solidFill>
                <a:latin typeface="Aptos"/>
              </a:rPr>
              <a:t>daquele</a:t>
            </a:r>
            <a:r>
              <a:rPr sz="1320" b="0" dirty="0">
                <a:solidFill>
                  <a:srgbClr val="191919"/>
                </a:solidFill>
                <a:latin typeface="Aptos"/>
              </a:rPr>
              <a:t> </a:t>
            </a:r>
            <a:r>
              <a:rPr sz="1320" b="0" dirty="0" err="1">
                <a:solidFill>
                  <a:srgbClr val="191919"/>
                </a:solidFill>
                <a:latin typeface="Aptos"/>
              </a:rPr>
              <a:t>ponto</a:t>
            </a:r>
            <a:r>
              <a:rPr sz="1320" b="0" dirty="0">
                <a:solidFill>
                  <a:srgbClr val="191919"/>
                </a:solidFill>
                <a:latin typeface="Aptos"/>
              </a:rPr>
              <a:t>.</a:t>
            </a:r>
          </a:p>
        </p:txBody>
      </p:sp>
      <p:pic>
        <p:nvPicPr>
          <p:cNvPr id="67" name="Picture 66" descr="e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4560" y="2880360"/>
            <a:ext cx="2880360" cy="384048"/>
          </a:xfrm>
          <a:prstGeom prst="rect">
            <a:avLst/>
          </a:prstGeom>
        </p:spPr>
      </p:pic>
      <p:sp>
        <p:nvSpPr>
          <p:cNvPr id="68" name="Rounded Rectangle 67"/>
          <p:cNvSpPr/>
          <p:nvPr/>
        </p:nvSpPr>
        <p:spPr>
          <a:xfrm>
            <a:off x="6080760" y="1783080"/>
            <a:ext cx="5074920" cy="16002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6208776" y="1929384"/>
            <a:ext cx="384048" cy="384048"/>
          </a:xfrm>
          <a:prstGeom prst="ellipse">
            <a:avLst/>
          </a:prstGeom>
          <a:solidFill>
            <a:srgbClr val="327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208776" y="1961388"/>
            <a:ext cx="384048" cy="256032"/>
          </a:xfrm>
          <a:prstGeom prst="rect">
            <a:avLst/>
          </a:prstGeom>
          <a:noFill/>
        </p:spPr>
        <p:txBody>
          <a:bodyPr wrap="square" lIns="0" tIns="27432" rIns="0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84264" y="1901952"/>
            <a:ext cx="4325112" cy="34747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700" b="1">
                <a:solidFill>
                  <a:srgbClr val="327D3A"/>
                </a:solidFill>
                <a:latin typeface="Aptos"/>
              </a:rPr>
              <a:t>Juntamos todos os erros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74534" y="2276856"/>
            <a:ext cx="4325113" cy="655564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320" b="0" dirty="0" err="1">
                <a:solidFill>
                  <a:srgbClr val="191919"/>
                </a:solidFill>
                <a:latin typeface="Aptos"/>
              </a:rPr>
              <a:t>Não</a:t>
            </a:r>
            <a:r>
              <a:rPr sz="1320" b="0" dirty="0">
                <a:solidFill>
                  <a:srgbClr val="191919"/>
                </a:solidFill>
                <a:latin typeface="Aptos"/>
              </a:rPr>
              <a:t> </a:t>
            </a:r>
            <a:r>
              <a:rPr sz="1320" b="0" dirty="0" err="1">
                <a:solidFill>
                  <a:srgbClr val="191919"/>
                </a:solidFill>
                <a:latin typeface="Aptos"/>
              </a:rPr>
              <a:t>queremos</a:t>
            </a:r>
            <a:r>
              <a:rPr sz="1320" b="0" dirty="0">
                <a:solidFill>
                  <a:srgbClr val="191919"/>
                </a:solidFill>
                <a:latin typeface="Aptos"/>
              </a:rPr>
              <a:t> </a:t>
            </a:r>
            <a:r>
              <a:rPr sz="1320" b="0" dirty="0" err="1">
                <a:solidFill>
                  <a:srgbClr val="191919"/>
                </a:solidFill>
                <a:latin typeface="Aptos"/>
              </a:rPr>
              <a:t>uma</a:t>
            </a:r>
            <a:r>
              <a:rPr sz="1320" b="0" dirty="0">
                <a:solidFill>
                  <a:srgbClr val="191919"/>
                </a:solidFill>
                <a:latin typeface="Aptos"/>
              </a:rPr>
              <a:t> </a:t>
            </a:r>
            <a:r>
              <a:rPr sz="1320" b="0" dirty="0" err="1">
                <a:solidFill>
                  <a:srgbClr val="191919"/>
                </a:solidFill>
                <a:latin typeface="Aptos"/>
              </a:rPr>
              <a:t>reta</a:t>
            </a:r>
            <a:r>
              <a:rPr sz="1320" b="0" dirty="0">
                <a:solidFill>
                  <a:srgbClr val="191919"/>
                </a:solidFill>
                <a:latin typeface="Aptos"/>
              </a:rPr>
              <a:t> boa para </a:t>
            </a:r>
            <a:r>
              <a:rPr sz="1320" b="0" dirty="0" err="1">
                <a:solidFill>
                  <a:srgbClr val="191919"/>
                </a:solidFill>
                <a:latin typeface="Aptos"/>
              </a:rPr>
              <a:t>apenas</a:t>
            </a:r>
            <a:r>
              <a:rPr sz="1320" b="0" dirty="0">
                <a:solidFill>
                  <a:srgbClr val="191919"/>
                </a:solidFill>
                <a:latin typeface="Aptos"/>
              </a:rPr>
              <a:t> um </a:t>
            </a:r>
            <a:r>
              <a:rPr sz="1320" b="0" dirty="0" err="1">
                <a:solidFill>
                  <a:srgbClr val="191919"/>
                </a:solidFill>
                <a:latin typeface="Aptos"/>
              </a:rPr>
              <a:t>ponto</a:t>
            </a:r>
            <a:r>
              <a:rPr sz="1320" b="0" dirty="0">
                <a:solidFill>
                  <a:srgbClr val="191919"/>
                </a:solidFill>
                <a:latin typeface="Aptos"/>
              </a:rPr>
              <a:t>.
</a:t>
            </a:r>
            <a:r>
              <a:rPr sz="1320" b="0" dirty="0" err="1">
                <a:solidFill>
                  <a:srgbClr val="191919"/>
                </a:solidFill>
                <a:latin typeface="Aptos"/>
              </a:rPr>
              <a:t>Queremos</a:t>
            </a:r>
            <a:r>
              <a:rPr sz="1320" b="0" dirty="0">
                <a:solidFill>
                  <a:srgbClr val="191919"/>
                </a:solidFill>
                <a:latin typeface="Aptos"/>
              </a:rPr>
              <a:t> </a:t>
            </a:r>
            <a:r>
              <a:rPr sz="1320" b="0" dirty="0" err="1">
                <a:solidFill>
                  <a:srgbClr val="191919"/>
                </a:solidFill>
                <a:latin typeface="Aptos"/>
              </a:rPr>
              <a:t>uma</a:t>
            </a:r>
            <a:r>
              <a:rPr sz="1320" b="0" dirty="0">
                <a:solidFill>
                  <a:srgbClr val="191919"/>
                </a:solidFill>
                <a:latin typeface="Aptos"/>
              </a:rPr>
              <a:t> </a:t>
            </a:r>
            <a:r>
              <a:rPr sz="1320" b="0" dirty="0" err="1">
                <a:solidFill>
                  <a:srgbClr val="191919"/>
                </a:solidFill>
                <a:latin typeface="Aptos"/>
              </a:rPr>
              <a:t>reta</a:t>
            </a:r>
            <a:r>
              <a:rPr sz="1320" b="0" dirty="0">
                <a:solidFill>
                  <a:srgbClr val="191919"/>
                </a:solidFill>
                <a:latin typeface="Aptos"/>
              </a:rPr>
              <a:t> </a:t>
            </a:r>
            <a:r>
              <a:rPr sz="1320" b="0" dirty="0" err="1">
                <a:solidFill>
                  <a:srgbClr val="191919"/>
                </a:solidFill>
                <a:latin typeface="Aptos"/>
              </a:rPr>
              <a:t>que</a:t>
            </a:r>
            <a:r>
              <a:rPr sz="1320" b="0" dirty="0">
                <a:solidFill>
                  <a:srgbClr val="191919"/>
                </a:solidFill>
                <a:latin typeface="Aptos"/>
              </a:rPr>
              <a:t> </a:t>
            </a:r>
            <a:r>
              <a:rPr sz="1320" b="0" dirty="0" err="1">
                <a:solidFill>
                  <a:srgbClr val="191919"/>
                </a:solidFill>
                <a:latin typeface="Aptos"/>
              </a:rPr>
              <a:t>seja</a:t>
            </a:r>
            <a:r>
              <a:rPr sz="1320" b="0" dirty="0">
                <a:solidFill>
                  <a:srgbClr val="191919"/>
                </a:solidFill>
                <a:latin typeface="Aptos"/>
              </a:rPr>
              <a:t> boa para </a:t>
            </a:r>
            <a:r>
              <a:rPr sz="1320" b="0" dirty="0" err="1">
                <a:solidFill>
                  <a:srgbClr val="191919"/>
                </a:solidFill>
                <a:latin typeface="Aptos"/>
              </a:rPr>
              <a:t>todos</a:t>
            </a:r>
            <a:r>
              <a:rPr sz="1320" b="0" dirty="0">
                <a:solidFill>
                  <a:srgbClr val="191919"/>
                </a:solidFill>
                <a:latin typeface="Aptos"/>
              </a:rPr>
              <a:t> </a:t>
            </a:r>
            <a:r>
              <a:rPr sz="1320" b="0" dirty="0" err="1">
                <a:solidFill>
                  <a:srgbClr val="191919"/>
                </a:solidFill>
                <a:latin typeface="Aptos"/>
              </a:rPr>
              <a:t>os</a:t>
            </a:r>
            <a:r>
              <a:rPr sz="1320" b="0" dirty="0">
                <a:solidFill>
                  <a:srgbClr val="191919"/>
                </a:solidFill>
                <a:latin typeface="Aptos"/>
              </a:rPr>
              <a:t> </a:t>
            </a:r>
            <a:r>
              <a:rPr sz="1320" b="0" dirty="0" err="1">
                <a:solidFill>
                  <a:srgbClr val="191919"/>
                </a:solidFill>
                <a:latin typeface="Aptos"/>
              </a:rPr>
              <a:t>pontos</a:t>
            </a:r>
            <a:r>
              <a:rPr sz="1320" b="0" dirty="0">
                <a:solidFill>
                  <a:srgbClr val="191919"/>
                </a:solidFill>
                <a:latin typeface="Aptos"/>
              </a:rPr>
              <a:t> </a:t>
            </a:r>
            <a:r>
              <a:rPr sz="1320" b="0" dirty="0" err="1">
                <a:solidFill>
                  <a:srgbClr val="191919"/>
                </a:solidFill>
                <a:latin typeface="Aptos"/>
              </a:rPr>
              <a:t>ao</a:t>
            </a:r>
            <a:r>
              <a:rPr sz="1320" b="0" dirty="0">
                <a:solidFill>
                  <a:srgbClr val="191919"/>
                </a:solidFill>
                <a:latin typeface="Aptos"/>
              </a:rPr>
              <a:t> </a:t>
            </a:r>
            <a:r>
              <a:rPr sz="1320" b="0" dirty="0" err="1">
                <a:solidFill>
                  <a:srgbClr val="191919"/>
                </a:solidFill>
                <a:latin typeface="Aptos"/>
              </a:rPr>
              <a:t>mesmo</a:t>
            </a:r>
            <a:r>
              <a:rPr sz="1320" b="0" dirty="0">
                <a:solidFill>
                  <a:srgbClr val="191919"/>
                </a:solidFill>
                <a:latin typeface="Aptos"/>
              </a:rPr>
              <a:t> tempo.</a:t>
            </a:r>
          </a:p>
        </p:txBody>
      </p:sp>
      <p:pic>
        <p:nvPicPr>
          <p:cNvPr id="73" name="Picture 72" descr="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2843784"/>
            <a:ext cx="4389120" cy="438912"/>
          </a:xfrm>
          <a:prstGeom prst="rect">
            <a:avLst/>
          </a:prstGeom>
        </p:spPr>
      </p:pic>
      <p:sp>
        <p:nvSpPr>
          <p:cNvPr id="74" name="Rounded Rectangle 73"/>
          <p:cNvSpPr/>
          <p:nvPr/>
        </p:nvSpPr>
        <p:spPr>
          <a:xfrm>
            <a:off x="809893" y="4038164"/>
            <a:ext cx="10378440" cy="13258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1084213" y="4157036"/>
            <a:ext cx="2743200" cy="2743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600" b="1">
                <a:solidFill>
                  <a:srgbClr val="00405A"/>
                </a:solidFill>
                <a:latin typeface="Aptos"/>
              </a:rPr>
              <a:t>Ponto fundamental</a:t>
            </a:r>
          </a:p>
        </p:txBody>
      </p:sp>
      <p:pic>
        <p:nvPicPr>
          <p:cNvPr id="76" name="Picture 75" descr="de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73133" y="4129604"/>
            <a:ext cx="3657600" cy="347472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084213" y="4522796"/>
            <a:ext cx="9646920" cy="25603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280" b="0">
                <a:solidFill>
                  <a:srgbClr val="191919"/>
                </a:solidFill>
                <a:latin typeface="Aptos"/>
              </a:rPr>
              <a:t>Os valores xᵢ e yᵢ já são dados conhecidos. Os únicos valores que o modelo precisa encontrar são w₀ e w₁.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84213" y="4833692"/>
            <a:ext cx="9646920" cy="329184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400" b="1">
                <a:solidFill>
                  <a:srgbClr val="BC3C37"/>
                </a:solidFill>
                <a:latin typeface="Aptos"/>
              </a:rPr>
              <a:t>Pergunta do problema: quais dois valores de w₀ e w₁ fazem esse erro conjunto ficar o menor possível?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143000" y="5175503"/>
            <a:ext cx="9646920" cy="83848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0" name="Picture 79" descr="flo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5285232"/>
            <a:ext cx="9052560" cy="728756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AEDB15EB-D630-9AC4-7369-5669633707BF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Modelos de Regressão Linear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66928" y="950976"/>
            <a:ext cx="10716768" cy="5623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658368" y="210312"/>
            <a:ext cx="10012680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68680" y="310896"/>
            <a:ext cx="9509760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3400" b="0">
                <a:solidFill>
                  <a:srgbClr val="004059"/>
                </a:solidFill>
                <a:latin typeface="Arial"/>
              </a:rPr>
              <a:t>Modelos de Regressão Linear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68680" y="969264"/>
            <a:ext cx="9692640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900" b="1" dirty="0">
                <a:solidFill>
                  <a:srgbClr val="004059"/>
                </a:solidFill>
                <a:latin typeface="Arial"/>
              </a:rPr>
              <a:t>Por </a:t>
            </a:r>
            <a:r>
              <a:rPr sz="1900" b="1" dirty="0" err="1">
                <a:solidFill>
                  <a:srgbClr val="004059"/>
                </a:solidFill>
                <a:latin typeface="Arial"/>
              </a:rPr>
              <a:t>que</a:t>
            </a:r>
            <a:r>
              <a:rPr sz="1900" b="1" dirty="0">
                <a:solidFill>
                  <a:srgbClr val="004059"/>
                </a:solidFill>
                <a:latin typeface="Arial"/>
              </a:rPr>
              <a:t> </a:t>
            </a:r>
            <a:r>
              <a:rPr sz="1900" b="1" dirty="0" err="1">
                <a:solidFill>
                  <a:srgbClr val="004059"/>
                </a:solidFill>
                <a:latin typeface="Arial"/>
              </a:rPr>
              <a:t>minimizamos</a:t>
            </a:r>
            <a:r>
              <a:rPr sz="1900" b="1" dirty="0">
                <a:solidFill>
                  <a:srgbClr val="004059"/>
                </a:solidFill>
                <a:latin typeface="Arial"/>
              </a:rPr>
              <a:t> o </a:t>
            </a:r>
            <a:r>
              <a:rPr sz="1900" b="1" dirty="0" err="1">
                <a:solidFill>
                  <a:srgbClr val="004059"/>
                </a:solidFill>
                <a:latin typeface="Arial"/>
              </a:rPr>
              <a:t>erro</a:t>
            </a:r>
            <a:r>
              <a:rPr sz="1900" b="1" dirty="0">
                <a:solidFill>
                  <a:srgbClr val="004059"/>
                </a:solidFill>
                <a:latin typeface="Arial"/>
              </a:rPr>
              <a:t>?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626864" y="974792"/>
            <a:ext cx="6254496" cy="44935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400" b="0" dirty="0" err="1">
                <a:solidFill>
                  <a:srgbClr val="585858"/>
                </a:solidFill>
                <a:latin typeface="Arial"/>
              </a:rPr>
              <a:t>Objetivo</a:t>
            </a:r>
            <a:r>
              <a:rPr sz="1400" b="0" dirty="0">
                <a:solidFill>
                  <a:srgbClr val="585858"/>
                </a:solidFill>
                <a:latin typeface="Arial"/>
              </a:rPr>
              <a:t>: </a:t>
            </a:r>
            <a:r>
              <a:rPr sz="1400" b="0" dirty="0" err="1">
                <a:solidFill>
                  <a:srgbClr val="585858"/>
                </a:solidFill>
                <a:latin typeface="Arial"/>
              </a:rPr>
              <a:t>transformar</a:t>
            </a:r>
            <a:r>
              <a:rPr sz="1400" b="0" dirty="0">
                <a:solidFill>
                  <a:srgbClr val="585858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585858"/>
                </a:solidFill>
                <a:latin typeface="Arial"/>
              </a:rPr>
              <a:t>vários</a:t>
            </a:r>
            <a:r>
              <a:rPr sz="1400" b="0" dirty="0">
                <a:solidFill>
                  <a:srgbClr val="585858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585858"/>
                </a:solidFill>
                <a:latin typeface="Arial"/>
              </a:rPr>
              <a:t>erros</a:t>
            </a:r>
            <a:r>
              <a:rPr sz="1400" b="0" dirty="0">
                <a:solidFill>
                  <a:srgbClr val="585858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585858"/>
                </a:solidFill>
                <a:latin typeface="Arial"/>
              </a:rPr>
              <a:t>individuais</a:t>
            </a:r>
            <a:r>
              <a:rPr sz="1400" b="0" dirty="0">
                <a:solidFill>
                  <a:srgbClr val="585858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585858"/>
                </a:solidFill>
                <a:latin typeface="Arial"/>
              </a:rPr>
              <a:t>em</a:t>
            </a:r>
            <a:r>
              <a:rPr sz="1400" b="0" dirty="0">
                <a:solidFill>
                  <a:srgbClr val="585858"/>
                </a:solidFill>
                <a:latin typeface="Arial"/>
              </a:rPr>
              <a:t> um </a:t>
            </a:r>
            <a:r>
              <a:rPr sz="1400" b="0" dirty="0" err="1">
                <a:solidFill>
                  <a:srgbClr val="585858"/>
                </a:solidFill>
                <a:latin typeface="Arial"/>
              </a:rPr>
              <a:t>único</a:t>
            </a:r>
            <a:r>
              <a:rPr sz="1400" b="0" dirty="0">
                <a:solidFill>
                  <a:srgbClr val="585858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585858"/>
                </a:solidFill>
                <a:latin typeface="Arial"/>
              </a:rPr>
              <a:t>problema</a:t>
            </a:r>
            <a:r>
              <a:rPr sz="1400" b="0" dirty="0">
                <a:solidFill>
                  <a:srgbClr val="585858"/>
                </a:solidFill>
                <a:latin typeface="Arial"/>
              </a:rPr>
              <a:t> de </a:t>
            </a:r>
            <a:r>
              <a:rPr sz="1400" b="0" dirty="0" err="1">
                <a:solidFill>
                  <a:srgbClr val="585858"/>
                </a:solidFill>
                <a:latin typeface="Arial"/>
              </a:rPr>
              <a:t>ajuste</a:t>
            </a:r>
            <a:r>
              <a:rPr sz="1400" b="0" dirty="0">
                <a:solidFill>
                  <a:srgbClr val="585858"/>
                </a:solidFill>
                <a:latin typeface="Arial"/>
              </a:rPr>
              <a:t> da </a:t>
            </a:r>
            <a:r>
              <a:rPr sz="1400" b="0" dirty="0" err="1">
                <a:solidFill>
                  <a:srgbClr val="585858"/>
                </a:solidFill>
                <a:latin typeface="Arial"/>
              </a:rPr>
              <a:t>reta</a:t>
            </a:r>
            <a:r>
              <a:rPr sz="1400" b="0" dirty="0">
                <a:solidFill>
                  <a:srgbClr val="585858"/>
                </a:solidFill>
                <a:latin typeface="Arial"/>
              </a:rPr>
              <a:t>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77240" y="1627631"/>
            <a:ext cx="5074920" cy="1920239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923544" y="1773936"/>
            <a:ext cx="393192" cy="393192"/>
          </a:xfrm>
          <a:prstGeom prst="ellipse">
            <a:avLst/>
          </a:prstGeom>
          <a:solidFill>
            <a:srgbClr val="3C7D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923544" y="1792224"/>
            <a:ext cx="393192" cy="2743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435607" y="1783080"/>
            <a:ext cx="4251959" cy="3200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800" b="1">
                <a:solidFill>
                  <a:srgbClr val="3C7DB9"/>
                </a:solidFill>
                <a:latin typeface="Arial"/>
              </a:rPr>
              <a:t>Cada ponto produz um erro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419284" y="2129369"/>
            <a:ext cx="4215382" cy="64171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50" b="0" dirty="0">
                <a:solidFill>
                  <a:srgbClr val="191919"/>
                </a:solidFill>
                <a:latin typeface="Arial"/>
              </a:rPr>
              <a:t>Para </a:t>
            </a:r>
            <a:r>
              <a:rPr sz="1350" b="0" dirty="0" err="1">
                <a:solidFill>
                  <a:srgbClr val="191919"/>
                </a:solidFill>
                <a:latin typeface="Arial"/>
              </a:rPr>
              <a:t>uma</a:t>
            </a:r>
            <a:r>
              <a:rPr sz="1350" b="0" dirty="0">
                <a:solidFill>
                  <a:srgbClr val="191919"/>
                </a:solidFill>
                <a:latin typeface="Arial"/>
              </a:rPr>
              <a:t> </a:t>
            </a:r>
            <a:r>
              <a:rPr sz="1350" b="0" dirty="0" err="1">
                <a:solidFill>
                  <a:srgbClr val="191919"/>
                </a:solidFill>
                <a:latin typeface="Arial"/>
              </a:rPr>
              <a:t>observação</a:t>
            </a:r>
            <a:r>
              <a:rPr sz="1350" b="0" dirty="0">
                <a:solidFill>
                  <a:srgbClr val="191919"/>
                </a:solidFill>
                <a:latin typeface="Arial"/>
              </a:rPr>
              <a:t>, </a:t>
            </a:r>
            <a:r>
              <a:rPr sz="1350" b="0" dirty="0" err="1">
                <a:solidFill>
                  <a:srgbClr val="191919"/>
                </a:solidFill>
                <a:latin typeface="Arial"/>
              </a:rPr>
              <a:t>comparamos</a:t>
            </a:r>
            <a:r>
              <a:rPr sz="1350" b="0" dirty="0">
                <a:solidFill>
                  <a:srgbClr val="191919"/>
                </a:solidFill>
                <a:latin typeface="Arial"/>
              </a:rPr>
              <a:t> o valor real yᵢ com o valor </a:t>
            </a:r>
            <a:r>
              <a:rPr sz="1350" b="0" dirty="0" err="1">
                <a:solidFill>
                  <a:srgbClr val="191919"/>
                </a:solidFill>
                <a:latin typeface="Arial"/>
              </a:rPr>
              <a:t>previsto</a:t>
            </a:r>
            <a:r>
              <a:rPr sz="1350" b="0" dirty="0">
                <a:solidFill>
                  <a:srgbClr val="191919"/>
                </a:solidFill>
                <a:latin typeface="Arial"/>
              </a:rPr>
              <a:t> pela </a:t>
            </a:r>
            <a:r>
              <a:rPr sz="1350" b="0" dirty="0" err="1">
                <a:solidFill>
                  <a:srgbClr val="191919"/>
                </a:solidFill>
                <a:latin typeface="Arial"/>
              </a:rPr>
              <a:t>reta</a:t>
            </a:r>
            <a:r>
              <a:rPr sz="1350" b="0" dirty="0">
                <a:solidFill>
                  <a:srgbClr val="191919"/>
                </a:solidFill>
                <a:latin typeface="Arial"/>
              </a:rPr>
              <a:t>.
O </a:t>
            </a:r>
            <a:r>
              <a:rPr sz="1350" b="0" dirty="0" err="1">
                <a:solidFill>
                  <a:srgbClr val="191919"/>
                </a:solidFill>
                <a:latin typeface="Arial"/>
              </a:rPr>
              <a:t>resíduo</a:t>
            </a:r>
            <a:r>
              <a:rPr sz="1350" b="0" dirty="0">
                <a:solidFill>
                  <a:srgbClr val="191919"/>
                </a:solidFill>
                <a:latin typeface="Arial"/>
              </a:rPr>
              <a:t> </a:t>
            </a:r>
            <a:r>
              <a:rPr sz="1350" b="0" dirty="0" err="1">
                <a:solidFill>
                  <a:srgbClr val="191919"/>
                </a:solidFill>
                <a:latin typeface="Arial"/>
              </a:rPr>
              <a:t>mostra</a:t>
            </a:r>
            <a:r>
              <a:rPr sz="1350" b="0" dirty="0">
                <a:solidFill>
                  <a:srgbClr val="191919"/>
                </a:solidFill>
                <a:latin typeface="Arial"/>
              </a:rPr>
              <a:t> o </a:t>
            </a:r>
            <a:r>
              <a:rPr sz="1350" b="0" dirty="0" err="1">
                <a:solidFill>
                  <a:srgbClr val="191919"/>
                </a:solidFill>
                <a:latin typeface="Arial"/>
              </a:rPr>
              <a:t>erro</a:t>
            </a:r>
            <a:r>
              <a:rPr sz="1350" b="0" dirty="0">
                <a:solidFill>
                  <a:srgbClr val="191919"/>
                </a:solidFill>
                <a:latin typeface="Arial"/>
              </a:rPr>
              <a:t> </a:t>
            </a:r>
            <a:r>
              <a:rPr sz="1350" b="0" dirty="0" err="1">
                <a:solidFill>
                  <a:srgbClr val="191919"/>
                </a:solidFill>
                <a:latin typeface="Arial"/>
              </a:rPr>
              <a:t>daquele</a:t>
            </a:r>
            <a:r>
              <a:rPr sz="1350" b="0" dirty="0">
                <a:solidFill>
                  <a:srgbClr val="191919"/>
                </a:solidFill>
                <a:latin typeface="Arial"/>
              </a:rPr>
              <a:t> </a:t>
            </a:r>
            <a:r>
              <a:rPr sz="1350" b="0" dirty="0" err="1">
                <a:solidFill>
                  <a:srgbClr val="191919"/>
                </a:solidFill>
                <a:latin typeface="Arial"/>
              </a:rPr>
              <a:t>ponto</a:t>
            </a:r>
            <a:r>
              <a:rPr sz="1350" b="0" dirty="0">
                <a:solidFill>
                  <a:srgbClr val="191919"/>
                </a:solidFill>
                <a:latin typeface="Arial"/>
              </a:rPr>
              <a:t>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14986" y="3037222"/>
            <a:ext cx="4251960" cy="3200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300" b="1" dirty="0">
                <a:solidFill>
                  <a:srgbClr val="191919"/>
                </a:solidFill>
                <a:latin typeface="Cambria Math"/>
              </a:rPr>
              <a:t>eᵢ = yᵢ − (w₀ + </a:t>
            </a:r>
            <a:r>
              <a:rPr sz="2300" b="1" dirty="0" err="1">
                <a:solidFill>
                  <a:srgbClr val="191919"/>
                </a:solidFill>
                <a:latin typeface="Cambria Math"/>
              </a:rPr>
              <a:t>w₁x</a:t>
            </a:r>
            <a:r>
              <a:rPr sz="2300" b="1" dirty="0">
                <a:solidFill>
                  <a:srgbClr val="191919"/>
                </a:solidFill>
                <a:latin typeface="Cambria Math"/>
              </a:rPr>
              <a:t>ᵢ)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080760" y="1627631"/>
            <a:ext cx="5074920" cy="1920239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6227064" y="1773936"/>
            <a:ext cx="393192" cy="393192"/>
          </a:xfrm>
          <a:prstGeom prst="ellipse">
            <a:avLst/>
          </a:prstGeom>
          <a:solidFill>
            <a:srgbClr val="368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227064" y="1792224"/>
            <a:ext cx="393192" cy="2743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739128" y="1783080"/>
            <a:ext cx="4251959" cy="3200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800" b="1">
                <a:solidFill>
                  <a:srgbClr val="368039"/>
                </a:solidFill>
                <a:latin typeface="Arial"/>
              </a:rPr>
              <a:t>Juntamos todos os erros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722801" y="2119353"/>
            <a:ext cx="4158559" cy="64171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50" b="0" dirty="0" err="1">
                <a:solidFill>
                  <a:srgbClr val="191919"/>
                </a:solidFill>
                <a:latin typeface="Arial"/>
              </a:rPr>
              <a:t>Não</a:t>
            </a:r>
            <a:r>
              <a:rPr sz="1350" b="0" dirty="0">
                <a:solidFill>
                  <a:srgbClr val="191919"/>
                </a:solidFill>
                <a:latin typeface="Arial"/>
              </a:rPr>
              <a:t> </a:t>
            </a:r>
            <a:r>
              <a:rPr sz="1350" b="0" dirty="0" err="1">
                <a:solidFill>
                  <a:srgbClr val="191919"/>
                </a:solidFill>
                <a:latin typeface="Arial"/>
              </a:rPr>
              <a:t>queremos</a:t>
            </a:r>
            <a:r>
              <a:rPr sz="1350" b="0" dirty="0">
                <a:solidFill>
                  <a:srgbClr val="191919"/>
                </a:solidFill>
                <a:latin typeface="Arial"/>
              </a:rPr>
              <a:t> </a:t>
            </a:r>
            <a:r>
              <a:rPr sz="1350" b="0" dirty="0" err="1">
                <a:solidFill>
                  <a:srgbClr val="191919"/>
                </a:solidFill>
                <a:latin typeface="Arial"/>
              </a:rPr>
              <a:t>uma</a:t>
            </a:r>
            <a:r>
              <a:rPr sz="1350" b="0" dirty="0">
                <a:solidFill>
                  <a:srgbClr val="191919"/>
                </a:solidFill>
                <a:latin typeface="Arial"/>
              </a:rPr>
              <a:t> </a:t>
            </a:r>
            <a:r>
              <a:rPr sz="1350" b="0" dirty="0" err="1">
                <a:solidFill>
                  <a:srgbClr val="191919"/>
                </a:solidFill>
                <a:latin typeface="Arial"/>
              </a:rPr>
              <a:t>reta</a:t>
            </a:r>
            <a:r>
              <a:rPr sz="1350" b="0" dirty="0">
                <a:solidFill>
                  <a:srgbClr val="191919"/>
                </a:solidFill>
                <a:latin typeface="Arial"/>
              </a:rPr>
              <a:t> boa para </a:t>
            </a:r>
            <a:r>
              <a:rPr sz="1350" b="0" dirty="0" err="1">
                <a:solidFill>
                  <a:srgbClr val="191919"/>
                </a:solidFill>
                <a:latin typeface="Arial"/>
              </a:rPr>
              <a:t>apenas</a:t>
            </a:r>
            <a:r>
              <a:rPr sz="1350" b="0" dirty="0">
                <a:solidFill>
                  <a:srgbClr val="191919"/>
                </a:solidFill>
                <a:latin typeface="Arial"/>
              </a:rPr>
              <a:t> um </a:t>
            </a:r>
            <a:r>
              <a:rPr sz="1350" b="0" dirty="0" err="1">
                <a:solidFill>
                  <a:srgbClr val="191919"/>
                </a:solidFill>
                <a:latin typeface="Arial"/>
              </a:rPr>
              <a:t>ponto</a:t>
            </a:r>
            <a:r>
              <a:rPr sz="1350" b="0" dirty="0">
                <a:solidFill>
                  <a:srgbClr val="191919"/>
                </a:solidFill>
                <a:latin typeface="Arial"/>
              </a:rPr>
              <a:t>.
</a:t>
            </a:r>
            <a:r>
              <a:rPr sz="1350" b="0" dirty="0" err="1">
                <a:solidFill>
                  <a:srgbClr val="191919"/>
                </a:solidFill>
                <a:latin typeface="Arial"/>
              </a:rPr>
              <a:t>Queremos</a:t>
            </a:r>
            <a:r>
              <a:rPr sz="1350" b="0" dirty="0">
                <a:solidFill>
                  <a:srgbClr val="191919"/>
                </a:solidFill>
                <a:latin typeface="Arial"/>
              </a:rPr>
              <a:t> </a:t>
            </a:r>
            <a:r>
              <a:rPr sz="1350" b="0" dirty="0" err="1">
                <a:solidFill>
                  <a:srgbClr val="191919"/>
                </a:solidFill>
                <a:latin typeface="Arial"/>
              </a:rPr>
              <a:t>uma</a:t>
            </a:r>
            <a:r>
              <a:rPr sz="1350" b="0" dirty="0">
                <a:solidFill>
                  <a:srgbClr val="191919"/>
                </a:solidFill>
                <a:latin typeface="Arial"/>
              </a:rPr>
              <a:t> </a:t>
            </a:r>
            <a:r>
              <a:rPr sz="1350" b="0" dirty="0" err="1">
                <a:solidFill>
                  <a:srgbClr val="191919"/>
                </a:solidFill>
                <a:latin typeface="Arial"/>
              </a:rPr>
              <a:t>reta</a:t>
            </a:r>
            <a:r>
              <a:rPr sz="1350" b="0" dirty="0">
                <a:solidFill>
                  <a:srgbClr val="191919"/>
                </a:solidFill>
                <a:latin typeface="Arial"/>
              </a:rPr>
              <a:t> boa para </a:t>
            </a:r>
            <a:r>
              <a:rPr sz="1350" b="0" dirty="0" err="1">
                <a:solidFill>
                  <a:srgbClr val="191919"/>
                </a:solidFill>
                <a:latin typeface="Arial"/>
              </a:rPr>
              <a:t>todos</a:t>
            </a:r>
            <a:r>
              <a:rPr sz="1350" b="0" dirty="0">
                <a:solidFill>
                  <a:srgbClr val="191919"/>
                </a:solidFill>
                <a:latin typeface="Arial"/>
              </a:rPr>
              <a:t> </a:t>
            </a:r>
            <a:r>
              <a:rPr sz="1350" b="0" dirty="0" err="1">
                <a:solidFill>
                  <a:srgbClr val="191919"/>
                </a:solidFill>
                <a:latin typeface="Arial"/>
              </a:rPr>
              <a:t>os</a:t>
            </a:r>
            <a:r>
              <a:rPr sz="1350" b="0" dirty="0">
                <a:solidFill>
                  <a:srgbClr val="191919"/>
                </a:solidFill>
                <a:latin typeface="Arial"/>
              </a:rPr>
              <a:t> </a:t>
            </a:r>
            <a:r>
              <a:rPr sz="1350" b="0" dirty="0" err="1">
                <a:solidFill>
                  <a:srgbClr val="191919"/>
                </a:solidFill>
                <a:latin typeface="Arial"/>
              </a:rPr>
              <a:t>pontos</a:t>
            </a:r>
            <a:r>
              <a:rPr sz="1350" b="0" dirty="0">
                <a:solidFill>
                  <a:srgbClr val="191919"/>
                </a:solidFill>
                <a:latin typeface="Arial"/>
              </a:rPr>
              <a:t> </a:t>
            </a:r>
            <a:r>
              <a:rPr sz="1350" b="0" dirty="0" err="1">
                <a:solidFill>
                  <a:srgbClr val="191919"/>
                </a:solidFill>
                <a:latin typeface="Arial"/>
              </a:rPr>
              <a:t>ao</a:t>
            </a:r>
            <a:r>
              <a:rPr sz="1350" b="0" dirty="0">
                <a:solidFill>
                  <a:srgbClr val="191919"/>
                </a:solidFill>
                <a:latin typeface="Arial"/>
              </a:rPr>
              <a:t> </a:t>
            </a:r>
            <a:r>
              <a:rPr sz="1350" b="0" dirty="0" err="1">
                <a:solidFill>
                  <a:srgbClr val="191919"/>
                </a:solidFill>
                <a:latin typeface="Arial"/>
              </a:rPr>
              <a:t>mesmo</a:t>
            </a:r>
            <a:r>
              <a:rPr sz="1350" b="0" dirty="0">
                <a:solidFill>
                  <a:srgbClr val="191919"/>
                </a:solidFill>
                <a:latin typeface="Arial"/>
              </a:rPr>
              <a:t> tempo.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199633" y="3074888"/>
            <a:ext cx="4526280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850" b="1" dirty="0">
                <a:solidFill>
                  <a:srgbClr val="191919"/>
                </a:solidFill>
                <a:latin typeface="Cambria Math"/>
              </a:rPr>
              <a:t>E(</a:t>
            </a:r>
            <a:r>
              <a:rPr sz="1850" b="1" dirty="0" err="1">
                <a:solidFill>
                  <a:srgbClr val="191919"/>
                </a:solidFill>
                <a:latin typeface="Cambria Math"/>
              </a:rPr>
              <a:t>w₀,w</a:t>
            </a:r>
            <a:r>
              <a:rPr sz="1850" b="1" dirty="0">
                <a:solidFill>
                  <a:srgbClr val="191919"/>
                </a:solidFill>
                <a:latin typeface="Cambria Math"/>
              </a:rPr>
              <a:t>₁) = Σᵢ₌₁ᵐ [yᵢ − (w₀ + </a:t>
            </a:r>
            <a:r>
              <a:rPr sz="1850" b="1" dirty="0" err="1">
                <a:solidFill>
                  <a:srgbClr val="191919"/>
                </a:solidFill>
                <a:latin typeface="Cambria Math"/>
              </a:rPr>
              <a:t>w₁x</a:t>
            </a:r>
            <a:r>
              <a:rPr sz="1850" b="1" dirty="0">
                <a:solidFill>
                  <a:srgbClr val="191919"/>
                </a:solidFill>
                <a:latin typeface="Cambria Math"/>
              </a:rPr>
              <a:t>ᵢ)]²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809893" y="3791276"/>
            <a:ext cx="10378440" cy="1207008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1056781" y="3928436"/>
            <a:ext cx="256032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00" b="1">
                <a:solidFill>
                  <a:srgbClr val="004059"/>
                </a:solidFill>
                <a:latin typeface="Arial"/>
              </a:rPr>
              <a:t>Ponto fundamental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873133" y="3901004"/>
            <a:ext cx="4389120" cy="3200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100" b="0">
                <a:solidFill>
                  <a:srgbClr val="191919"/>
                </a:solidFill>
                <a:latin typeface="Cambria Math"/>
              </a:rPr>
              <a:t>E depende apenas de w₀ e w₁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56781" y="4303340"/>
            <a:ext cx="9692640" cy="25603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50" b="0">
                <a:solidFill>
                  <a:srgbClr val="191919"/>
                </a:solidFill>
                <a:latin typeface="Arial"/>
              </a:rPr>
              <a:t>Os valores xᵢ e yᵢ já são dados conhecidos. Os únicos valores que o modelo precisa encontrar são w₀ e w₁.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56781" y="4650812"/>
            <a:ext cx="969264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400" b="1">
                <a:solidFill>
                  <a:srgbClr val="BE3934"/>
                </a:solidFill>
                <a:latin typeface="Arial"/>
              </a:rPr>
              <a:t>Pergunta do problema: quais valores de w₀ e w₁ fazem esse erro conjunto ficar o menor possível?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1175653" y="5272604"/>
            <a:ext cx="96469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1358533" y="5391476"/>
            <a:ext cx="9281160" cy="3200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100" b="0">
                <a:solidFill>
                  <a:srgbClr val="191919"/>
                </a:solidFill>
                <a:latin typeface="Arial"/>
              </a:rPr>
              <a:t>erros individuais  →  E(w₀,w₁)  →  derivadas  →  sistema  →  w₀, w₁</a:t>
            </a:r>
          </a:p>
        </p:txBody>
      </p:sp>
    </p:spTree>
    <p:extLst>
      <p:ext uri="{BB962C8B-B14F-4D97-AF65-F5344CB8AC3E}">
        <p14:creationId xmlns:p14="http://schemas.microsoft.com/office/powerpoint/2010/main" val="603753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779C7-D291-08FD-15AA-2237A6F55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2293E375-A01E-23A5-C266-9167A94EA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A7A8CB30-0E6C-1FB9-F672-B8F1ABE293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8EBD19EB-00E1-BB2B-81A6-C3EB1C0DC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10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DCAA05B9-85FF-4D00-392A-B219C01240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24128" y="1051560"/>
            <a:ext cx="10332720" cy="31089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defRPr sz="2000" b="1">
                <a:solidFill>
                  <a:srgbClr val="00435E"/>
                </a:solidFill>
                <a:latin typeface="Aptos"/>
              </a:defRPr>
            </a:pPr>
            <a:r>
              <a:t>Das condições de mínimo aos coeficientes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1353312"/>
            <a:ext cx="10607040" cy="29260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defRPr sz="1320" b="0">
                <a:solidFill>
                  <a:srgbClr val="1E1E1E"/>
                </a:solidFill>
                <a:latin typeface="Aptos"/>
              </a:defRPr>
            </a:pPr>
            <a:r>
              <a:t>As derivadas iguais a zero viram um sistema de duas equações com duas incógnitas: w₀ e w₁.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1847088"/>
            <a:ext cx="420624" cy="347472"/>
          </a:xfrm>
          <a:prstGeom prst="roundRect">
            <a:avLst/>
          </a:prstGeom>
          <a:solidFill>
            <a:srgbClr val="004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1810512"/>
            <a:ext cx="470916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defRPr sz="1650" b="1">
                <a:solidFill>
                  <a:srgbClr val="00435E"/>
                </a:solidFill>
                <a:latin typeface="Aptos"/>
              </a:defRPr>
            </a:pPr>
            <a:r>
              <a:t>As equações normais aparecem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2267712"/>
            <a:ext cx="5029200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defRPr sz="1260" b="0">
                <a:solidFill>
                  <a:srgbClr val="1E1E1E"/>
                </a:solidFill>
                <a:latin typeface="Aptos"/>
              </a:defRPr>
            </a:pPr>
            <a:r>
              <a:t>Elas resumem a condição de erro mínimo para todos os pontos ao mesmo tempo.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30618" y="2935224"/>
            <a:ext cx="4800600" cy="987552"/>
          </a:xfrm>
          <a:prstGeom prst="roundRect">
            <a:avLst/>
          </a:prstGeom>
          <a:solidFill>
            <a:srgbClr val="FAFAFA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00435E"/>
                </a:solidFill>
                <a:latin typeface="Cambria Math"/>
              </a:defRPr>
            </a:pPr>
            <a:r>
              <a:t>m w₀ + w₁Sx = Sy</a:t>
            </a:r>
            <a:br/>
            <a:r>
              <a:t>w₀Sx + w₁Sx2 = Sxy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0618" y="4032504"/>
            <a:ext cx="4800600" cy="2560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defRPr sz="1220" b="0">
                <a:solidFill>
                  <a:srgbClr val="555555"/>
                </a:solidFill>
                <a:latin typeface="Aptos"/>
              </a:defRPr>
            </a:pPr>
            <a:r>
              <a:t>Sx=Σxᵢ    Sy=Σyᵢ    Sx2=Σxᵢ²    Sxy=Σxᵢyᵢ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1847088"/>
            <a:ext cx="420624" cy="347472"/>
          </a:xfrm>
          <a:prstGeom prst="roundRect">
            <a:avLst/>
          </a:prstGeom>
          <a:solidFill>
            <a:srgbClr val="39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1810512"/>
            <a:ext cx="425196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defRPr sz="1650" b="1">
                <a:solidFill>
                  <a:srgbClr val="3978B4"/>
                </a:solidFill>
                <a:latin typeface="Aptos"/>
              </a:defRPr>
            </a:pPr>
            <a:r>
              <a:t>Resolvemos o sistema para w₁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267712"/>
            <a:ext cx="4800600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defRPr sz="1260" b="0">
                <a:solidFill>
                  <a:srgbClr val="1E1E1E"/>
                </a:solidFill>
                <a:latin typeface="Aptos"/>
              </a:defRPr>
            </a:pPr>
            <a:r>
              <a:t>w₁ é a inclinação: quanto ŷ muda quando x aumenta uma unidade.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79858" y="2935224"/>
            <a:ext cx="4892040" cy="640080"/>
          </a:xfrm>
          <a:prstGeom prst="roundRect">
            <a:avLst/>
          </a:prstGeom>
          <a:solidFill>
            <a:srgbClr val="FAFAFA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50" b="1">
                <a:solidFill>
                  <a:srgbClr val="00435E"/>
                </a:solidFill>
                <a:latin typeface="Cambria Math"/>
              </a:defRPr>
            </a:pPr>
            <a:r>
              <a:t>w₁ = (mSxy − Sx·Sy) / (mSx2 − Sx²)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9858" y="3666744"/>
            <a:ext cx="4663440" cy="2560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defRPr sz="1380" b="1">
                <a:solidFill>
                  <a:srgbClr val="3978B4"/>
                </a:solidFill>
                <a:latin typeface="Aptos"/>
              </a:defRPr>
            </a:pPr>
            <a:r>
              <a:t>No exemplo: w₁ ≈ 1,538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79858" y="4178808"/>
            <a:ext cx="420624" cy="347472"/>
          </a:xfrm>
          <a:prstGeom prst="roundRect">
            <a:avLst/>
          </a:prstGeom>
          <a:solidFill>
            <a:srgbClr val="327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01066" y="4142232"/>
            <a:ext cx="425196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defRPr sz="1650" b="1">
                <a:solidFill>
                  <a:srgbClr val="327D36"/>
                </a:solidFill>
                <a:latin typeface="Aptos"/>
              </a:defRPr>
            </a:pPr>
            <a:r>
              <a:t>Depois encontramos w₀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9858" y="4599432"/>
            <a:ext cx="4846320" cy="3474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defRPr sz="1260" b="0">
                <a:solidFill>
                  <a:srgbClr val="1E1E1E"/>
                </a:solidFill>
                <a:latin typeface="Aptos"/>
              </a:defRPr>
            </a:pPr>
            <a:r>
              <a:t>w₀ posiciona a reta. Após calcular w₁, voltamos à primeira equação.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79858" y="5093208"/>
            <a:ext cx="4892040" cy="566928"/>
          </a:xfrm>
          <a:prstGeom prst="roundRect">
            <a:avLst/>
          </a:prstGeom>
          <a:solidFill>
            <a:srgbClr val="FAFAFA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00435E"/>
                </a:solidFill>
                <a:latin typeface="Cambria Math"/>
              </a:defRPr>
            </a:pPr>
            <a:r>
              <a:t>w₀ = (Sy − w₁Sx) / 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5559552"/>
            <a:ext cx="4663440" cy="2560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defRPr sz="1380" b="1">
                <a:solidFill>
                  <a:srgbClr val="327D36"/>
                </a:solidFill>
                <a:latin typeface="Aptos"/>
              </a:defRPr>
            </a:pPr>
            <a:r>
              <a:t>No exemplo: w₀ ≈ −0,360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3458" y="4974336"/>
            <a:ext cx="5394960" cy="530352"/>
          </a:xfrm>
          <a:prstGeom prst="roundRect">
            <a:avLst/>
          </a:prstGeom>
          <a:solidFill>
            <a:srgbClr val="F6F8FB"/>
          </a:solidFill>
          <a:ln>
            <a:solidFill>
              <a:srgbClr val="E2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t"/>
          <a:lstStyle/>
          <a:p>
            <a:pPr algn="ctr">
              <a:defRPr sz="1700" b="1">
                <a:solidFill>
                  <a:srgbClr val="00435E"/>
                </a:solidFill>
                <a:latin typeface="Aptos"/>
              </a:defRPr>
            </a:pPr>
            <a:r>
              <a:t>Resultado final:  ŷ = w₀ + w₁x  →  ŷ = −0,360 + 1,538x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5440680"/>
            <a:ext cx="5394960" cy="38404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defRPr sz="1280" b="0">
                <a:solidFill>
                  <a:srgbClr val="1E1E1E"/>
                </a:solidFill>
                <a:latin typeface="Aptos"/>
              </a:defRPr>
            </a:pPr>
            <a:r>
              <a:t>Ideia-chave: vários pontos produzem vários erros, mas todos são controlados pela mesma reta.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960120"/>
            <a:ext cx="1074420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7240" y="1033271"/>
            <a:ext cx="6858000" cy="30175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900" b="1">
                <a:solidFill>
                  <a:srgbClr val="00405A"/>
                </a:solidFill>
                <a:latin typeface="Aptos"/>
              </a:rPr>
              <a:t>Da função de erro aos coeficientes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1344168"/>
            <a:ext cx="10149840" cy="30175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350" b="0">
                <a:solidFill>
                  <a:srgbClr val="555555"/>
                </a:solidFill>
                <a:latin typeface="Aptos"/>
              </a:rPr>
              <a:t>A reta possui duas incógnitas. Por isso precisamos de duas condições para encontrá-las.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1783080"/>
            <a:ext cx="10378440" cy="117043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914400" y="1911095"/>
            <a:ext cx="384048" cy="384048"/>
          </a:xfrm>
          <a:prstGeom prst="ellipse">
            <a:avLst/>
          </a:prstGeom>
          <a:solidFill>
            <a:srgbClr val="3D7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14400" y="1943100"/>
            <a:ext cx="384048" cy="256032"/>
          </a:xfrm>
          <a:prstGeom prst="rect">
            <a:avLst/>
          </a:prstGeom>
          <a:noFill/>
        </p:spPr>
        <p:txBody>
          <a:bodyPr wrap="square" lIns="0" tIns="27432" rIns="0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89888" y="1874519"/>
            <a:ext cx="9418320" cy="25603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580" b="1">
                <a:solidFill>
                  <a:srgbClr val="3D7DB8"/>
                </a:solidFill>
                <a:latin typeface="Aptos"/>
              </a:rPr>
              <a:t>Verificamos separadamente o efeito de cada coeficiente sobre o erro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17720" y="2270718"/>
            <a:ext cx="6537960" cy="477054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400" b="0" dirty="0">
                <a:solidFill>
                  <a:srgbClr val="191919"/>
                </a:solidFill>
                <a:latin typeface="Aptos"/>
              </a:rPr>
              <a:t>∂E/∂w₀ </a:t>
            </a:r>
            <a:r>
              <a:rPr sz="1400" b="0" dirty="0" err="1">
                <a:solidFill>
                  <a:srgbClr val="191919"/>
                </a:solidFill>
                <a:latin typeface="Aptos"/>
              </a:rPr>
              <a:t>pergunta</a:t>
            </a:r>
            <a:r>
              <a:rPr sz="1400" b="0" dirty="0">
                <a:solidFill>
                  <a:srgbClr val="191919"/>
                </a:solidFill>
                <a:latin typeface="Aptos"/>
              </a:rPr>
              <a:t>: “se </a:t>
            </a:r>
            <a:r>
              <a:rPr sz="1400" b="0" dirty="0" err="1">
                <a:solidFill>
                  <a:srgbClr val="191919"/>
                </a:solidFill>
                <a:latin typeface="Aptos"/>
              </a:rPr>
              <a:t>eu</a:t>
            </a:r>
            <a:r>
              <a:rPr sz="1400" b="0" dirty="0">
                <a:solidFill>
                  <a:srgbClr val="191919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191919"/>
                </a:solidFill>
                <a:latin typeface="Aptos"/>
              </a:rPr>
              <a:t>alterar</a:t>
            </a:r>
            <a:r>
              <a:rPr sz="1400" b="0" dirty="0">
                <a:solidFill>
                  <a:srgbClr val="191919"/>
                </a:solidFill>
                <a:latin typeface="Aptos"/>
              </a:rPr>
              <a:t> o </a:t>
            </a:r>
            <a:r>
              <a:rPr sz="1400" b="0" dirty="0" err="1">
                <a:solidFill>
                  <a:srgbClr val="191919"/>
                </a:solidFill>
                <a:latin typeface="Aptos"/>
              </a:rPr>
              <a:t>intercepto</a:t>
            </a:r>
            <a:r>
              <a:rPr sz="1400" b="0" dirty="0">
                <a:solidFill>
                  <a:srgbClr val="191919"/>
                </a:solidFill>
                <a:latin typeface="Aptos"/>
              </a:rPr>
              <a:t>, </a:t>
            </a:r>
            <a:r>
              <a:rPr sz="1400" b="0" dirty="0" err="1">
                <a:solidFill>
                  <a:srgbClr val="191919"/>
                </a:solidFill>
                <a:latin typeface="Aptos"/>
              </a:rPr>
              <a:t>como</a:t>
            </a:r>
            <a:r>
              <a:rPr sz="1400" b="0" dirty="0">
                <a:solidFill>
                  <a:srgbClr val="191919"/>
                </a:solidFill>
                <a:latin typeface="Aptos"/>
              </a:rPr>
              <a:t> o </a:t>
            </a:r>
            <a:r>
              <a:rPr sz="1400" b="0" dirty="0" err="1">
                <a:solidFill>
                  <a:srgbClr val="191919"/>
                </a:solidFill>
                <a:latin typeface="Aptos"/>
              </a:rPr>
              <a:t>erro</a:t>
            </a:r>
            <a:r>
              <a:rPr sz="1400" b="0" dirty="0">
                <a:solidFill>
                  <a:srgbClr val="191919"/>
                </a:solidFill>
                <a:latin typeface="Aptos"/>
              </a:rPr>
              <a:t> total </a:t>
            </a:r>
            <a:r>
              <a:rPr sz="1400" b="0" dirty="0" err="1">
                <a:solidFill>
                  <a:srgbClr val="191919"/>
                </a:solidFill>
                <a:latin typeface="Aptos"/>
              </a:rPr>
              <a:t>muda</a:t>
            </a:r>
            <a:r>
              <a:rPr sz="1400" b="0" dirty="0">
                <a:solidFill>
                  <a:srgbClr val="191919"/>
                </a:solidFill>
                <a:latin typeface="Aptos"/>
              </a:rPr>
              <a:t>?”
∂E/∂w₁ </a:t>
            </a:r>
            <a:r>
              <a:rPr sz="1400" b="0" dirty="0" err="1">
                <a:solidFill>
                  <a:srgbClr val="191919"/>
                </a:solidFill>
                <a:latin typeface="Aptos"/>
              </a:rPr>
              <a:t>pergunta</a:t>
            </a:r>
            <a:r>
              <a:rPr sz="1400" b="0" dirty="0">
                <a:solidFill>
                  <a:srgbClr val="191919"/>
                </a:solidFill>
                <a:latin typeface="Aptos"/>
              </a:rPr>
              <a:t>: “se </a:t>
            </a:r>
            <a:r>
              <a:rPr sz="1400" b="0" dirty="0" err="1">
                <a:solidFill>
                  <a:srgbClr val="191919"/>
                </a:solidFill>
                <a:latin typeface="Aptos"/>
              </a:rPr>
              <a:t>eu</a:t>
            </a:r>
            <a:r>
              <a:rPr sz="1400" b="0" dirty="0">
                <a:solidFill>
                  <a:srgbClr val="191919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191919"/>
                </a:solidFill>
                <a:latin typeface="Aptos"/>
              </a:rPr>
              <a:t>alterar</a:t>
            </a:r>
            <a:r>
              <a:rPr sz="1400" b="0" dirty="0">
                <a:solidFill>
                  <a:srgbClr val="191919"/>
                </a:solidFill>
                <a:latin typeface="Aptos"/>
              </a:rPr>
              <a:t> a </a:t>
            </a:r>
            <a:r>
              <a:rPr sz="1400" b="0" dirty="0" err="1">
                <a:solidFill>
                  <a:srgbClr val="191919"/>
                </a:solidFill>
                <a:latin typeface="Aptos"/>
              </a:rPr>
              <a:t>inclinação</a:t>
            </a:r>
            <a:r>
              <a:rPr sz="1400" b="0" dirty="0">
                <a:solidFill>
                  <a:srgbClr val="191919"/>
                </a:solidFill>
                <a:latin typeface="Aptos"/>
              </a:rPr>
              <a:t>, </a:t>
            </a:r>
            <a:r>
              <a:rPr sz="1400" b="0" dirty="0" err="1">
                <a:solidFill>
                  <a:srgbClr val="191919"/>
                </a:solidFill>
                <a:latin typeface="Aptos"/>
              </a:rPr>
              <a:t>como</a:t>
            </a:r>
            <a:r>
              <a:rPr sz="1400" b="0" dirty="0">
                <a:solidFill>
                  <a:srgbClr val="191919"/>
                </a:solidFill>
                <a:latin typeface="Aptos"/>
              </a:rPr>
              <a:t> o </a:t>
            </a:r>
            <a:r>
              <a:rPr sz="1400" b="0" dirty="0" err="1">
                <a:solidFill>
                  <a:srgbClr val="191919"/>
                </a:solidFill>
                <a:latin typeface="Aptos"/>
              </a:rPr>
              <a:t>erro</a:t>
            </a:r>
            <a:r>
              <a:rPr sz="1400" b="0" dirty="0">
                <a:solidFill>
                  <a:srgbClr val="191919"/>
                </a:solidFill>
                <a:latin typeface="Aptos"/>
              </a:rPr>
              <a:t> total </a:t>
            </a:r>
            <a:r>
              <a:rPr sz="1400" b="0" dirty="0" err="1">
                <a:solidFill>
                  <a:srgbClr val="191919"/>
                </a:solidFill>
                <a:latin typeface="Aptos"/>
              </a:rPr>
              <a:t>muda</a:t>
            </a:r>
            <a:r>
              <a:rPr sz="1400" b="0" dirty="0">
                <a:solidFill>
                  <a:srgbClr val="191919"/>
                </a:solidFill>
                <a:latin typeface="Aptos"/>
              </a:rPr>
              <a:t>?”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0578" y="3300984"/>
            <a:ext cx="10378440" cy="14173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947738" y="3429000"/>
            <a:ext cx="384048" cy="384048"/>
          </a:xfrm>
          <a:prstGeom prst="ellipse">
            <a:avLst/>
          </a:prstGeom>
          <a:solidFill>
            <a:srgbClr val="327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47738" y="3461004"/>
            <a:ext cx="384048" cy="256032"/>
          </a:xfrm>
          <a:prstGeom prst="rect">
            <a:avLst/>
          </a:prstGeom>
          <a:noFill/>
        </p:spPr>
        <p:txBody>
          <a:bodyPr wrap="square" lIns="0" tIns="27432" rIns="0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23226" y="3392424"/>
            <a:ext cx="9418320" cy="25603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580" b="1">
                <a:solidFill>
                  <a:srgbClr val="327D3A"/>
                </a:solidFill>
                <a:latin typeface="Aptos"/>
              </a:rPr>
              <a:t>No melhor ponto, nenhuma pequena alteração melhora o erro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05338" y="3685032"/>
            <a:ext cx="2395728" cy="815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250" b="0" dirty="0" err="1">
                <a:solidFill>
                  <a:srgbClr val="191919"/>
                </a:solidFill>
                <a:latin typeface="Aptos"/>
              </a:rPr>
              <a:t>Igualar</a:t>
            </a:r>
            <a:r>
              <a:rPr sz="1250" b="0" dirty="0">
                <a:solidFill>
                  <a:srgbClr val="191919"/>
                </a:solidFill>
                <a:latin typeface="Aptos"/>
              </a:rPr>
              <a:t> as </a:t>
            </a:r>
            <a:r>
              <a:rPr sz="1250" b="0" dirty="0" err="1">
                <a:solidFill>
                  <a:srgbClr val="191919"/>
                </a:solidFill>
                <a:latin typeface="Aptos"/>
              </a:rPr>
              <a:t>derivadas</a:t>
            </a:r>
            <a:r>
              <a:rPr sz="1250" b="0" dirty="0">
                <a:solidFill>
                  <a:srgbClr val="191919"/>
                </a:solidFill>
                <a:latin typeface="Aptos"/>
              </a:rPr>
              <a:t> a zero </a:t>
            </a:r>
            <a:r>
              <a:rPr sz="1250" b="0" dirty="0" err="1">
                <a:solidFill>
                  <a:srgbClr val="191919"/>
                </a:solidFill>
                <a:latin typeface="Aptos"/>
              </a:rPr>
              <a:t>gera</a:t>
            </a:r>
            <a:r>
              <a:rPr sz="1250" b="0" dirty="0">
                <a:solidFill>
                  <a:srgbClr val="191919"/>
                </a:solidFill>
                <a:latin typeface="Aptos"/>
              </a:rPr>
              <a:t> duas </a:t>
            </a:r>
            <a:r>
              <a:rPr sz="1250" b="0" dirty="0" err="1">
                <a:solidFill>
                  <a:srgbClr val="191919"/>
                </a:solidFill>
                <a:latin typeface="Aptos"/>
              </a:rPr>
              <a:t>condições</a:t>
            </a:r>
            <a:r>
              <a:rPr sz="1250" b="0" dirty="0">
                <a:solidFill>
                  <a:srgbClr val="191919"/>
                </a:solidFill>
                <a:latin typeface="Aptos"/>
              </a:rPr>
              <a:t>. </a:t>
            </a:r>
            <a:r>
              <a:rPr sz="1250" b="0" dirty="0" err="1">
                <a:solidFill>
                  <a:srgbClr val="191919"/>
                </a:solidFill>
                <a:latin typeface="Aptos"/>
              </a:rPr>
              <a:t>Reorganizando</a:t>
            </a:r>
            <a:r>
              <a:rPr sz="1250" b="0" dirty="0">
                <a:solidFill>
                  <a:srgbClr val="191919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191919"/>
                </a:solidFill>
                <a:latin typeface="Aptos"/>
              </a:rPr>
              <a:t>essas</a:t>
            </a:r>
            <a:r>
              <a:rPr sz="1250" b="0" dirty="0">
                <a:solidFill>
                  <a:srgbClr val="191919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191919"/>
                </a:solidFill>
                <a:latin typeface="Aptos"/>
              </a:rPr>
              <a:t>condições</a:t>
            </a:r>
            <a:r>
              <a:rPr sz="1250" b="0" dirty="0">
                <a:solidFill>
                  <a:srgbClr val="191919"/>
                </a:solidFill>
                <a:latin typeface="Aptos"/>
              </a:rPr>
              <a:t>, </a:t>
            </a:r>
            <a:r>
              <a:rPr sz="1250" b="0" dirty="0" err="1">
                <a:solidFill>
                  <a:srgbClr val="191919"/>
                </a:solidFill>
                <a:latin typeface="Aptos"/>
              </a:rPr>
              <a:t>obtemos</a:t>
            </a:r>
            <a:r>
              <a:rPr sz="1250" b="0" dirty="0">
                <a:solidFill>
                  <a:srgbClr val="191919"/>
                </a:solidFill>
                <a:latin typeface="Aptos"/>
              </a:rPr>
              <a:t> as </a:t>
            </a:r>
            <a:r>
              <a:rPr sz="1250" b="0" dirty="0" err="1">
                <a:solidFill>
                  <a:srgbClr val="191919"/>
                </a:solidFill>
                <a:latin typeface="Aptos"/>
              </a:rPr>
              <a:t>equações</a:t>
            </a:r>
            <a:r>
              <a:rPr sz="1250" b="0" dirty="0">
                <a:solidFill>
                  <a:srgbClr val="191919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191919"/>
                </a:solidFill>
                <a:latin typeface="Aptos"/>
              </a:rPr>
              <a:t>normais</a:t>
            </a:r>
            <a:r>
              <a:rPr sz="1250" b="0" dirty="0">
                <a:solidFill>
                  <a:srgbClr val="191919"/>
                </a:solidFill>
                <a:latin typeface="Aptos"/>
              </a:rPr>
              <a:t>:</a:t>
            </a:r>
          </a:p>
        </p:txBody>
      </p:sp>
      <p:pic>
        <p:nvPicPr>
          <p:cNvPr id="51" name="Picture 50" descr="normal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3674" y="3523461"/>
            <a:ext cx="3429000" cy="438994"/>
          </a:xfrm>
          <a:prstGeom prst="rect">
            <a:avLst/>
          </a:prstGeom>
        </p:spPr>
      </p:pic>
      <p:pic>
        <p:nvPicPr>
          <p:cNvPr id="52" name="Picture 51" descr="normal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0230" y="4055853"/>
            <a:ext cx="4069080" cy="470350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777240" y="4645151"/>
            <a:ext cx="10378440" cy="1893003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947738" y="4946904"/>
            <a:ext cx="384048" cy="384048"/>
          </a:xfrm>
          <a:prstGeom prst="ellipse">
            <a:avLst/>
          </a:prstGeom>
          <a:solidFill>
            <a:srgbClr val="BC3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47738" y="4978908"/>
            <a:ext cx="384048" cy="256032"/>
          </a:xfrm>
          <a:prstGeom prst="rect">
            <a:avLst/>
          </a:prstGeom>
          <a:noFill/>
        </p:spPr>
        <p:txBody>
          <a:bodyPr wrap="square" lIns="0" tIns="27432" rIns="0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23226" y="4901184"/>
            <a:ext cx="9418320" cy="25603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580" b="1">
                <a:solidFill>
                  <a:srgbClr val="BC3C37"/>
                </a:solidFill>
                <a:latin typeface="Aptos"/>
              </a:rPr>
              <a:t>A partir daqui, resolvemos um sistema de 2 equações com 2 incógnitas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68945" y="5266944"/>
            <a:ext cx="4449209" cy="604781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210" b="0" dirty="0">
                <a:solidFill>
                  <a:srgbClr val="191919"/>
                </a:solidFill>
                <a:latin typeface="Aptos"/>
              </a:rPr>
              <a:t>As </a:t>
            </a:r>
            <a:r>
              <a:rPr sz="1210" b="0" dirty="0" err="1">
                <a:solidFill>
                  <a:srgbClr val="191919"/>
                </a:solidFill>
                <a:latin typeface="Aptos"/>
              </a:rPr>
              <a:t>fórmulas</a:t>
            </a:r>
            <a:r>
              <a:rPr sz="1210" b="0" dirty="0">
                <a:solidFill>
                  <a:srgbClr val="191919"/>
                </a:solidFill>
                <a:latin typeface="Aptos"/>
              </a:rPr>
              <a:t> </a:t>
            </a:r>
            <a:r>
              <a:rPr sz="1210" b="0" dirty="0" err="1">
                <a:solidFill>
                  <a:srgbClr val="191919"/>
                </a:solidFill>
                <a:latin typeface="Aptos"/>
              </a:rPr>
              <a:t>finais</a:t>
            </a:r>
            <a:r>
              <a:rPr sz="1210" b="0" dirty="0">
                <a:solidFill>
                  <a:srgbClr val="191919"/>
                </a:solidFill>
                <a:latin typeface="Aptos"/>
              </a:rPr>
              <a:t> de w₀ e w₁ </a:t>
            </a:r>
            <a:r>
              <a:rPr sz="1210" b="0" dirty="0" err="1">
                <a:solidFill>
                  <a:srgbClr val="191919"/>
                </a:solidFill>
                <a:latin typeface="Aptos"/>
              </a:rPr>
              <a:t>não</a:t>
            </a:r>
            <a:r>
              <a:rPr sz="1210" b="0" dirty="0">
                <a:solidFill>
                  <a:srgbClr val="191919"/>
                </a:solidFill>
                <a:latin typeface="Aptos"/>
              </a:rPr>
              <a:t> </a:t>
            </a:r>
            <a:r>
              <a:rPr sz="1210" b="0" dirty="0" err="1">
                <a:solidFill>
                  <a:srgbClr val="191919"/>
                </a:solidFill>
                <a:latin typeface="Aptos"/>
              </a:rPr>
              <a:t>aparecem</a:t>
            </a:r>
            <a:r>
              <a:rPr sz="1210" b="0" dirty="0">
                <a:solidFill>
                  <a:srgbClr val="191919"/>
                </a:solidFill>
                <a:latin typeface="Aptos"/>
              </a:rPr>
              <a:t> </a:t>
            </a:r>
            <a:r>
              <a:rPr sz="1210" b="0" dirty="0" err="1">
                <a:solidFill>
                  <a:srgbClr val="191919"/>
                </a:solidFill>
                <a:latin typeface="Aptos"/>
              </a:rPr>
              <a:t>por</a:t>
            </a:r>
            <a:r>
              <a:rPr sz="1210" b="0" dirty="0">
                <a:solidFill>
                  <a:srgbClr val="191919"/>
                </a:solidFill>
                <a:latin typeface="Aptos"/>
              </a:rPr>
              <a:t> </a:t>
            </a:r>
            <a:r>
              <a:rPr sz="1210" b="0" dirty="0" err="1">
                <a:solidFill>
                  <a:srgbClr val="191919"/>
                </a:solidFill>
                <a:latin typeface="Aptos"/>
              </a:rPr>
              <a:t>uma</a:t>
            </a:r>
            <a:r>
              <a:rPr sz="1210" b="0" dirty="0">
                <a:solidFill>
                  <a:srgbClr val="191919"/>
                </a:solidFill>
                <a:latin typeface="Aptos"/>
              </a:rPr>
              <a:t> nova </a:t>
            </a:r>
            <a:r>
              <a:rPr sz="1210" b="0" dirty="0" err="1">
                <a:solidFill>
                  <a:srgbClr val="191919"/>
                </a:solidFill>
                <a:latin typeface="Aptos"/>
              </a:rPr>
              <a:t>derivação</a:t>
            </a:r>
            <a:r>
              <a:rPr sz="1210" b="0" dirty="0">
                <a:solidFill>
                  <a:srgbClr val="191919"/>
                </a:solidFill>
                <a:latin typeface="Aptos"/>
              </a:rPr>
              <a:t>. Elas </a:t>
            </a:r>
            <a:r>
              <a:rPr sz="1210" b="0" dirty="0" err="1">
                <a:solidFill>
                  <a:srgbClr val="191919"/>
                </a:solidFill>
                <a:latin typeface="Aptos"/>
              </a:rPr>
              <a:t>surgem</a:t>
            </a:r>
            <a:r>
              <a:rPr sz="1210" b="0" dirty="0">
                <a:solidFill>
                  <a:srgbClr val="191919"/>
                </a:solidFill>
                <a:latin typeface="Aptos"/>
              </a:rPr>
              <a:t> da </a:t>
            </a:r>
            <a:r>
              <a:rPr sz="1210" b="0" dirty="0" err="1">
                <a:solidFill>
                  <a:srgbClr val="191919"/>
                </a:solidFill>
                <a:latin typeface="Aptos"/>
              </a:rPr>
              <a:t>resolução</a:t>
            </a:r>
            <a:r>
              <a:rPr sz="1210" b="0" dirty="0">
                <a:solidFill>
                  <a:srgbClr val="191919"/>
                </a:solidFill>
                <a:latin typeface="Aptos"/>
              </a:rPr>
              <a:t> </a:t>
            </a:r>
            <a:r>
              <a:rPr sz="1210" b="0" dirty="0" err="1">
                <a:solidFill>
                  <a:srgbClr val="191919"/>
                </a:solidFill>
                <a:latin typeface="Aptos"/>
              </a:rPr>
              <a:t>algébrica</a:t>
            </a:r>
            <a:r>
              <a:rPr sz="1210" b="0" dirty="0">
                <a:solidFill>
                  <a:srgbClr val="191919"/>
                </a:solidFill>
                <a:latin typeface="Aptos"/>
              </a:rPr>
              <a:t> das </a:t>
            </a:r>
            <a:r>
              <a:rPr sz="1210" b="0" dirty="0" err="1">
                <a:solidFill>
                  <a:srgbClr val="191919"/>
                </a:solidFill>
                <a:latin typeface="Aptos"/>
              </a:rPr>
              <a:t>equações</a:t>
            </a:r>
            <a:r>
              <a:rPr sz="1210" b="0" dirty="0">
                <a:solidFill>
                  <a:srgbClr val="191919"/>
                </a:solidFill>
                <a:latin typeface="Aptos"/>
              </a:rPr>
              <a:t> </a:t>
            </a:r>
            <a:r>
              <a:rPr sz="1210" b="0" dirty="0" err="1">
                <a:solidFill>
                  <a:srgbClr val="191919"/>
                </a:solidFill>
                <a:latin typeface="Aptos"/>
              </a:rPr>
              <a:t>normais</a:t>
            </a:r>
            <a:r>
              <a:rPr sz="1210" b="0" dirty="0">
                <a:solidFill>
                  <a:srgbClr val="191919"/>
                </a:solidFill>
                <a:latin typeface="Aptos"/>
              </a:rPr>
              <a:t>.</a:t>
            </a:r>
          </a:p>
        </p:txBody>
      </p:sp>
      <p:pic>
        <p:nvPicPr>
          <p:cNvPr id="58" name="Picture 57" descr="w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6771" y="5250614"/>
            <a:ext cx="4343400" cy="583257"/>
          </a:xfrm>
          <a:prstGeom prst="rect">
            <a:avLst/>
          </a:prstGeom>
        </p:spPr>
      </p:pic>
      <p:pic>
        <p:nvPicPr>
          <p:cNvPr id="59" name="Picture 58" descr="w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0157" y="5858541"/>
            <a:ext cx="4617720" cy="612648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812689" y="6000994"/>
            <a:ext cx="4846320" cy="29238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l"/>
            <a:r>
              <a:rPr sz="1600" b="1" dirty="0" err="1">
                <a:solidFill>
                  <a:srgbClr val="00405A"/>
                </a:solidFill>
                <a:latin typeface="Aptos"/>
              </a:rPr>
              <a:t>Resultado</a:t>
            </a:r>
            <a:r>
              <a:rPr sz="1600" b="1" dirty="0">
                <a:solidFill>
                  <a:srgbClr val="00405A"/>
                </a:solidFill>
                <a:latin typeface="Aptos"/>
              </a:rPr>
              <a:t>: w₀ e w₁ </a:t>
            </a:r>
            <a:r>
              <a:rPr sz="1600" b="1" dirty="0" err="1">
                <a:solidFill>
                  <a:srgbClr val="00405A"/>
                </a:solidFill>
                <a:latin typeface="Aptos"/>
              </a:rPr>
              <a:t>definem</a:t>
            </a:r>
            <a:r>
              <a:rPr sz="1600" b="1" dirty="0">
                <a:solidFill>
                  <a:srgbClr val="00405A"/>
                </a:solidFill>
                <a:latin typeface="Aptos"/>
              </a:rPr>
              <a:t> a </a:t>
            </a:r>
            <a:r>
              <a:rPr sz="1600" b="1" dirty="0" err="1">
                <a:solidFill>
                  <a:srgbClr val="00405A"/>
                </a:solidFill>
                <a:latin typeface="Aptos"/>
              </a:rPr>
              <a:t>reta</a:t>
            </a:r>
            <a:r>
              <a:rPr sz="1600" b="1" dirty="0">
                <a:solidFill>
                  <a:srgbClr val="00405A"/>
                </a:solidFill>
                <a:latin typeface="Aptos"/>
              </a:rPr>
              <a:t>: ŷ = w₀ + </a:t>
            </a:r>
            <a:r>
              <a:rPr sz="1600" b="1" dirty="0" err="1">
                <a:solidFill>
                  <a:srgbClr val="00405A"/>
                </a:solidFill>
                <a:latin typeface="Aptos"/>
              </a:rPr>
              <a:t>w₁x</a:t>
            </a:r>
            <a:r>
              <a:rPr sz="1600" b="1" dirty="0">
                <a:solidFill>
                  <a:srgbClr val="00405A"/>
                </a:solidFill>
                <a:latin typeface="Aptos"/>
              </a:rPr>
              <a:t>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3F42D9A-8A11-BAFC-F5DB-01B8A8376780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Modelos de Regressão Linear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950976"/>
            <a:ext cx="10716768" cy="5623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658368" y="210312"/>
            <a:ext cx="10012680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68680" y="310896"/>
            <a:ext cx="9509760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3400" b="0">
                <a:solidFill>
                  <a:srgbClr val="004059"/>
                </a:solidFill>
                <a:latin typeface="Arial"/>
              </a:rPr>
              <a:t>Modelos de Regressão Linear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8680" y="969264"/>
            <a:ext cx="9692640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900" b="1">
                <a:solidFill>
                  <a:srgbClr val="004059"/>
                </a:solidFill>
                <a:latin typeface="Arial"/>
              </a:rPr>
              <a:t>Da função de erro às equações normais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8680" y="1225296"/>
            <a:ext cx="10058400" cy="25603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400" b="0">
                <a:solidFill>
                  <a:srgbClr val="585858"/>
                </a:solidFill>
                <a:latin typeface="Arial"/>
              </a:rPr>
              <a:t>Como existem duas incógnitas, precisamos de duas condições para encontrar a melhor reta.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77240" y="1554480"/>
            <a:ext cx="10378440" cy="1177224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923544" y="1700784"/>
            <a:ext cx="393192" cy="393192"/>
          </a:xfrm>
          <a:prstGeom prst="ellipse">
            <a:avLst/>
          </a:prstGeom>
          <a:solidFill>
            <a:srgbClr val="3C7D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23544" y="1719072"/>
            <a:ext cx="393192" cy="2743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435607" y="1709928"/>
            <a:ext cx="9555480" cy="3200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800" b="1">
                <a:solidFill>
                  <a:srgbClr val="3C7DB9"/>
                </a:solidFill>
                <a:latin typeface="Arial"/>
              </a:rPr>
              <a:t>Verificamos separadamente o efeito de cada coeficiente sobre o erro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30618" y="2146963"/>
            <a:ext cx="3429001" cy="38779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400" b="1" dirty="0">
                <a:solidFill>
                  <a:srgbClr val="191919"/>
                </a:solidFill>
                <a:latin typeface="Cambria Math"/>
              </a:rPr>
              <a:t>∂E/∂w₀    e    ∂E/∂w₁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72584" y="2004141"/>
            <a:ext cx="6263640" cy="60317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1" dirty="0">
                <a:solidFill>
                  <a:srgbClr val="191919"/>
                </a:solidFill>
                <a:latin typeface="Arial"/>
              </a:rPr>
              <a:t>∂E/∂w₀ </a:t>
            </a:r>
            <a:r>
              <a:rPr sz="1350" b="1" dirty="0" err="1">
                <a:solidFill>
                  <a:srgbClr val="191919"/>
                </a:solidFill>
                <a:latin typeface="Arial"/>
              </a:rPr>
              <a:t>pergunta</a:t>
            </a:r>
            <a:r>
              <a:rPr sz="1350" b="1" dirty="0">
                <a:solidFill>
                  <a:srgbClr val="191919"/>
                </a:solidFill>
                <a:latin typeface="Arial"/>
              </a:rPr>
              <a:t>: “se </a:t>
            </a:r>
            <a:r>
              <a:rPr sz="1350" b="1" dirty="0" err="1">
                <a:solidFill>
                  <a:srgbClr val="191919"/>
                </a:solidFill>
                <a:latin typeface="Arial"/>
              </a:rPr>
              <a:t>eu</a:t>
            </a:r>
            <a:r>
              <a:rPr sz="1350" b="1" dirty="0">
                <a:solidFill>
                  <a:srgbClr val="191919"/>
                </a:solidFill>
                <a:latin typeface="Arial"/>
              </a:rPr>
              <a:t> </a:t>
            </a:r>
            <a:r>
              <a:rPr sz="1350" b="1" dirty="0" err="1">
                <a:solidFill>
                  <a:srgbClr val="191919"/>
                </a:solidFill>
                <a:latin typeface="Arial"/>
              </a:rPr>
              <a:t>alterar</a:t>
            </a:r>
            <a:r>
              <a:rPr sz="1350" b="1" dirty="0">
                <a:solidFill>
                  <a:srgbClr val="191919"/>
                </a:solidFill>
                <a:latin typeface="Arial"/>
              </a:rPr>
              <a:t> o </a:t>
            </a:r>
            <a:r>
              <a:rPr sz="1350" b="1" dirty="0" err="1">
                <a:solidFill>
                  <a:srgbClr val="191919"/>
                </a:solidFill>
                <a:latin typeface="Arial"/>
              </a:rPr>
              <a:t>intercepto</a:t>
            </a:r>
            <a:r>
              <a:rPr sz="1350" b="1" dirty="0">
                <a:solidFill>
                  <a:srgbClr val="191919"/>
                </a:solidFill>
                <a:latin typeface="Arial"/>
              </a:rPr>
              <a:t>, </a:t>
            </a:r>
            <a:r>
              <a:rPr sz="1350" b="1" dirty="0" err="1">
                <a:solidFill>
                  <a:srgbClr val="191919"/>
                </a:solidFill>
                <a:latin typeface="Arial"/>
              </a:rPr>
              <a:t>como</a:t>
            </a:r>
            <a:r>
              <a:rPr sz="1350" b="1" dirty="0">
                <a:solidFill>
                  <a:srgbClr val="191919"/>
                </a:solidFill>
                <a:latin typeface="Arial"/>
              </a:rPr>
              <a:t> o </a:t>
            </a:r>
            <a:r>
              <a:rPr sz="1350" b="1" dirty="0" err="1">
                <a:solidFill>
                  <a:srgbClr val="191919"/>
                </a:solidFill>
                <a:latin typeface="Arial"/>
              </a:rPr>
              <a:t>erro</a:t>
            </a:r>
            <a:r>
              <a:rPr sz="1350" b="1" dirty="0">
                <a:solidFill>
                  <a:srgbClr val="191919"/>
                </a:solidFill>
                <a:latin typeface="Arial"/>
              </a:rPr>
              <a:t> total </a:t>
            </a:r>
            <a:r>
              <a:rPr sz="1350" b="1" dirty="0" err="1">
                <a:solidFill>
                  <a:srgbClr val="191919"/>
                </a:solidFill>
                <a:latin typeface="Arial"/>
              </a:rPr>
              <a:t>muda</a:t>
            </a:r>
            <a:r>
              <a:rPr sz="1350" b="1" dirty="0">
                <a:solidFill>
                  <a:srgbClr val="191919"/>
                </a:solidFill>
                <a:latin typeface="Arial"/>
              </a:rPr>
              <a:t>?”
∂E/∂w₁ </a:t>
            </a:r>
            <a:r>
              <a:rPr sz="1350" b="1" dirty="0" err="1">
                <a:solidFill>
                  <a:srgbClr val="191919"/>
                </a:solidFill>
                <a:latin typeface="Arial"/>
              </a:rPr>
              <a:t>pergunta</a:t>
            </a:r>
            <a:r>
              <a:rPr sz="1350" b="1" dirty="0">
                <a:solidFill>
                  <a:srgbClr val="191919"/>
                </a:solidFill>
                <a:latin typeface="Arial"/>
              </a:rPr>
              <a:t>: “se </a:t>
            </a:r>
            <a:r>
              <a:rPr sz="1350" b="1" dirty="0" err="1">
                <a:solidFill>
                  <a:srgbClr val="191919"/>
                </a:solidFill>
                <a:latin typeface="Arial"/>
              </a:rPr>
              <a:t>eu</a:t>
            </a:r>
            <a:r>
              <a:rPr sz="1350" b="1" dirty="0">
                <a:solidFill>
                  <a:srgbClr val="191919"/>
                </a:solidFill>
                <a:latin typeface="Arial"/>
              </a:rPr>
              <a:t> </a:t>
            </a:r>
            <a:r>
              <a:rPr sz="1350" b="1" dirty="0" err="1">
                <a:solidFill>
                  <a:srgbClr val="191919"/>
                </a:solidFill>
                <a:latin typeface="Arial"/>
              </a:rPr>
              <a:t>alterar</a:t>
            </a:r>
            <a:r>
              <a:rPr sz="1350" b="1" dirty="0">
                <a:solidFill>
                  <a:srgbClr val="191919"/>
                </a:solidFill>
                <a:latin typeface="Arial"/>
              </a:rPr>
              <a:t> a </a:t>
            </a:r>
            <a:r>
              <a:rPr sz="1350" b="1" dirty="0" err="1">
                <a:solidFill>
                  <a:srgbClr val="191919"/>
                </a:solidFill>
                <a:latin typeface="Arial"/>
              </a:rPr>
              <a:t>inclinação</a:t>
            </a:r>
            <a:r>
              <a:rPr sz="1350" b="1" dirty="0">
                <a:solidFill>
                  <a:srgbClr val="191919"/>
                </a:solidFill>
                <a:latin typeface="Arial"/>
              </a:rPr>
              <a:t>, </a:t>
            </a:r>
            <a:r>
              <a:rPr sz="1350" b="1" dirty="0" err="1">
                <a:solidFill>
                  <a:srgbClr val="191919"/>
                </a:solidFill>
                <a:latin typeface="Arial"/>
              </a:rPr>
              <a:t>como</a:t>
            </a:r>
            <a:r>
              <a:rPr sz="1350" b="1" dirty="0">
                <a:solidFill>
                  <a:srgbClr val="191919"/>
                </a:solidFill>
                <a:latin typeface="Arial"/>
              </a:rPr>
              <a:t> o </a:t>
            </a:r>
            <a:r>
              <a:rPr sz="1350" b="1" dirty="0" err="1">
                <a:solidFill>
                  <a:srgbClr val="191919"/>
                </a:solidFill>
                <a:latin typeface="Arial"/>
              </a:rPr>
              <a:t>erro</a:t>
            </a:r>
            <a:r>
              <a:rPr sz="1350" b="1" dirty="0">
                <a:solidFill>
                  <a:srgbClr val="191919"/>
                </a:solidFill>
                <a:latin typeface="Arial"/>
              </a:rPr>
              <a:t> total </a:t>
            </a:r>
            <a:r>
              <a:rPr sz="1350" b="1" dirty="0" err="1">
                <a:solidFill>
                  <a:srgbClr val="191919"/>
                </a:solidFill>
                <a:latin typeface="Arial"/>
              </a:rPr>
              <a:t>muda</a:t>
            </a:r>
            <a:r>
              <a:rPr sz="1350" b="1" dirty="0">
                <a:solidFill>
                  <a:srgbClr val="191919"/>
                </a:solidFill>
                <a:latin typeface="Arial"/>
              </a:rPr>
              <a:t>?”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10578" y="2916936"/>
            <a:ext cx="10378440" cy="114300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956882" y="3063240"/>
            <a:ext cx="393192" cy="393192"/>
          </a:xfrm>
          <a:prstGeom prst="ellipse">
            <a:avLst/>
          </a:prstGeom>
          <a:solidFill>
            <a:srgbClr val="368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56882" y="3081528"/>
            <a:ext cx="393192" cy="2743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468945" y="3072384"/>
            <a:ext cx="9555480" cy="3200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800" b="1">
                <a:solidFill>
                  <a:srgbClr val="368039"/>
                </a:solidFill>
                <a:latin typeface="Arial"/>
              </a:rPr>
              <a:t>No melhor ponto, nenhuma pequena alteração melhora o erro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57466" y="3563389"/>
            <a:ext cx="4023360" cy="38779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400" b="1" dirty="0">
                <a:solidFill>
                  <a:srgbClr val="191919"/>
                </a:solidFill>
                <a:latin typeface="Cambria Math"/>
              </a:rPr>
              <a:t>∂E/∂w₀ = 0      ∂E/∂w₁ = 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00372" y="3404589"/>
            <a:ext cx="5349240" cy="44935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lang="pt-PT" sz="1400" b="0" dirty="0">
                <a:solidFill>
                  <a:srgbClr val="191919"/>
                </a:solidFill>
                <a:latin typeface="Arial"/>
              </a:rPr>
              <a:t>E</a:t>
            </a:r>
            <a:r>
              <a:rPr sz="1400" b="0" dirty="0" err="1">
                <a:solidFill>
                  <a:srgbClr val="191919"/>
                </a:solidFill>
                <a:latin typeface="Arial"/>
              </a:rPr>
              <a:t>ncontramos</a:t>
            </a:r>
            <a:r>
              <a:rPr sz="1400" b="0" dirty="0">
                <a:solidFill>
                  <a:srgbClr val="191919"/>
                </a:solidFill>
                <a:latin typeface="Arial"/>
              </a:rPr>
              <a:t> um </a:t>
            </a:r>
            <a:r>
              <a:rPr sz="1400" b="0" dirty="0" err="1">
                <a:solidFill>
                  <a:srgbClr val="191919"/>
                </a:solidFill>
                <a:latin typeface="Arial"/>
              </a:rPr>
              <a:t>ponto</a:t>
            </a:r>
            <a:r>
              <a:rPr sz="1400" b="0" dirty="0">
                <a:solidFill>
                  <a:srgbClr val="19191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91919"/>
                </a:solidFill>
                <a:latin typeface="Arial"/>
              </a:rPr>
              <a:t>em</a:t>
            </a:r>
            <a:r>
              <a:rPr sz="1400" b="0" dirty="0">
                <a:solidFill>
                  <a:srgbClr val="19191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91919"/>
                </a:solidFill>
                <a:latin typeface="Arial"/>
              </a:rPr>
              <a:t>que</a:t>
            </a:r>
            <a:r>
              <a:rPr sz="1400" b="0" dirty="0">
                <a:solidFill>
                  <a:srgbClr val="19191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91919"/>
                </a:solidFill>
                <a:latin typeface="Arial"/>
              </a:rPr>
              <a:t>mexer</a:t>
            </a:r>
            <a:r>
              <a:rPr sz="1400" b="0" dirty="0">
                <a:solidFill>
                  <a:srgbClr val="191919"/>
                </a:solidFill>
                <a:latin typeface="Arial"/>
              </a:rPr>
              <a:t> um </a:t>
            </a:r>
            <a:r>
              <a:rPr sz="1400" b="0" dirty="0" err="1">
                <a:solidFill>
                  <a:srgbClr val="191919"/>
                </a:solidFill>
                <a:latin typeface="Arial"/>
              </a:rPr>
              <a:t>pouco</a:t>
            </a:r>
            <a:r>
              <a:rPr sz="1400" b="0" dirty="0">
                <a:solidFill>
                  <a:srgbClr val="19191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91919"/>
                </a:solidFill>
                <a:latin typeface="Arial"/>
              </a:rPr>
              <a:t>em</a:t>
            </a:r>
            <a:r>
              <a:rPr sz="1400" b="0" dirty="0">
                <a:solidFill>
                  <a:srgbClr val="191919"/>
                </a:solidFill>
                <a:latin typeface="Arial"/>
              </a:rPr>
              <a:t> w₀ </a:t>
            </a:r>
            <a:r>
              <a:rPr sz="1400" b="0" dirty="0" err="1">
                <a:solidFill>
                  <a:srgbClr val="191919"/>
                </a:solidFill>
                <a:latin typeface="Arial"/>
              </a:rPr>
              <a:t>ou</a:t>
            </a:r>
            <a:r>
              <a:rPr sz="1400" b="0" dirty="0">
                <a:solidFill>
                  <a:srgbClr val="191919"/>
                </a:solidFill>
                <a:latin typeface="Arial"/>
              </a:rPr>
              <a:t> w₁ </a:t>
            </a:r>
            <a:r>
              <a:rPr sz="1400" b="0" dirty="0" err="1">
                <a:solidFill>
                  <a:srgbClr val="191919"/>
                </a:solidFill>
                <a:latin typeface="Arial"/>
              </a:rPr>
              <a:t>já</a:t>
            </a:r>
            <a:r>
              <a:rPr sz="1400" b="0" dirty="0">
                <a:solidFill>
                  <a:srgbClr val="19191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91919"/>
                </a:solidFill>
                <a:latin typeface="Arial"/>
              </a:rPr>
              <a:t>não</a:t>
            </a:r>
            <a:r>
              <a:rPr sz="1400" b="0" dirty="0">
                <a:solidFill>
                  <a:srgbClr val="19191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91919"/>
                </a:solidFill>
                <a:latin typeface="Arial"/>
              </a:rPr>
              <a:t>reduz</a:t>
            </a:r>
            <a:r>
              <a:rPr sz="1400" b="0" dirty="0">
                <a:solidFill>
                  <a:srgbClr val="19191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91919"/>
                </a:solidFill>
                <a:latin typeface="Arial"/>
              </a:rPr>
              <a:t>mais</a:t>
            </a:r>
            <a:r>
              <a:rPr sz="1400" b="0" dirty="0">
                <a:solidFill>
                  <a:srgbClr val="191919"/>
                </a:solidFill>
                <a:latin typeface="Arial"/>
              </a:rPr>
              <a:t> o </a:t>
            </a:r>
            <a:r>
              <a:rPr sz="1400" b="0" dirty="0" err="1">
                <a:solidFill>
                  <a:srgbClr val="191919"/>
                </a:solidFill>
                <a:latin typeface="Arial"/>
              </a:rPr>
              <a:t>erro</a:t>
            </a:r>
            <a:r>
              <a:rPr sz="1400" b="0" dirty="0">
                <a:solidFill>
                  <a:srgbClr val="191919"/>
                </a:solidFill>
                <a:latin typeface="Arial"/>
              </a:rPr>
              <a:t> total.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10578" y="4197096"/>
            <a:ext cx="10378440" cy="1536192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956882" y="4343400"/>
            <a:ext cx="393192" cy="393192"/>
          </a:xfrm>
          <a:prstGeom prst="ellipse">
            <a:avLst/>
          </a:prstGeom>
          <a:solidFill>
            <a:srgbClr val="BE3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956882" y="4361688"/>
            <a:ext cx="393192" cy="2743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68945" y="4352544"/>
            <a:ext cx="9555480" cy="3200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800" b="1">
                <a:solidFill>
                  <a:srgbClr val="BE3934"/>
                </a:solidFill>
                <a:latin typeface="Arial"/>
              </a:rPr>
              <a:t>As duas condições geram as equações normais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423226" y="4669813"/>
            <a:ext cx="4754880" cy="51206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50" b="0" dirty="0">
                <a:solidFill>
                  <a:srgbClr val="191919"/>
                </a:solidFill>
                <a:latin typeface="Arial"/>
              </a:rPr>
              <a:t>Ao </a:t>
            </a:r>
            <a:r>
              <a:rPr sz="1350" b="0" dirty="0" err="1">
                <a:solidFill>
                  <a:srgbClr val="191919"/>
                </a:solidFill>
                <a:latin typeface="Arial"/>
              </a:rPr>
              <a:t>reorganizar</a:t>
            </a:r>
            <a:r>
              <a:rPr sz="1350" b="0" dirty="0">
                <a:solidFill>
                  <a:srgbClr val="191919"/>
                </a:solidFill>
                <a:latin typeface="Arial"/>
              </a:rPr>
              <a:t> as </a:t>
            </a:r>
            <a:r>
              <a:rPr sz="1350" b="0" dirty="0" err="1">
                <a:solidFill>
                  <a:srgbClr val="191919"/>
                </a:solidFill>
                <a:latin typeface="Arial"/>
              </a:rPr>
              <a:t>derivadas</a:t>
            </a:r>
            <a:r>
              <a:rPr sz="1350" b="0" dirty="0">
                <a:solidFill>
                  <a:srgbClr val="191919"/>
                </a:solidFill>
                <a:latin typeface="Arial"/>
              </a:rPr>
              <a:t> </a:t>
            </a:r>
            <a:r>
              <a:rPr sz="1350" b="0" dirty="0" err="1">
                <a:solidFill>
                  <a:srgbClr val="191919"/>
                </a:solidFill>
                <a:latin typeface="Arial"/>
              </a:rPr>
              <a:t>iguais</a:t>
            </a:r>
            <a:r>
              <a:rPr sz="1350" b="0" dirty="0">
                <a:solidFill>
                  <a:srgbClr val="191919"/>
                </a:solidFill>
                <a:latin typeface="Arial"/>
              </a:rPr>
              <a:t> a zero, o </a:t>
            </a:r>
            <a:r>
              <a:rPr sz="1350" b="0" dirty="0" err="1">
                <a:solidFill>
                  <a:srgbClr val="191919"/>
                </a:solidFill>
                <a:latin typeface="Arial"/>
              </a:rPr>
              <a:t>problema</a:t>
            </a:r>
            <a:r>
              <a:rPr sz="1350" b="0" dirty="0">
                <a:solidFill>
                  <a:srgbClr val="191919"/>
                </a:solidFill>
                <a:latin typeface="Arial"/>
              </a:rPr>
              <a:t> </a:t>
            </a:r>
            <a:r>
              <a:rPr sz="1350" b="0" dirty="0" err="1">
                <a:solidFill>
                  <a:srgbClr val="191919"/>
                </a:solidFill>
                <a:latin typeface="Arial"/>
              </a:rPr>
              <a:t>vira</a:t>
            </a:r>
            <a:r>
              <a:rPr sz="1350" b="0" dirty="0">
                <a:solidFill>
                  <a:srgbClr val="191919"/>
                </a:solidFill>
                <a:latin typeface="Arial"/>
              </a:rPr>
              <a:t> um </a:t>
            </a:r>
            <a:r>
              <a:rPr sz="1350" b="0" dirty="0" err="1">
                <a:solidFill>
                  <a:srgbClr val="191919"/>
                </a:solidFill>
                <a:latin typeface="Arial"/>
              </a:rPr>
              <a:t>sistema</a:t>
            </a:r>
            <a:r>
              <a:rPr sz="1350" b="0" dirty="0">
                <a:solidFill>
                  <a:srgbClr val="191919"/>
                </a:solidFill>
                <a:latin typeface="Arial"/>
              </a:rPr>
              <a:t> de 2 </a:t>
            </a:r>
            <a:r>
              <a:rPr sz="1350" b="0" dirty="0" err="1">
                <a:solidFill>
                  <a:srgbClr val="191919"/>
                </a:solidFill>
                <a:latin typeface="Arial"/>
              </a:rPr>
              <a:t>equações</a:t>
            </a:r>
            <a:r>
              <a:rPr sz="1350" b="0" dirty="0">
                <a:solidFill>
                  <a:srgbClr val="191919"/>
                </a:solidFill>
                <a:latin typeface="Arial"/>
              </a:rPr>
              <a:t> com 2 </a:t>
            </a:r>
            <a:r>
              <a:rPr sz="1350" b="0" dirty="0" err="1">
                <a:solidFill>
                  <a:srgbClr val="191919"/>
                </a:solidFill>
                <a:latin typeface="Arial"/>
              </a:rPr>
              <a:t>incógnitas</a:t>
            </a:r>
            <a:r>
              <a:rPr sz="1350" b="0" dirty="0">
                <a:solidFill>
                  <a:srgbClr val="191919"/>
                </a:solidFill>
                <a:latin typeface="Arial"/>
              </a:rPr>
              <a:t>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34138" y="4544568"/>
            <a:ext cx="4206240" cy="32918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200" b="1">
                <a:solidFill>
                  <a:srgbClr val="191919"/>
                </a:solidFill>
                <a:latin typeface="Cambria Math"/>
              </a:rPr>
              <a:t>m w₀ + w₁Sₓ = Sᵧ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34138" y="4974336"/>
            <a:ext cx="4206240" cy="32918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200" b="1">
                <a:solidFill>
                  <a:srgbClr val="191919"/>
                </a:solidFill>
                <a:latin typeface="Cambria Math"/>
              </a:rPr>
              <a:t>w₀Sₓ + w₁Sₓ² = Sₓᵧ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401455" y="5342448"/>
            <a:ext cx="5348746" cy="23391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400" b="1" dirty="0" err="1">
                <a:solidFill>
                  <a:srgbClr val="004059"/>
                </a:solidFill>
                <a:latin typeface="Arial"/>
              </a:rPr>
              <a:t>Objetivo</a:t>
            </a:r>
            <a:r>
              <a:rPr sz="1400" b="1" dirty="0">
                <a:solidFill>
                  <a:srgbClr val="004059"/>
                </a:solidFill>
                <a:latin typeface="Arial"/>
              </a:rPr>
              <a:t> agora: resolver esse </a:t>
            </a:r>
            <a:r>
              <a:rPr sz="1400" b="1" dirty="0" err="1">
                <a:solidFill>
                  <a:srgbClr val="004059"/>
                </a:solidFill>
                <a:latin typeface="Arial"/>
              </a:rPr>
              <a:t>sistema</a:t>
            </a:r>
            <a:r>
              <a:rPr sz="1400" b="1" dirty="0">
                <a:solidFill>
                  <a:srgbClr val="004059"/>
                </a:solidFill>
                <a:latin typeface="Arial"/>
              </a:rPr>
              <a:t> para encontrar w₀ e w₁.</a:t>
            </a:r>
          </a:p>
        </p:txBody>
      </p:sp>
      <p:sp>
        <p:nvSpPr>
          <p:cNvPr id="86" name="Oval 85"/>
          <p:cNvSpPr/>
          <p:nvPr/>
        </p:nvSpPr>
        <p:spPr>
          <a:xfrm>
            <a:off x="11109960" y="5742432"/>
            <a:ext cx="1078992" cy="1078992"/>
          </a:xfrm>
          <a:prstGeom prst="ellipse">
            <a:avLst/>
          </a:prstGeom>
          <a:solidFill>
            <a:srgbClr val="004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1228832" y="5897880"/>
            <a:ext cx="777240" cy="5029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3400" b="0" dirty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912307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DD4E1-7BA1-4983-82C2-A526641CA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70255DF0-F796-F986-E94F-CEB4E3429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DA9CF13F-3728-E73C-38B6-C106CA8DAE37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800">
                <a:solidFill>
                  <a:srgbClr val="044664"/>
                </a:solidFill>
                <a:latin typeface="Aptos Display"/>
              </a:defRPr>
            </a:pPr>
            <a:r>
              <a:t>Regressão Linear — Fechando a derivação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7637921F-F2A2-E89E-2B97-68C2DEC37D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1005840"/>
            <a:ext cx="10241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>
                <a:solidFill>
                  <a:srgbClr val="464646"/>
                </a:solidFill>
                <a:latin typeface="Aptos"/>
              </a:defRPr>
            </a:pPr>
            <a:r>
              <a:t>Um resumo para conectar as equações normais às fórmulas usadas no cálculo.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1481328"/>
            <a:ext cx="5303520" cy="1901952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14400" y="1618488"/>
            <a:ext cx="384048" cy="384048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1656623"/>
            <a:ext cx="384048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rPr lang="pt-PT" dirty="0"/>
              <a:t>6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1389888" y="1529834"/>
            <a:ext cx="443484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034664"/>
                </a:solidFill>
                <a:latin typeface="Aptos"/>
              </a:defRPr>
            </a:pPr>
            <a:r>
              <a:rPr dirty="0" err="1">
                <a:solidFill>
                  <a:schemeClr val="accent4"/>
                </a:solidFill>
              </a:rPr>
              <a:t>Partimos</a:t>
            </a:r>
            <a:r>
              <a:rPr dirty="0">
                <a:solidFill>
                  <a:schemeClr val="accent4"/>
                </a:solidFill>
              </a:rPr>
              <a:t> das </a:t>
            </a:r>
            <a:r>
              <a:rPr dirty="0" err="1">
                <a:solidFill>
                  <a:schemeClr val="accent4"/>
                </a:solidFill>
              </a:rPr>
              <a:t>equações</a:t>
            </a:r>
            <a:r>
              <a:rPr dirty="0">
                <a:solidFill>
                  <a:schemeClr val="accent4"/>
                </a:solidFill>
              </a:rPr>
              <a:t> </a:t>
            </a:r>
            <a:r>
              <a:rPr dirty="0" err="1">
                <a:solidFill>
                  <a:schemeClr val="accent4"/>
                </a:solidFill>
              </a:rPr>
              <a:t>normais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89888" y="1765169"/>
            <a:ext cx="4306823" cy="76174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50" b="0">
                <a:solidFill>
                  <a:srgbClr val="141414"/>
                </a:solidFill>
                <a:latin typeface="Aptos"/>
              </a:defRPr>
            </a:pPr>
            <a:r>
              <a:rPr dirty="0"/>
              <a:t>Elas </a:t>
            </a:r>
            <a:r>
              <a:rPr dirty="0" err="1"/>
              <a:t>são</a:t>
            </a:r>
            <a:r>
              <a:rPr dirty="0"/>
              <a:t> as duas </a:t>
            </a:r>
            <a:r>
              <a:rPr dirty="0" err="1"/>
              <a:t>condições</a:t>
            </a:r>
            <a:r>
              <a:rPr dirty="0"/>
              <a:t> </a:t>
            </a:r>
            <a:r>
              <a:rPr dirty="0" err="1"/>
              <a:t>obtidas</a:t>
            </a:r>
            <a:r>
              <a:rPr dirty="0"/>
              <a:t> </a:t>
            </a:r>
            <a:r>
              <a:rPr dirty="0" err="1"/>
              <a:t>quando</a:t>
            </a:r>
            <a:r>
              <a:rPr dirty="0"/>
              <a:t> o </a:t>
            </a:r>
            <a:r>
              <a:rPr dirty="0" err="1"/>
              <a:t>erro</a:t>
            </a:r>
            <a:r>
              <a:rPr dirty="0"/>
              <a:t> total é </a:t>
            </a:r>
            <a:r>
              <a:rPr dirty="0" err="1"/>
              <a:t>mínimo</a:t>
            </a:r>
            <a:r>
              <a:rPr dirty="0"/>
              <a:t>. Como </a:t>
            </a:r>
            <a:r>
              <a:rPr dirty="0" err="1"/>
              <a:t>existem</a:t>
            </a:r>
            <a:r>
              <a:rPr dirty="0"/>
              <a:t> duas </a:t>
            </a:r>
            <a:r>
              <a:rPr dirty="0" err="1"/>
              <a:t>incógnitas</a:t>
            </a:r>
            <a:r>
              <a:rPr dirty="0"/>
              <a:t>, </a:t>
            </a:r>
            <a:r>
              <a:rPr dirty="0" err="1"/>
              <a:t>temos</a:t>
            </a:r>
            <a:r>
              <a:rPr dirty="0"/>
              <a:t> duas </a:t>
            </a:r>
            <a:r>
              <a:rPr dirty="0" err="1"/>
              <a:t>equações</a:t>
            </a:r>
            <a:r>
              <a:rPr dirty="0"/>
              <a:t> para encontrar w₀ e w₁.</a:t>
            </a:r>
          </a:p>
        </p:txBody>
      </p:sp>
      <p:pic>
        <p:nvPicPr>
          <p:cNvPr id="18" name="Picture 17" descr="n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0682" y="2569462"/>
            <a:ext cx="3566160" cy="416773"/>
          </a:xfrm>
          <a:prstGeom prst="rect">
            <a:avLst/>
          </a:prstGeom>
        </p:spPr>
      </p:pic>
      <p:pic>
        <p:nvPicPr>
          <p:cNvPr id="19" name="Picture 18" descr="n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9242" y="2953510"/>
            <a:ext cx="3749039" cy="438146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263640" y="1481328"/>
            <a:ext cx="5074920" cy="1901952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00800" y="1618488"/>
            <a:ext cx="384048" cy="38404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1656623"/>
            <a:ext cx="384048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rPr lang="pt-PT" dirty="0"/>
              <a:t>7</a:t>
            </a:r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6876288" y="1529834"/>
            <a:ext cx="406908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034664"/>
                </a:solidFill>
                <a:latin typeface="Aptos"/>
              </a:defRPr>
            </a:pPr>
            <a:r>
              <a:rPr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Resolvemos</a:t>
            </a:r>
            <a:r>
              <a:rPr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o </a:t>
            </a:r>
            <a:r>
              <a:rPr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sistema</a:t>
            </a:r>
            <a:endParaRPr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84997" y="1767921"/>
            <a:ext cx="4206240" cy="76174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50" b="0">
                <a:solidFill>
                  <a:srgbClr val="141414"/>
                </a:solidFill>
                <a:latin typeface="Aptos"/>
              </a:defRPr>
            </a:pPr>
            <a:r>
              <a:rPr dirty="0"/>
              <a:t>A </a:t>
            </a:r>
            <a:r>
              <a:rPr dirty="0" err="1"/>
              <a:t>partir</a:t>
            </a:r>
            <a:r>
              <a:rPr dirty="0"/>
              <a:t> </a:t>
            </a:r>
            <a:r>
              <a:rPr dirty="0" err="1"/>
              <a:t>daqui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surge </a:t>
            </a:r>
            <a:r>
              <a:rPr dirty="0" err="1"/>
              <a:t>uma</a:t>
            </a:r>
            <a:r>
              <a:rPr dirty="0"/>
              <a:t> nova </a:t>
            </a:r>
            <a:r>
              <a:rPr dirty="0" err="1"/>
              <a:t>técnica</a:t>
            </a:r>
            <a:r>
              <a:rPr dirty="0"/>
              <a:t>: </a:t>
            </a:r>
            <a:r>
              <a:rPr dirty="0" err="1"/>
              <a:t>isolamos</a:t>
            </a:r>
            <a:r>
              <a:rPr dirty="0"/>
              <a:t> e </a:t>
            </a:r>
            <a:r>
              <a:rPr dirty="0" err="1"/>
              <a:t>substituímos</a:t>
            </a:r>
            <a:r>
              <a:rPr dirty="0"/>
              <a:t> as </a:t>
            </a:r>
            <a:r>
              <a:rPr dirty="0" err="1"/>
              <a:t>incógnitas</a:t>
            </a:r>
            <a:r>
              <a:rPr dirty="0"/>
              <a:t> </a:t>
            </a:r>
            <a:r>
              <a:rPr dirty="0" err="1"/>
              <a:t>até</a:t>
            </a:r>
            <a:r>
              <a:rPr dirty="0"/>
              <a:t> </a:t>
            </a:r>
            <a:r>
              <a:rPr dirty="0" err="1"/>
              <a:t>obter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dois</a:t>
            </a:r>
            <a:r>
              <a:rPr dirty="0"/>
              <a:t> </a:t>
            </a:r>
            <a:r>
              <a:rPr dirty="0" err="1"/>
              <a:t>coeficientes</a:t>
            </a:r>
            <a:r>
              <a:rPr dirty="0"/>
              <a:t>.</a:t>
            </a:r>
          </a:p>
        </p:txBody>
      </p:sp>
      <p:pic>
        <p:nvPicPr>
          <p:cNvPr id="25" name="Picture 24" descr="w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7935" y="2735618"/>
            <a:ext cx="4343400" cy="635327"/>
          </a:xfrm>
          <a:prstGeom prst="rect">
            <a:avLst/>
          </a:prstGeom>
        </p:spPr>
      </p:pic>
      <p:pic>
        <p:nvPicPr>
          <p:cNvPr id="26" name="Picture 25" descr="w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2386" y="2756794"/>
            <a:ext cx="3703320" cy="543045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731520" y="4552217"/>
            <a:ext cx="10561320" cy="1609344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68680" y="4689377"/>
            <a:ext cx="384048" cy="384048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4727512"/>
            <a:ext cx="384048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rPr lang="pt-PT" dirty="0"/>
              <a:t>8</a:t>
            </a:r>
            <a:endParaRPr dirty="0"/>
          </a:p>
        </p:txBody>
      </p:sp>
      <p:sp>
        <p:nvSpPr>
          <p:cNvPr id="30" name="TextBox 29"/>
          <p:cNvSpPr txBox="1"/>
          <p:nvPr/>
        </p:nvSpPr>
        <p:spPr>
          <a:xfrm>
            <a:off x="1344168" y="4591579"/>
            <a:ext cx="946404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034664"/>
                </a:solidFill>
                <a:latin typeface="Aptos"/>
              </a:defRPr>
            </a:pPr>
            <a:r>
              <a:rPr dirty="0">
                <a:solidFill>
                  <a:schemeClr val="accent2">
                    <a:lumMod val="50000"/>
                  </a:schemeClr>
                </a:solidFill>
              </a:rPr>
              <a:t>As </a:t>
            </a:r>
            <a:r>
              <a:rPr dirty="0" err="1">
                <a:solidFill>
                  <a:schemeClr val="accent2">
                    <a:lumMod val="50000"/>
                  </a:schemeClr>
                </a:solidFill>
              </a:rPr>
              <a:t>mesmas</a:t>
            </a:r>
            <a:r>
              <a:rPr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dirty="0" err="1">
                <a:solidFill>
                  <a:schemeClr val="accent2">
                    <a:lumMod val="50000"/>
                  </a:schemeClr>
                </a:solidFill>
              </a:rPr>
              <a:t>soluções</a:t>
            </a:r>
            <a:r>
              <a:rPr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dirty="0" err="1">
                <a:solidFill>
                  <a:schemeClr val="accent2">
                    <a:lumMod val="50000"/>
                  </a:schemeClr>
                </a:solidFill>
              </a:rPr>
              <a:t>podem</a:t>
            </a:r>
            <a:r>
              <a:rPr dirty="0">
                <a:solidFill>
                  <a:schemeClr val="accent2">
                    <a:lumMod val="50000"/>
                  </a:schemeClr>
                </a:solidFill>
              </a:rPr>
              <a:t> ser </a:t>
            </a:r>
            <a:r>
              <a:rPr dirty="0" err="1">
                <a:solidFill>
                  <a:schemeClr val="accent2">
                    <a:lumMod val="50000"/>
                  </a:schemeClr>
                </a:solidFill>
              </a:rPr>
              <a:t>escritas</a:t>
            </a:r>
            <a:r>
              <a:rPr dirty="0">
                <a:solidFill>
                  <a:schemeClr val="accent2">
                    <a:lumMod val="50000"/>
                  </a:schemeClr>
                </a:solidFill>
              </a:rPr>
              <a:t> de </a:t>
            </a:r>
            <a:r>
              <a:rPr dirty="0" err="1">
                <a:solidFill>
                  <a:schemeClr val="accent2">
                    <a:lumMod val="50000"/>
                  </a:schemeClr>
                </a:solidFill>
              </a:rPr>
              <a:t>outras</a:t>
            </a:r>
            <a:r>
              <a:rPr dirty="0">
                <a:solidFill>
                  <a:schemeClr val="accent2">
                    <a:lumMod val="50000"/>
                  </a:schemeClr>
                </a:solidFill>
              </a:rPr>
              <a:t> formas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4829392"/>
            <a:ext cx="9610343" cy="5386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50" b="0">
                <a:solidFill>
                  <a:srgbClr val="141414"/>
                </a:solidFill>
                <a:latin typeface="Aptos"/>
              </a:defRPr>
            </a:pPr>
            <a:r>
              <a:rPr dirty="0" err="1"/>
              <a:t>Somatórios</a:t>
            </a:r>
            <a:r>
              <a:rPr dirty="0"/>
              <a:t>, </a:t>
            </a:r>
            <a:r>
              <a:rPr dirty="0" err="1"/>
              <a:t>médias</a:t>
            </a:r>
            <a:r>
              <a:rPr dirty="0"/>
              <a:t> e </a:t>
            </a:r>
            <a:r>
              <a:rPr dirty="0" err="1"/>
              <a:t>covariância</a:t>
            </a:r>
            <a:r>
              <a:rPr dirty="0"/>
              <a:t>/</a:t>
            </a:r>
            <a:r>
              <a:rPr dirty="0" err="1"/>
              <a:t>variância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métodos</a:t>
            </a:r>
            <a:r>
              <a:rPr dirty="0"/>
              <a:t> </a:t>
            </a:r>
            <a:r>
              <a:rPr dirty="0" err="1"/>
              <a:t>diferentes</a:t>
            </a:r>
            <a:r>
              <a:rPr dirty="0"/>
              <a:t>: </a:t>
            </a:r>
            <a:r>
              <a:rPr dirty="0" err="1"/>
              <a:t>são</a:t>
            </a:r>
            <a:r>
              <a:rPr dirty="0"/>
              <a:t> formas </a:t>
            </a:r>
            <a:r>
              <a:rPr dirty="0" err="1"/>
              <a:t>matematicamente</a:t>
            </a:r>
            <a:r>
              <a:rPr dirty="0"/>
              <a:t> </a:t>
            </a:r>
            <a:r>
              <a:rPr dirty="0" err="1"/>
              <a:t>equivalentes</a:t>
            </a:r>
            <a:r>
              <a:rPr dirty="0"/>
              <a:t> de </a:t>
            </a:r>
            <a:r>
              <a:rPr dirty="0" err="1"/>
              <a:t>calcular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mesmos</a:t>
            </a:r>
            <a:r>
              <a:rPr dirty="0"/>
              <a:t> w₀ e w₁.</a:t>
            </a:r>
          </a:p>
        </p:txBody>
      </p:sp>
      <p:pic>
        <p:nvPicPr>
          <p:cNvPr id="32" name="Picture 31" descr="mean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5840" y="5456465"/>
            <a:ext cx="6720840" cy="654899"/>
          </a:xfrm>
          <a:prstGeom prst="rect">
            <a:avLst/>
          </a:prstGeom>
        </p:spPr>
      </p:pic>
      <p:pic>
        <p:nvPicPr>
          <p:cNvPr id="33" name="Picture 32" descr="cov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36408" y="5502185"/>
            <a:ext cx="2514600" cy="421665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1051560" y="5504688"/>
            <a:ext cx="9875520" cy="749808"/>
          </a:xfrm>
          <a:prstGeom prst="roundRect">
            <a:avLst/>
          </a:prstGeom>
          <a:solidFill>
            <a:srgbClr val="EAF4EC"/>
          </a:solidFill>
          <a:ln>
            <a:solidFill>
              <a:srgbClr val="A9CD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234440" y="5604009"/>
            <a:ext cx="2891246" cy="6001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50" b="1">
                <a:solidFill>
                  <a:srgbClr val="367E3A"/>
                </a:solidFill>
                <a:latin typeface="Aptos"/>
              </a:defRPr>
            </a:pPr>
            <a:r>
              <a:rPr dirty="0" err="1"/>
              <a:t>Resultado</a:t>
            </a:r>
            <a:r>
              <a:rPr dirty="0"/>
              <a:t> final: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coeficientes</a:t>
            </a:r>
            <a:r>
              <a:rPr dirty="0"/>
              <a:t> </a:t>
            </a:r>
            <a:r>
              <a:rPr dirty="0" err="1"/>
              <a:t>definem</a:t>
            </a:r>
            <a:r>
              <a:rPr dirty="0"/>
              <a:t> a </a:t>
            </a:r>
            <a:r>
              <a:rPr dirty="0" err="1"/>
              <a:t>reta</a:t>
            </a:r>
            <a:endParaRPr dirty="0"/>
          </a:p>
        </p:txBody>
      </p:sp>
      <p:pic>
        <p:nvPicPr>
          <p:cNvPr id="36" name="Picture 35" descr="fina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58960" y="5631696"/>
            <a:ext cx="3077245" cy="52486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269479" y="5566682"/>
            <a:ext cx="333756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50" b="0">
                <a:solidFill>
                  <a:srgbClr val="28462D"/>
                </a:solidFill>
                <a:latin typeface="Aptos"/>
              </a:defRPr>
            </a:pPr>
            <a:r>
              <a:rPr sz="1400" b="1" dirty="0" err="1"/>
              <a:t>Minimizar</a:t>
            </a:r>
            <a:r>
              <a:rPr sz="1400" b="1" dirty="0"/>
              <a:t> o </a:t>
            </a:r>
            <a:r>
              <a:rPr sz="1400" b="1" dirty="0" err="1"/>
              <a:t>erro</a:t>
            </a:r>
            <a:r>
              <a:rPr sz="1400" b="1" dirty="0"/>
              <a:t> → </a:t>
            </a:r>
            <a:r>
              <a:rPr sz="1400" b="1" dirty="0" err="1"/>
              <a:t>equações</a:t>
            </a:r>
            <a:r>
              <a:rPr sz="1400" b="1" dirty="0"/>
              <a:t> </a:t>
            </a:r>
            <a:r>
              <a:rPr sz="1400" b="1" dirty="0" err="1"/>
              <a:t>normais</a:t>
            </a:r>
            <a:r>
              <a:rPr sz="1400" b="1" dirty="0"/>
              <a:t> → resolver o </a:t>
            </a:r>
            <a:r>
              <a:rPr sz="1400" b="1" dirty="0" err="1"/>
              <a:t>sistema</a:t>
            </a:r>
            <a:r>
              <a:rPr sz="1400" b="1" dirty="0"/>
              <a:t> → w₀ e w₁ → </a:t>
            </a:r>
            <a:r>
              <a:rPr sz="1400" b="1" dirty="0" err="1"/>
              <a:t>reta</a:t>
            </a:r>
            <a:endParaRPr sz="1400" b="1" dirty="0"/>
          </a:p>
        </p:txBody>
      </p:sp>
      <p:sp>
        <p:nvSpPr>
          <p:cNvPr id="38" name="Rectangle 37"/>
          <p:cNvSpPr/>
          <p:nvPr/>
        </p:nvSpPr>
        <p:spPr>
          <a:xfrm>
            <a:off x="522514" y="994953"/>
            <a:ext cx="10971494" cy="5623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58368" y="210312"/>
            <a:ext cx="10012680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68680" y="310896"/>
            <a:ext cx="9509760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3400" b="0">
                <a:solidFill>
                  <a:srgbClr val="004059"/>
                </a:solidFill>
                <a:latin typeface="Arial"/>
              </a:rPr>
              <a:t>Regressão Linear — Fechando a derivação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969264"/>
            <a:ext cx="9692640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900" b="1">
                <a:solidFill>
                  <a:srgbClr val="004059"/>
                </a:solidFill>
                <a:latin typeface="Arial"/>
              </a:rPr>
              <a:t>Resolvendo o sistema e montando a reta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1225296"/>
            <a:ext cx="10058400" cy="25603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400" b="0">
                <a:solidFill>
                  <a:srgbClr val="585858"/>
                </a:solidFill>
                <a:latin typeface="Arial"/>
              </a:rPr>
              <a:t>Agora não estamos mais fazendo uma nova derivação: estamos resolvendo o sistema obtido no passo anterior.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" y="1572767"/>
            <a:ext cx="5074920" cy="2560319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923544" y="1719072"/>
            <a:ext cx="393192" cy="393192"/>
          </a:xfrm>
          <a:prstGeom prst="ellipse">
            <a:avLst/>
          </a:prstGeom>
          <a:solidFill>
            <a:srgbClr val="3C7D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23544" y="1737360"/>
            <a:ext cx="393192" cy="2743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35607" y="1728216"/>
            <a:ext cx="4251959" cy="3200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800" b="1">
                <a:solidFill>
                  <a:srgbClr val="3C7DB9"/>
                </a:solidFill>
                <a:latin typeface="Arial"/>
              </a:rPr>
              <a:t>Resolvemos o sistema para w₁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" y="2130552"/>
            <a:ext cx="4434840" cy="8503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50" b="0">
                <a:solidFill>
                  <a:srgbClr val="191919"/>
                </a:solidFill>
                <a:latin typeface="Arial"/>
              </a:rPr>
              <a:t>w₁ é a inclinação: quanto ŷ muda quando x aumenta 1 unidade.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" y="2635034"/>
            <a:ext cx="4526280" cy="29546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b="1" dirty="0">
                <a:solidFill>
                  <a:srgbClr val="191919"/>
                </a:solidFill>
                <a:latin typeface="Cambria Math"/>
              </a:rPr>
              <a:t>w₁ = (mSₓᵧ − SₓSᵧ) / (mSₓ² − Sₓ²)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080760" y="1572767"/>
            <a:ext cx="5074920" cy="2560319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6227064" y="1719072"/>
            <a:ext cx="393192" cy="393192"/>
          </a:xfrm>
          <a:prstGeom prst="ellipse">
            <a:avLst/>
          </a:prstGeom>
          <a:solidFill>
            <a:srgbClr val="368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227064" y="1737360"/>
            <a:ext cx="393192" cy="2743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39128" y="1728216"/>
            <a:ext cx="4251959" cy="3200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800" b="1">
                <a:solidFill>
                  <a:srgbClr val="368039"/>
                </a:solidFill>
                <a:latin typeface="Arial"/>
              </a:rPr>
              <a:t>Depois calculamos w₀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2130552"/>
            <a:ext cx="4434840" cy="8503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50" b="0">
                <a:solidFill>
                  <a:srgbClr val="191919"/>
                </a:solidFill>
                <a:latin typeface="Arial"/>
              </a:rPr>
              <a:t>w₀ posiciona a reta. Depois de w₁, voltamos à primeira equação normal.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46520" y="2635034"/>
            <a:ext cx="4343400" cy="32918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000" b="1">
                <a:solidFill>
                  <a:srgbClr val="191919"/>
                </a:solidFill>
                <a:latin typeface="Cambria Math"/>
              </a:rPr>
              <a:t>w₀ = (Sᵧ − w₁Sₓ) / m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1520" y="4186456"/>
            <a:ext cx="10378440" cy="1346819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877824" y="4332761"/>
            <a:ext cx="393192" cy="393192"/>
          </a:xfrm>
          <a:prstGeom prst="ellipse">
            <a:avLst/>
          </a:prstGeom>
          <a:solidFill>
            <a:srgbClr val="BE3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77824" y="4351049"/>
            <a:ext cx="393192" cy="2743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89887" y="4341905"/>
            <a:ext cx="9555480" cy="3200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800" b="1">
                <a:solidFill>
                  <a:srgbClr val="BE3934"/>
                </a:solidFill>
                <a:latin typeface="Arial"/>
              </a:rPr>
              <a:t>Montamos finalmente a reta de regressão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99032" y="4689778"/>
            <a:ext cx="4133088" cy="64171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50" b="0" dirty="0">
                <a:solidFill>
                  <a:srgbClr val="191919"/>
                </a:solidFill>
                <a:latin typeface="Arial"/>
              </a:rPr>
              <a:t>Com w₀ e w₁ </a:t>
            </a:r>
            <a:r>
              <a:rPr sz="1350" b="0" dirty="0" err="1">
                <a:solidFill>
                  <a:srgbClr val="191919"/>
                </a:solidFill>
                <a:latin typeface="Arial"/>
              </a:rPr>
              <a:t>conhecidos</a:t>
            </a:r>
            <a:r>
              <a:rPr sz="1350" b="0" dirty="0">
                <a:solidFill>
                  <a:srgbClr val="191919"/>
                </a:solidFill>
                <a:latin typeface="Arial"/>
              </a:rPr>
              <a:t>, </a:t>
            </a:r>
            <a:r>
              <a:rPr sz="1350" b="0" dirty="0" err="1">
                <a:solidFill>
                  <a:srgbClr val="191919"/>
                </a:solidFill>
                <a:latin typeface="Arial"/>
              </a:rPr>
              <a:t>temos</a:t>
            </a:r>
            <a:r>
              <a:rPr sz="1350" b="0" dirty="0">
                <a:solidFill>
                  <a:srgbClr val="191919"/>
                </a:solidFill>
                <a:latin typeface="Arial"/>
              </a:rPr>
              <a:t> o </a:t>
            </a:r>
            <a:r>
              <a:rPr sz="1350" b="0" dirty="0" err="1">
                <a:solidFill>
                  <a:srgbClr val="191919"/>
                </a:solidFill>
                <a:latin typeface="Arial"/>
              </a:rPr>
              <a:t>modelo</a:t>
            </a:r>
            <a:r>
              <a:rPr sz="1350" b="0" dirty="0">
                <a:solidFill>
                  <a:srgbClr val="191919"/>
                </a:solidFill>
                <a:latin typeface="Arial"/>
              </a:rPr>
              <a:t> </a:t>
            </a:r>
            <a:r>
              <a:rPr sz="1350" b="0" dirty="0" err="1">
                <a:solidFill>
                  <a:srgbClr val="191919"/>
                </a:solidFill>
                <a:latin typeface="Arial"/>
              </a:rPr>
              <a:t>treinado</a:t>
            </a:r>
            <a:r>
              <a:rPr sz="1350" b="0" dirty="0">
                <a:solidFill>
                  <a:srgbClr val="191919"/>
                </a:solidFill>
                <a:latin typeface="Arial"/>
              </a:rPr>
              <a:t>. Ele </a:t>
            </a:r>
            <a:r>
              <a:rPr sz="1350" b="0" dirty="0" err="1">
                <a:solidFill>
                  <a:srgbClr val="191919"/>
                </a:solidFill>
                <a:latin typeface="Arial"/>
              </a:rPr>
              <a:t>pode</a:t>
            </a:r>
            <a:r>
              <a:rPr sz="1350" b="0" dirty="0">
                <a:solidFill>
                  <a:srgbClr val="191919"/>
                </a:solidFill>
                <a:latin typeface="Arial"/>
              </a:rPr>
              <a:t> </a:t>
            </a:r>
            <a:r>
              <a:rPr sz="1350" b="0" dirty="0" err="1">
                <a:solidFill>
                  <a:srgbClr val="191919"/>
                </a:solidFill>
                <a:latin typeface="Arial"/>
              </a:rPr>
              <a:t>prever</a:t>
            </a:r>
            <a:r>
              <a:rPr sz="1350" b="0" dirty="0">
                <a:solidFill>
                  <a:srgbClr val="191919"/>
                </a:solidFill>
                <a:latin typeface="Arial"/>
              </a:rPr>
              <a:t> ŷ para </a:t>
            </a:r>
            <a:r>
              <a:rPr sz="1350" b="0" dirty="0" err="1">
                <a:solidFill>
                  <a:srgbClr val="191919"/>
                </a:solidFill>
                <a:latin typeface="Arial"/>
              </a:rPr>
              <a:t>novos</a:t>
            </a:r>
            <a:r>
              <a:rPr sz="1350" b="0" dirty="0">
                <a:solidFill>
                  <a:srgbClr val="191919"/>
                </a:solidFill>
                <a:latin typeface="Arial"/>
              </a:rPr>
              <a:t> </a:t>
            </a:r>
            <a:r>
              <a:rPr sz="1350" b="0" dirty="0" err="1">
                <a:solidFill>
                  <a:srgbClr val="191919"/>
                </a:solidFill>
                <a:latin typeface="Arial"/>
              </a:rPr>
              <a:t>valores</a:t>
            </a:r>
            <a:r>
              <a:rPr sz="1350" b="0" dirty="0">
                <a:solidFill>
                  <a:srgbClr val="191919"/>
                </a:solidFill>
                <a:latin typeface="Arial"/>
              </a:rPr>
              <a:t> de x </a:t>
            </a:r>
            <a:r>
              <a:rPr sz="1350" b="0" dirty="0" err="1">
                <a:solidFill>
                  <a:srgbClr val="191919"/>
                </a:solidFill>
                <a:latin typeface="Arial"/>
              </a:rPr>
              <a:t>dentro</a:t>
            </a:r>
            <a:r>
              <a:rPr sz="1350" b="0" dirty="0">
                <a:solidFill>
                  <a:srgbClr val="191919"/>
                </a:solidFill>
                <a:latin typeface="Arial"/>
              </a:rPr>
              <a:t> do </a:t>
            </a:r>
            <a:r>
              <a:rPr sz="1350" b="0" dirty="0" err="1">
                <a:solidFill>
                  <a:srgbClr val="191919"/>
                </a:solidFill>
                <a:latin typeface="Arial"/>
              </a:rPr>
              <a:t>intervalo</a:t>
            </a:r>
            <a:r>
              <a:rPr sz="1350" b="0" dirty="0">
                <a:solidFill>
                  <a:srgbClr val="191919"/>
                </a:solidFill>
                <a:latin typeface="Arial"/>
              </a:rPr>
              <a:t> </a:t>
            </a:r>
            <a:r>
              <a:rPr sz="1350" b="0" dirty="0" err="1">
                <a:solidFill>
                  <a:srgbClr val="191919"/>
                </a:solidFill>
                <a:latin typeface="Arial"/>
              </a:rPr>
              <a:t>observado</a:t>
            </a:r>
            <a:r>
              <a:rPr sz="1350" b="0" dirty="0">
                <a:solidFill>
                  <a:srgbClr val="191919"/>
                </a:solidFill>
                <a:latin typeface="Arial"/>
              </a:rPr>
              <a:t>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55080" y="4416918"/>
            <a:ext cx="3635829" cy="44935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800" b="1" dirty="0">
                <a:solidFill>
                  <a:srgbClr val="191919"/>
                </a:solidFill>
                <a:latin typeface="Cambria Math"/>
              </a:rPr>
              <a:t>ŷ = w₀ + </a:t>
            </a:r>
            <a:r>
              <a:rPr sz="2800" b="1" dirty="0" err="1">
                <a:solidFill>
                  <a:srgbClr val="191919"/>
                </a:solidFill>
                <a:latin typeface="Cambria Math"/>
              </a:rPr>
              <a:t>w₁x</a:t>
            </a:r>
            <a:endParaRPr sz="2800" b="1" dirty="0">
              <a:solidFill>
                <a:srgbClr val="191919"/>
              </a:solidFill>
              <a:latin typeface="Cambria Math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040880" y="4980977"/>
            <a:ext cx="2743200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lang="cy-GB" sz="2200" b="1" dirty="0">
                <a:solidFill>
                  <a:srgbClr val="191919"/>
                </a:solidFill>
                <a:latin typeface="Cambria Math"/>
              </a:rPr>
              <a:t>ŷ = −0,360 + 1,538x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05840" y="5631209"/>
            <a:ext cx="9921240" cy="859536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188720" y="5731793"/>
            <a:ext cx="955548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500" b="1">
                <a:solidFill>
                  <a:srgbClr val="004059"/>
                </a:solidFill>
                <a:latin typeface="Arial"/>
              </a:rPr>
              <a:t>Ideia-chave: vários pontos produzem vários erros, mas todos são controlados pela mesma reta.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88720" y="6079265"/>
            <a:ext cx="9555480" cy="2286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350" b="0">
                <a:solidFill>
                  <a:srgbClr val="191919"/>
                </a:solidFill>
                <a:latin typeface="Arial"/>
              </a:rPr>
              <a:t>As fórmulas de w₀ e w₁ surgem da resolução algébrica das equações normais.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793F43A-B9EE-8455-3554-03A182838EC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3E4E97C8-CC6D-6BF1-D886-0E2021731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11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1260E36-9570-4833-8FFF-C5D99B600288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10126" t="54604" r="9629"/>
          <a:stretch>
            <a:fillRect/>
          </a:stretch>
        </p:blipFill>
        <p:spPr>
          <a:xfrm>
            <a:off x="1600200" y="3222374"/>
            <a:ext cx="3409407" cy="869243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D37BED26-C39B-D4DA-A435-7FE33BBC2BF0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5606" b="49680"/>
          <a:stretch>
            <a:fillRect/>
          </a:stretch>
        </p:blipFill>
        <p:spPr>
          <a:xfrm>
            <a:off x="6747134" y="3267106"/>
            <a:ext cx="4248743" cy="85619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BB26EA6-E5CD-68FC-AA6B-1F60EA65DE3B}"/>
              </a:ext>
            </a:extLst>
          </p:cNvPr>
          <p:cNvSpPr txBox="1"/>
          <p:nvPr/>
        </p:nvSpPr>
        <p:spPr>
          <a:xfrm>
            <a:off x="958215" y="3449763"/>
            <a:ext cx="784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n=m</a:t>
            </a:r>
            <a:endParaRPr lang="pt-BR" dirty="0"/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2969C244-2FE9-A365-2DFB-DA11BB82DF08}"/>
              </a:ext>
            </a:extLst>
          </p:cNvPr>
          <p:cNvSpPr txBox="1"/>
          <p:nvPr/>
        </p:nvSpPr>
        <p:spPr>
          <a:xfrm>
            <a:off x="6227064" y="3460976"/>
            <a:ext cx="784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n=m</a:t>
            </a:r>
            <a:endParaRPr lang="pt-BR" dirty="0"/>
          </a:p>
        </p:txBody>
      </p:sp>
      <p:sp>
        <p:nvSpPr>
          <p:cNvPr id="69" name="TextBox 60">
            <a:extLst>
              <a:ext uri="{FF2B5EF4-FFF2-40B4-BE49-F238E27FC236}">
                <a16:creationId xmlns:a16="http://schemas.microsoft.com/office/drawing/2014/main" id="{85C224FF-28E5-8453-96A8-962464D80330}"/>
              </a:ext>
            </a:extLst>
          </p:cNvPr>
          <p:cNvSpPr txBox="1"/>
          <p:nvPr/>
        </p:nvSpPr>
        <p:spPr>
          <a:xfrm>
            <a:off x="958215" y="2901821"/>
            <a:ext cx="467001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lang="cy-GB" sz="2200" b="1" dirty="0">
                <a:solidFill>
                  <a:srgbClr val="191919"/>
                </a:solidFill>
                <a:latin typeface="Cambria Math"/>
              </a:rPr>
              <a:t>Ou</a:t>
            </a:r>
          </a:p>
        </p:txBody>
      </p:sp>
      <p:sp>
        <p:nvSpPr>
          <p:cNvPr id="70" name="TextBox 60">
            <a:extLst>
              <a:ext uri="{FF2B5EF4-FFF2-40B4-BE49-F238E27FC236}">
                <a16:creationId xmlns:a16="http://schemas.microsoft.com/office/drawing/2014/main" id="{3433BE58-0C3E-5FAB-3382-B5A48DB6FAD7}"/>
              </a:ext>
            </a:extLst>
          </p:cNvPr>
          <p:cNvSpPr txBox="1"/>
          <p:nvPr/>
        </p:nvSpPr>
        <p:spPr>
          <a:xfrm>
            <a:off x="6106886" y="2901821"/>
            <a:ext cx="467001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lang="cy-GB" sz="2200" b="1" dirty="0">
                <a:solidFill>
                  <a:srgbClr val="191919"/>
                </a:solidFill>
                <a:latin typeface="Cambria Math"/>
              </a:rPr>
              <a:t>Ou</a:t>
            </a:r>
          </a:p>
        </p:txBody>
      </p:sp>
    </p:spTree>
    <p:extLst>
      <p:ext uri="{BB962C8B-B14F-4D97-AF65-F5344CB8AC3E}">
        <p14:creationId xmlns:p14="http://schemas.microsoft.com/office/powerpoint/2010/main" val="1871057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C14AE-4317-CBB1-B1C9-149E8D839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m 29">
            <a:extLst>
              <a:ext uri="{FF2B5EF4-FFF2-40B4-BE49-F238E27FC236}">
                <a16:creationId xmlns:a16="http://schemas.microsoft.com/office/drawing/2014/main" id="{90FB0378-3B35-79CC-531A-A85A0B4C7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AB9DCD8-0901-3183-1A4C-04E9209D7A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7732"/>
          <a:stretch>
            <a:fillRect/>
          </a:stretch>
        </p:blipFill>
        <p:spPr>
          <a:xfrm>
            <a:off x="466232" y="984587"/>
            <a:ext cx="5620534" cy="812659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9CCF37B9-6C91-23C4-441F-E22AEBD45D44}"/>
              </a:ext>
            </a:extLst>
          </p:cNvPr>
          <p:cNvSpPr txBox="1"/>
          <p:nvPr/>
        </p:nvSpPr>
        <p:spPr>
          <a:xfrm>
            <a:off x="6765517" y="1567207"/>
            <a:ext cx="784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n=m</a:t>
            </a:r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95F53C0-4A13-A568-8059-73044B3A7B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610DC043-E05F-04B0-9B5D-00E819B71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12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1EE00954-017D-542E-824C-3377E0073D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5517" y="1829347"/>
            <a:ext cx="4248743" cy="1914792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38C69934-7C61-C9E6-974A-67E8D5A6AA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6591" y="4192373"/>
            <a:ext cx="5882444" cy="1273256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2D71948A-BE05-34F3-E3FF-65D9730490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6147" y="5331757"/>
            <a:ext cx="4191585" cy="495369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00666A6F-6D4F-538C-E277-AB8D87CDEBD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05236" y="860620"/>
            <a:ext cx="5849166" cy="3962953"/>
          </a:xfrm>
          <a:prstGeom prst="rect">
            <a:avLst/>
          </a:prstGeom>
        </p:spPr>
      </p:pic>
      <p:sp>
        <p:nvSpPr>
          <p:cNvPr id="29" name="CaixaDeTexto 28">
            <a:extLst>
              <a:ext uri="{FF2B5EF4-FFF2-40B4-BE49-F238E27FC236}">
                <a16:creationId xmlns:a16="http://schemas.microsoft.com/office/drawing/2014/main" id="{89A00F6B-84CE-FFCE-5CA8-C4577A8E181F}"/>
              </a:ext>
            </a:extLst>
          </p:cNvPr>
          <p:cNvSpPr txBox="1"/>
          <p:nvPr/>
        </p:nvSpPr>
        <p:spPr>
          <a:xfrm>
            <a:off x="6423762" y="6076436"/>
            <a:ext cx="43216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b="1" dirty="0"/>
              <a:t>Calcule para qualquer x no intervalo!</a:t>
            </a:r>
            <a:endParaRPr lang="pt-BR" sz="2000" b="1" dirty="0"/>
          </a:p>
        </p:txBody>
      </p:sp>
      <p:pic>
        <p:nvPicPr>
          <p:cNvPr id="31" name="Imagem 30">
            <a:extLst>
              <a:ext uri="{FF2B5EF4-FFF2-40B4-BE49-F238E27FC236}">
                <a16:creationId xmlns:a16="http://schemas.microsoft.com/office/drawing/2014/main" id="{FF678007-D0B4-34A1-BBC3-279D1A909EC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a 4">
                <a:extLst>
                  <a:ext uri="{FF2B5EF4-FFF2-40B4-BE49-F238E27FC236}">
                    <a16:creationId xmlns:a16="http://schemas.microsoft.com/office/drawing/2014/main" id="{D87F9F4A-CF3C-712C-D124-D6117DDE5B5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20953919"/>
                  </p:ext>
                </p:extLst>
              </p:nvPr>
            </p:nvGraphicFramePr>
            <p:xfrm>
              <a:off x="526314" y="2357302"/>
              <a:ext cx="5500370" cy="4351337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361033">
                      <a:extLst>
                        <a:ext uri="{9D8B030D-6E8A-4147-A177-3AD203B41FA5}">
                          <a16:colId xmlns:a16="http://schemas.microsoft.com/office/drawing/2014/main" val="642600591"/>
                        </a:ext>
                      </a:extLst>
                    </a:gridCol>
                    <a:gridCol w="361033">
                      <a:extLst>
                        <a:ext uri="{9D8B030D-6E8A-4147-A177-3AD203B41FA5}">
                          <a16:colId xmlns:a16="http://schemas.microsoft.com/office/drawing/2014/main" val="2855559261"/>
                        </a:ext>
                      </a:extLst>
                    </a:gridCol>
                    <a:gridCol w="476812">
                      <a:extLst>
                        <a:ext uri="{9D8B030D-6E8A-4147-A177-3AD203B41FA5}">
                          <a16:colId xmlns:a16="http://schemas.microsoft.com/office/drawing/2014/main" val="4189039255"/>
                        </a:ext>
                      </a:extLst>
                    </a:gridCol>
                    <a:gridCol w="438748">
                      <a:extLst>
                        <a:ext uri="{9D8B030D-6E8A-4147-A177-3AD203B41FA5}">
                          <a16:colId xmlns:a16="http://schemas.microsoft.com/office/drawing/2014/main" val="2147059390"/>
                        </a:ext>
                      </a:extLst>
                    </a:gridCol>
                    <a:gridCol w="632240">
                      <a:extLst>
                        <a:ext uri="{9D8B030D-6E8A-4147-A177-3AD203B41FA5}">
                          <a16:colId xmlns:a16="http://schemas.microsoft.com/office/drawing/2014/main" val="1151365551"/>
                        </a:ext>
                      </a:extLst>
                    </a:gridCol>
                    <a:gridCol w="554526">
                      <a:extLst>
                        <a:ext uri="{9D8B030D-6E8A-4147-A177-3AD203B41FA5}">
                          <a16:colId xmlns:a16="http://schemas.microsoft.com/office/drawing/2014/main" val="354603961"/>
                        </a:ext>
                      </a:extLst>
                    </a:gridCol>
                    <a:gridCol w="879721">
                      <a:extLst>
                        <a:ext uri="{9D8B030D-6E8A-4147-A177-3AD203B41FA5}">
                          <a16:colId xmlns:a16="http://schemas.microsoft.com/office/drawing/2014/main" val="4157801977"/>
                        </a:ext>
                      </a:extLst>
                    </a:gridCol>
                    <a:gridCol w="954327">
                      <a:extLst>
                        <a:ext uri="{9D8B030D-6E8A-4147-A177-3AD203B41FA5}">
                          <a16:colId xmlns:a16="http://schemas.microsoft.com/office/drawing/2014/main" val="2973253639"/>
                        </a:ext>
                      </a:extLst>
                    </a:gridCol>
                    <a:gridCol w="841930">
                      <a:extLst>
                        <a:ext uri="{9D8B030D-6E8A-4147-A177-3AD203B41FA5}">
                          <a16:colId xmlns:a16="http://schemas.microsoft.com/office/drawing/2014/main" val="853750815"/>
                        </a:ext>
                      </a:extLst>
                    </a:gridCol>
                  </a:tblGrid>
                  <a:tr h="59217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sz="120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85436" marR="85436" marT="42718" marB="4271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pt-BR" sz="120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20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12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85436" marR="85436" marT="42718" marB="4271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pt-BR" sz="120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20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pt-BR" sz="12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/>
                        </a:p>
                      </a:txBody>
                      <a:tcPr marL="85436" marR="85436" marT="42718" marB="4271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pt-BR" sz="120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20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12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pt-BR" sz="12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pt-BR" sz="1200"/>
                        </a:p>
                      </a:txBody>
                      <a:tcPr marL="85436" marR="85436" marT="42718" marB="4271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pt-BR" sz="120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20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pt-BR" sz="12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pt-BR" sz="12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pt-BR" sz="1200"/>
                        </a:p>
                      </a:txBody>
                      <a:tcPr marL="85436" marR="85436" marT="42718" marB="4271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pt-BR" sz="120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20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12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pt-BR" sz="120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20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pt-BR" sz="12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marL="85436" marR="85436" marT="42718" marB="4271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pt-BR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pt-BR" sz="12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pt-BR" sz="120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pt-BR" sz="12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pt-BR" sz="12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pt-BR" sz="120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pt-BR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pt-BR" sz="12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20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pt-BR" sz="12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pt-BR" sz="1200"/>
                        </a:p>
                      </a:txBody>
                      <a:tcPr marL="85436" marR="85436" marT="42718" marB="4271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pt-BR" sz="120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20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pt-BR" sz="12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pt-BR" sz="12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pt-BR" sz="120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20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pt-BR" sz="12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pt-BR" sz="12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pt-BR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pt-BR" sz="12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pt-BR" sz="120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pt-BR" sz="12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/>
                        </a:p>
                      </a:txBody>
                      <a:tcPr marL="85436" marR="85436" marT="42718" marB="4271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pt-BR" sz="120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pt-BR" sz="120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pt-BR" sz="12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pt-BR" sz="12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pt-BR" sz="1200"/>
                        </a:p>
                      </a:txBody>
                      <a:tcPr marL="85436" marR="85436" marT="42718" marB="42718" anchor="ctr"/>
                    </a:tc>
                    <a:extLst>
                      <a:ext uri="{0D108BD9-81ED-4DB2-BD59-A6C34878D82A}">
                        <a16:rowId xmlns:a16="http://schemas.microsoft.com/office/drawing/2014/main" val="3401199067"/>
                      </a:ext>
                    </a:extLst>
                  </a:tr>
                  <a:tr h="34174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1</a:t>
                          </a:r>
                        </a:p>
                      </a:txBody>
                      <a:tcPr marL="85436" marR="85436" marT="42718" marB="4271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 dirty="0"/>
                            <a:t>1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1,3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1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1,69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1,3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1,178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0,122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0,01484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8462994"/>
                      </a:ext>
                    </a:extLst>
                  </a:tr>
                  <a:tr h="34174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2</a:t>
                          </a:r>
                        </a:p>
                      </a:txBody>
                      <a:tcPr marL="85436" marR="85436" marT="42718" marB="4271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2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 dirty="0"/>
                            <a:t>3,5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 dirty="0"/>
                            <a:t>4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12,25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7,0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2,716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0,784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0,61409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2378151"/>
                      </a:ext>
                    </a:extLst>
                  </a:tr>
                  <a:tr h="34174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3</a:t>
                          </a:r>
                        </a:p>
                      </a:txBody>
                      <a:tcPr marL="85436" marR="85436" marT="42718" marB="4271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 dirty="0"/>
                            <a:t>3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4,2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 dirty="0"/>
                            <a:t>9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17,64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12,6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4,255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-0,055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0,00298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9930080"/>
                      </a:ext>
                    </a:extLst>
                  </a:tr>
                  <a:tr h="34174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4</a:t>
                          </a:r>
                        </a:p>
                      </a:txBody>
                      <a:tcPr marL="85436" marR="85436" marT="42718" marB="4271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4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5,0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16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 dirty="0"/>
                            <a:t>25,00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20,0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5,793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-0,793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0,62842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1607473"/>
                      </a:ext>
                    </a:extLst>
                  </a:tr>
                  <a:tr h="34174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5</a:t>
                          </a:r>
                        </a:p>
                      </a:txBody>
                      <a:tcPr marL="85436" marR="85436" marT="42718" marB="4271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5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7,0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25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49,00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 dirty="0"/>
                            <a:t>35,0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7,331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-0,331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0,10950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3439585"/>
                      </a:ext>
                    </a:extLst>
                  </a:tr>
                  <a:tr h="34174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6</a:t>
                          </a:r>
                        </a:p>
                      </a:txBody>
                      <a:tcPr marL="85436" marR="85436" marT="42718" marB="4271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6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8,8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36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77,44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 dirty="0"/>
                            <a:t>52,8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 dirty="0"/>
                            <a:t>8,869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-0,069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0,00477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8503424"/>
                      </a:ext>
                    </a:extLst>
                  </a:tr>
                  <a:tr h="34174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7</a:t>
                          </a:r>
                        </a:p>
                      </a:txBody>
                      <a:tcPr marL="85436" marR="85436" marT="42718" marB="4271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7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10,1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49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102,01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70,7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 dirty="0"/>
                            <a:t>10,407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 dirty="0"/>
                            <a:t>-0,307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0,09442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4548920"/>
                      </a:ext>
                    </a:extLst>
                  </a:tr>
                  <a:tr h="34174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8</a:t>
                          </a:r>
                        </a:p>
                      </a:txBody>
                      <a:tcPr marL="85436" marR="85436" marT="42718" marB="4271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8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12,5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64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156,25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100,0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 dirty="0"/>
                            <a:t>11,945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 dirty="0"/>
                            <a:t>0,555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 dirty="0"/>
                            <a:t>0,30752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3520060"/>
                      </a:ext>
                    </a:extLst>
                  </a:tr>
                  <a:tr h="34174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9</a:t>
                          </a:r>
                        </a:p>
                      </a:txBody>
                      <a:tcPr marL="85436" marR="85436" marT="42718" marB="4271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9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13,0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81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169,00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117,0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13,484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 dirty="0"/>
                            <a:t>-0,484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 dirty="0"/>
                            <a:t>0,23390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27776092"/>
                      </a:ext>
                    </a:extLst>
                  </a:tr>
                  <a:tr h="34174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10</a:t>
                          </a:r>
                        </a:p>
                      </a:txBody>
                      <a:tcPr marL="85436" marR="85436" marT="42718" marB="4271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10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15,6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100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243,36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156,0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15,022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 dirty="0"/>
                            <a:t>0,578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 dirty="0"/>
                            <a:t>0,33429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89097781"/>
                      </a:ext>
                    </a:extLst>
                  </a:tr>
                  <a:tr h="34174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Σ</a:t>
                          </a:r>
                        </a:p>
                      </a:txBody>
                      <a:tcPr marL="85436" marR="85436" marT="42718" marB="4271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55</a:t>
                          </a:r>
                        </a:p>
                      </a:txBody>
                      <a:tcPr marL="85436" marR="85436" marT="42718" marB="4271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81,0</a:t>
                          </a:r>
                        </a:p>
                      </a:txBody>
                      <a:tcPr marL="85436" marR="85436" marT="42718" marB="4271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385</a:t>
                          </a:r>
                        </a:p>
                      </a:txBody>
                      <a:tcPr marL="85436" marR="85436" marT="42718" marB="4271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853,64</a:t>
                          </a:r>
                        </a:p>
                      </a:txBody>
                      <a:tcPr marL="85436" marR="85436" marT="42718" marB="4271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572,4</a:t>
                          </a:r>
                        </a:p>
                      </a:txBody>
                      <a:tcPr marL="85436" marR="85436" marT="42718" marB="4271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81,000</a:t>
                          </a:r>
                        </a:p>
                      </a:txBody>
                      <a:tcPr marL="85436" marR="85436" marT="42718" marB="4271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≈ 0</a:t>
                          </a:r>
                        </a:p>
                      </a:txBody>
                      <a:tcPr marL="85436" marR="85436" marT="42718" marB="4271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 dirty="0"/>
                            <a:t>2,34473</a:t>
                          </a:r>
                        </a:p>
                      </a:txBody>
                      <a:tcPr marL="85436" marR="85436" marT="42718" marB="42718" anchor="ctr"/>
                    </a:tc>
                    <a:extLst>
                      <a:ext uri="{0D108BD9-81ED-4DB2-BD59-A6C34878D82A}">
                        <a16:rowId xmlns:a16="http://schemas.microsoft.com/office/drawing/2014/main" val="39985143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a 4">
                <a:extLst>
                  <a:ext uri="{FF2B5EF4-FFF2-40B4-BE49-F238E27FC236}">
                    <a16:creationId xmlns:a16="http://schemas.microsoft.com/office/drawing/2014/main" id="{D87F9F4A-CF3C-712C-D124-D6117DDE5B5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20953919"/>
                  </p:ext>
                </p:extLst>
              </p:nvPr>
            </p:nvGraphicFramePr>
            <p:xfrm>
              <a:off x="526314" y="2357302"/>
              <a:ext cx="5500370" cy="4351337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361033">
                      <a:extLst>
                        <a:ext uri="{9D8B030D-6E8A-4147-A177-3AD203B41FA5}">
                          <a16:colId xmlns:a16="http://schemas.microsoft.com/office/drawing/2014/main" val="642600591"/>
                        </a:ext>
                      </a:extLst>
                    </a:gridCol>
                    <a:gridCol w="361033">
                      <a:extLst>
                        <a:ext uri="{9D8B030D-6E8A-4147-A177-3AD203B41FA5}">
                          <a16:colId xmlns:a16="http://schemas.microsoft.com/office/drawing/2014/main" val="2855559261"/>
                        </a:ext>
                      </a:extLst>
                    </a:gridCol>
                    <a:gridCol w="476812">
                      <a:extLst>
                        <a:ext uri="{9D8B030D-6E8A-4147-A177-3AD203B41FA5}">
                          <a16:colId xmlns:a16="http://schemas.microsoft.com/office/drawing/2014/main" val="4189039255"/>
                        </a:ext>
                      </a:extLst>
                    </a:gridCol>
                    <a:gridCol w="438748">
                      <a:extLst>
                        <a:ext uri="{9D8B030D-6E8A-4147-A177-3AD203B41FA5}">
                          <a16:colId xmlns:a16="http://schemas.microsoft.com/office/drawing/2014/main" val="2147059390"/>
                        </a:ext>
                      </a:extLst>
                    </a:gridCol>
                    <a:gridCol w="632240">
                      <a:extLst>
                        <a:ext uri="{9D8B030D-6E8A-4147-A177-3AD203B41FA5}">
                          <a16:colId xmlns:a16="http://schemas.microsoft.com/office/drawing/2014/main" val="1151365551"/>
                        </a:ext>
                      </a:extLst>
                    </a:gridCol>
                    <a:gridCol w="554526">
                      <a:extLst>
                        <a:ext uri="{9D8B030D-6E8A-4147-A177-3AD203B41FA5}">
                          <a16:colId xmlns:a16="http://schemas.microsoft.com/office/drawing/2014/main" val="354603961"/>
                        </a:ext>
                      </a:extLst>
                    </a:gridCol>
                    <a:gridCol w="879721">
                      <a:extLst>
                        <a:ext uri="{9D8B030D-6E8A-4147-A177-3AD203B41FA5}">
                          <a16:colId xmlns:a16="http://schemas.microsoft.com/office/drawing/2014/main" val="4157801977"/>
                        </a:ext>
                      </a:extLst>
                    </a:gridCol>
                    <a:gridCol w="954327">
                      <a:extLst>
                        <a:ext uri="{9D8B030D-6E8A-4147-A177-3AD203B41FA5}">
                          <a16:colId xmlns:a16="http://schemas.microsoft.com/office/drawing/2014/main" val="2973253639"/>
                        </a:ext>
                      </a:extLst>
                    </a:gridCol>
                    <a:gridCol w="841930">
                      <a:extLst>
                        <a:ext uri="{9D8B030D-6E8A-4147-A177-3AD203B41FA5}">
                          <a16:colId xmlns:a16="http://schemas.microsoft.com/office/drawing/2014/main" val="853750815"/>
                        </a:ext>
                      </a:extLst>
                    </a:gridCol>
                  </a:tblGrid>
                  <a:tr h="592175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436" marR="85436" marT="42718" marB="42718" anchor="ctr">
                        <a:blipFill>
                          <a:blip r:embed="rId11"/>
                          <a:stretch>
                            <a:fillRect l="-1695" t="-1031" r="-1433898" b="-639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436" marR="85436" marT="42718" marB="42718" anchor="ctr">
                        <a:blipFill>
                          <a:blip r:embed="rId11"/>
                          <a:stretch>
                            <a:fillRect l="-100000" t="-1031" r="-1310000" b="-639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436" marR="85436" marT="42718" marB="42718" anchor="ctr">
                        <a:blipFill>
                          <a:blip r:embed="rId11"/>
                          <a:stretch>
                            <a:fillRect l="-153846" t="-1031" r="-907692" b="-639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436" marR="85436" marT="42718" marB="42718" anchor="ctr">
                        <a:blipFill>
                          <a:blip r:embed="rId11"/>
                          <a:stretch>
                            <a:fillRect l="-275000" t="-1031" r="-883333" b="-639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436" marR="85436" marT="42718" marB="42718" anchor="ctr">
                        <a:blipFill>
                          <a:blip r:embed="rId11"/>
                          <a:stretch>
                            <a:fillRect l="-259615" t="-1031" r="-511538" b="-639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436" marR="85436" marT="42718" marB="42718" anchor="ctr">
                        <a:blipFill>
                          <a:blip r:embed="rId11"/>
                          <a:stretch>
                            <a:fillRect l="-410989" t="-1031" r="-484615" b="-639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436" marR="85436" marT="42718" marB="42718" anchor="ctr">
                        <a:blipFill>
                          <a:blip r:embed="rId11"/>
                          <a:stretch>
                            <a:fillRect l="-322917" t="-1031" r="-206250" b="-639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436" marR="85436" marT="42718" marB="42718" anchor="ctr">
                        <a:blipFill>
                          <a:blip r:embed="rId11"/>
                          <a:stretch>
                            <a:fillRect l="-387898" t="-1031" r="-89172" b="-639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85436" marR="85436" marT="42718" marB="42718" anchor="ctr">
                        <a:blipFill>
                          <a:blip r:embed="rId11"/>
                          <a:stretch>
                            <a:fillRect l="-555072" t="-1031" r="-1449" b="-6391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01199067"/>
                      </a:ext>
                    </a:extLst>
                  </a:tr>
                  <a:tr h="34174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1</a:t>
                          </a:r>
                        </a:p>
                      </a:txBody>
                      <a:tcPr marL="85436" marR="85436" marT="42718" marB="4271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 dirty="0"/>
                            <a:t>1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1,3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1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1,69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1,3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1,178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0,122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0,01484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8462994"/>
                      </a:ext>
                    </a:extLst>
                  </a:tr>
                  <a:tr h="34174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2</a:t>
                          </a:r>
                        </a:p>
                      </a:txBody>
                      <a:tcPr marL="85436" marR="85436" marT="42718" marB="4271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2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 dirty="0"/>
                            <a:t>3,5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 dirty="0"/>
                            <a:t>4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12,25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7,0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2,716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0,784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0,61409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2378151"/>
                      </a:ext>
                    </a:extLst>
                  </a:tr>
                  <a:tr h="34174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3</a:t>
                          </a:r>
                        </a:p>
                      </a:txBody>
                      <a:tcPr marL="85436" marR="85436" marT="42718" marB="4271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 dirty="0"/>
                            <a:t>3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4,2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 dirty="0"/>
                            <a:t>9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17,64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12,6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4,255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-0,055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0,00298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9930080"/>
                      </a:ext>
                    </a:extLst>
                  </a:tr>
                  <a:tr h="34174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4</a:t>
                          </a:r>
                        </a:p>
                      </a:txBody>
                      <a:tcPr marL="85436" marR="85436" marT="42718" marB="4271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4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5,0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16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 dirty="0"/>
                            <a:t>25,00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20,0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5,793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-0,793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0,62842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1607473"/>
                      </a:ext>
                    </a:extLst>
                  </a:tr>
                  <a:tr h="34174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5</a:t>
                          </a:r>
                        </a:p>
                      </a:txBody>
                      <a:tcPr marL="85436" marR="85436" marT="42718" marB="4271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5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7,0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25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49,00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 dirty="0"/>
                            <a:t>35,0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7,331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-0,331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0,10950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3439585"/>
                      </a:ext>
                    </a:extLst>
                  </a:tr>
                  <a:tr h="34174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6</a:t>
                          </a:r>
                        </a:p>
                      </a:txBody>
                      <a:tcPr marL="85436" marR="85436" marT="42718" marB="4271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6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8,8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36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77,44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 dirty="0"/>
                            <a:t>52,8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 dirty="0"/>
                            <a:t>8,869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-0,069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0,00477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8503424"/>
                      </a:ext>
                    </a:extLst>
                  </a:tr>
                  <a:tr h="34174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7</a:t>
                          </a:r>
                        </a:p>
                      </a:txBody>
                      <a:tcPr marL="85436" marR="85436" marT="42718" marB="4271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7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10,1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49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102,01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70,7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 dirty="0"/>
                            <a:t>10,407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 dirty="0"/>
                            <a:t>-0,307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0,09442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4548920"/>
                      </a:ext>
                    </a:extLst>
                  </a:tr>
                  <a:tr h="34174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8</a:t>
                          </a:r>
                        </a:p>
                      </a:txBody>
                      <a:tcPr marL="85436" marR="85436" marT="42718" marB="4271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8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12,5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64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156,25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100,0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 dirty="0"/>
                            <a:t>11,945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 dirty="0"/>
                            <a:t>0,555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 dirty="0"/>
                            <a:t>0,30752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3520060"/>
                      </a:ext>
                    </a:extLst>
                  </a:tr>
                  <a:tr h="34174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9</a:t>
                          </a:r>
                        </a:p>
                      </a:txBody>
                      <a:tcPr marL="85436" marR="85436" marT="42718" marB="4271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9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13,0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81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169,00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117,0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13,484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 dirty="0"/>
                            <a:t>-0,484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 dirty="0"/>
                            <a:t>0,23390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27776092"/>
                      </a:ext>
                    </a:extLst>
                  </a:tr>
                  <a:tr h="34174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10</a:t>
                          </a:r>
                        </a:p>
                      </a:txBody>
                      <a:tcPr marL="85436" marR="85436" marT="42718" marB="4271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10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15,6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100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243,36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156,0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15,022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 dirty="0"/>
                            <a:t>0,578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 dirty="0"/>
                            <a:t>0,33429</a:t>
                          </a:r>
                        </a:p>
                      </a:txBody>
                      <a:tcPr marL="85436" marR="85436" marT="42718" marB="42718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89097781"/>
                      </a:ext>
                    </a:extLst>
                  </a:tr>
                  <a:tr h="34174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Σ</a:t>
                          </a:r>
                        </a:p>
                      </a:txBody>
                      <a:tcPr marL="85436" marR="85436" marT="42718" marB="4271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55</a:t>
                          </a:r>
                        </a:p>
                      </a:txBody>
                      <a:tcPr marL="85436" marR="85436" marT="42718" marB="4271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81,0</a:t>
                          </a:r>
                        </a:p>
                      </a:txBody>
                      <a:tcPr marL="85436" marR="85436" marT="42718" marB="4271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385</a:t>
                          </a:r>
                        </a:p>
                      </a:txBody>
                      <a:tcPr marL="85436" marR="85436" marT="42718" marB="4271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853,64</a:t>
                          </a:r>
                        </a:p>
                      </a:txBody>
                      <a:tcPr marL="85436" marR="85436" marT="42718" marB="4271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572,4</a:t>
                          </a:r>
                        </a:p>
                      </a:txBody>
                      <a:tcPr marL="85436" marR="85436" marT="42718" marB="4271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81,000</a:t>
                          </a:r>
                        </a:p>
                      </a:txBody>
                      <a:tcPr marL="85436" marR="85436" marT="42718" marB="4271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/>
                            <a:t>≈ 0</a:t>
                          </a:r>
                        </a:p>
                      </a:txBody>
                      <a:tcPr marL="85436" marR="85436" marT="42718" marB="42718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pt-BR" sz="1200" dirty="0"/>
                            <a:t>2,34473</a:t>
                          </a:r>
                        </a:p>
                      </a:txBody>
                      <a:tcPr marL="85436" marR="85436" marT="42718" marB="42718" anchor="ctr"/>
                    </a:tc>
                    <a:extLst>
                      <a:ext uri="{0D108BD9-81ED-4DB2-BD59-A6C34878D82A}">
                        <a16:rowId xmlns:a16="http://schemas.microsoft.com/office/drawing/2014/main" val="399851435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" name="Imagem 9">
            <a:extLst>
              <a:ext uri="{FF2B5EF4-FFF2-40B4-BE49-F238E27FC236}">
                <a16:creationId xmlns:a16="http://schemas.microsoft.com/office/drawing/2014/main" id="{65F2D765-CA20-893D-D6D6-E0B344290E3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6373" y="1837010"/>
            <a:ext cx="5710721" cy="40847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B788543-70DC-F524-43BC-078F6C463854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Regressão Linear - Resolução</a:t>
            </a:r>
          </a:p>
        </p:txBody>
      </p:sp>
    </p:spTree>
    <p:extLst>
      <p:ext uri="{BB962C8B-B14F-4D97-AF65-F5344CB8AC3E}">
        <p14:creationId xmlns:p14="http://schemas.microsoft.com/office/powerpoint/2010/main" val="177211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8B4E5-7E3A-8609-32E8-AF1901DAE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m 29">
            <a:extLst>
              <a:ext uri="{FF2B5EF4-FFF2-40B4-BE49-F238E27FC236}">
                <a16:creationId xmlns:a16="http://schemas.microsoft.com/office/drawing/2014/main" id="{F0F717E7-7239-97AE-0251-E1626DEAE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C72650F2-9274-E3CA-B412-85094CB2D7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A672C079-EE8C-4868-1596-73296F85CBD2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Regressão Linear - Resolução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321F8B3D-1B73-FE91-2DB4-84D2E6479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13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31" name="Imagem 30">
            <a:extLst>
              <a:ext uri="{FF2B5EF4-FFF2-40B4-BE49-F238E27FC236}">
                <a16:creationId xmlns:a16="http://schemas.microsoft.com/office/drawing/2014/main" id="{07363185-C532-3867-E352-DBCBAB65A2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6E017F54-3C15-0C60-69EE-41448D9715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8746" y="1662475"/>
            <a:ext cx="7259063" cy="470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88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600E6-EE5F-892D-8A97-4F15B4477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magem 30">
            <a:extLst>
              <a:ext uri="{FF2B5EF4-FFF2-40B4-BE49-F238E27FC236}">
                <a16:creationId xmlns:a16="http://schemas.microsoft.com/office/drawing/2014/main" id="{2C1837B1-9B51-39CD-E367-E9BC163CB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81E40A3D-A844-2E9B-2DC0-52FC7DAE6FA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6" t="1429" r="-216"/>
          <a:stretch>
            <a:fillRect/>
          </a:stretch>
        </p:blipFill>
        <p:spPr>
          <a:xfrm>
            <a:off x="429985" y="97971"/>
            <a:ext cx="5034643" cy="6760029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9E3E8768-070A-F4D3-1172-2BA07B181D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427" y="123143"/>
            <a:ext cx="6001588" cy="640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0922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1BA91-594D-9824-B10B-290880803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27995BD-4B24-ACB7-E33F-26F966109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0F9F6A13-5987-784D-0F2D-6FBB97431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15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31" name="Imagem 30">
            <a:extLst>
              <a:ext uri="{FF2B5EF4-FFF2-40B4-BE49-F238E27FC236}">
                <a16:creationId xmlns:a16="http://schemas.microsoft.com/office/drawing/2014/main" id="{57A04B37-23FB-5FF6-E900-17ACBCC37B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E2DED1E-AEA8-5D19-B8FB-D44BF8AD2E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360" y="471074"/>
            <a:ext cx="5020376" cy="591585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6C47380D-1908-80B4-B558-E9DBBAD1EF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7228" y="942504"/>
            <a:ext cx="6211167" cy="343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0641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335D6-A4D9-57F9-8D0C-7CE2E8B77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2D3563-976C-3C52-2940-205237356B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4554A0C4-9306-169E-701F-4E2D390ADD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EBC382A-198F-3969-959C-715E1A84BB6F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5760"/>
              </a:lnSpc>
            </a:pPr>
            <a:r>
              <a:rPr sz="3800">
                <a:solidFill>
                  <a:srgbClr val="003D59"/>
                </a:solidFill>
                <a:latin typeface="Aptos Display"/>
              </a:rPr>
              <a:t>Regressão Linear - Métricas I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28616E5-809C-1CFC-BF21-E3EF7E244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16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03C8863-BB93-6031-1BE4-D6D64FA98F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005840"/>
            <a:ext cx="10789920" cy="384048"/>
          </a:xfrm>
          <a:prstGeom prst="rect">
            <a:avLst/>
          </a:prstGeom>
          <a:noFill/>
        </p:spPr>
        <p:txBody>
          <a:bodyPr wrap="square" tIns="54864" bIns="54864" anchor="t">
            <a:spAutoFit/>
          </a:bodyPr>
          <a:lstStyle/>
          <a:p>
            <a:pPr algn="l"/>
            <a:r>
              <a:rPr sz="1900" b="1">
                <a:solidFill>
                  <a:srgbClr val="003D59"/>
                </a:solidFill>
                <a:latin typeface="Aptos"/>
              </a:rPr>
              <a:t>Da tabela de resíduos para as métricas de erro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44752"/>
            <a:ext cx="5166360" cy="58521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l"/>
            <a:r>
              <a:rPr sz="1600" b="0">
                <a:solidFill>
                  <a:srgbClr val="191919"/>
                </a:solidFill>
                <a:latin typeface="Aptos"/>
              </a:rPr>
              <a:t>A ideia é sempre a mesma: comparar o valor real com o valor previsto.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1444752"/>
            <a:ext cx="5440680" cy="58521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l"/>
            <a:r>
              <a:rPr sz="1600" b="1">
                <a:solidFill>
                  <a:srgbClr val="003D59"/>
                </a:solidFill>
                <a:latin typeface="Aptos"/>
              </a:rPr>
              <a:t>No exemplo: ŷ = -0,360 + 1,538x  e  SSE = Σeᵢ² = 2,34473.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240280"/>
            <a:ext cx="1005840" cy="530352"/>
          </a:xfrm>
          <a:prstGeom prst="roundRect">
            <a:avLst/>
          </a:prstGeom>
          <a:solidFill>
            <a:srgbClr val="387A37"/>
          </a:solidFill>
          <a:ln>
            <a:solidFill>
              <a:srgbClr val="387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MAE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54480" y="2240280"/>
            <a:ext cx="2926080" cy="530352"/>
          </a:xfrm>
          <a:prstGeom prst="roundRect">
            <a:avLst/>
          </a:prstGeom>
          <a:solidFill>
            <a:srgbClr val="EBEFF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l"/>
            <a:r>
              <a:rPr sz="1400" b="0">
                <a:solidFill>
                  <a:srgbClr val="191919"/>
                </a:solidFill>
                <a:latin typeface="Aptos"/>
              </a:rPr>
              <a:t>MAE = (1/n) Σ |eᵢ|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53712" y="2240280"/>
            <a:ext cx="11430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500" b="1">
                <a:solidFill>
                  <a:srgbClr val="003D59"/>
                </a:solidFill>
                <a:latin typeface="Aptos"/>
              </a:rPr>
              <a:t>0,408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79008" y="2240280"/>
            <a:ext cx="5852160" cy="53035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l"/>
            <a:r>
              <a:rPr sz="1400" b="0">
                <a:solidFill>
                  <a:srgbClr val="191919"/>
                </a:solidFill>
                <a:latin typeface="Aptos"/>
              </a:rPr>
              <a:t>Quanto o modelo erra normalmente, na unidade de 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907792"/>
            <a:ext cx="1005840" cy="530352"/>
          </a:xfrm>
          <a:prstGeom prst="roundRect">
            <a:avLst/>
          </a:prstGeom>
          <a:solidFill>
            <a:srgbClr val="EB9121"/>
          </a:solidFill>
          <a:ln>
            <a:solidFill>
              <a:srgbClr val="EB9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MSE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54480" y="2907792"/>
            <a:ext cx="2926080" cy="530352"/>
          </a:xfrm>
          <a:prstGeom prst="roundRect">
            <a:avLst/>
          </a:prstGeom>
          <a:solidFill>
            <a:srgbClr val="EBEFF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l"/>
            <a:r>
              <a:rPr sz="1400" b="0">
                <a:solidFill>
                  <a:srgbClr val="191919"/>
                </a:solidFill>
                <a:latin typeface="Aptos"/>
              </a:rPr>
              <a:t>MSE = SSE / 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53712" y="2907792"/>
            <a:ext cx="11430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500" b="1">
                <a:solidFill>
                  <a:srgbClr val="003D59"/>
                </a:solidFill>
                <a:latin typeface="Aptos"/>
              </a:rPr>
              <a:t>0,234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79008" y="2907792"/>
            <a:ext cx="5852160" cy="53035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l"/>
            <a:r>
              <a:rPr sz="1400" b="0">
                <a:solidFill>
                  <a:srgbClr val="191919"/>
                </a:solidFill>
                <a:latin typeface="Aptos"/>
              </a:rPr>
              <a:t>Média dos erros ao quadrado; útil para otimização, pouco intuitivo.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575304"/>
            <a:ext cx="1005840" cy="530352"/>
          </a:xfrm>
          <a:prstGeom prst="roundRect">
            <a:avLst/>
          </a:prstGeom>
          <a:solidFill>
            <a:srgbClr val="3C71AA"/>
          </a:solidFill>
          <a:ln>
            <a:solidFill>
              <a:srgbClr val="3C71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RMSE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54480" y="3575304"/>
            <a:ext cx="2926080" cy="530352"/>
          </a:xfrm>
          <a:prstGeom prst="roundRect">
            <a:avLst/>
          </a:prstGeom>
          <a:solidFill>
            <a:srgbClr val="EBEFF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l"/>
            <a:r>
              <a:rPr sz="1400" b="0">
                <a:solidFill>
                  <a:srgbClr val="191919"/>
                </a:solidFill>
                <a:latin typeface="Aptos"/>
              </a:rPr>
              <a:t>RMSE = √MSE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53712" y="3575304"/>
            <a:ext cx="11430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500" b="1">
                <a:solidFill>
                  <a:srgbClr val="003D59"/>
                </a:solidFill>
                <a:latin typeface="Aptos"/>
              </a:rPr>
              <a:t>0,484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79008" y="3575304"/>
            <a:ext cx="5852160" cy="53035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l"/>
            <a:r>
              <a:rPr sz="1400" b="0">
                <a:solidFill>
                  <a:srgbClr val="191919"/>
                </a:solidFill>
                <a:latin typeface="Aptos"/>
              </a:rPr>
              <a:t>Erro típico com maior peso para erros grandes; volta para a unidade de 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434839"/>
            <a:ext cx="5257800" cy="1181181"/>
          </a:xfrm>
          <a:prstGeom prst="roundRect">
            <a:avLst/>
          </a:prstGeom>
          <a:solidFill>
            <a:srgbClr val="EEF7EE"/>
          </a:solidFill>
          <a:ln w="12700">
            <a:solidFill>
              <a:srgbClr val="387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/>
          <a:lstStyle/>
          <a:p>
            <a:pPr algn="l"/>
            <a:r>
              <a:rPr sz="1500" b="0" dirty="0">
                <a:solidFill>
                  <a:srgbClr val="191919"/>
                </a:solidFill>
                <a:latin typeface="Aptos"/>
              </a:rPr>
              <a:t>Frase de </a:t>
            </a:r>
            <a:r>
              <a:rPr sz="1500" b="0" dirty="0" err="1">
                <a:solidFill>
                  <a:srgbClr val="191919"/>
                </a:solidFill>
                <a:latin typeface="Aptos"/>
              </a:rPr>
              <a:t>leitura</a:t>
            </a:r>
            <a:r>
              <a:rPr sz="1500" b="0" dirty="0">
                <a:solidFill>
                  <a:srgbClr val="191919"/>
                </a:solidFill>
                <a:latin typeface="Aptos"/>
              </a:rPr>
              <a:t> do </a:t>
            </a:r>
            <a:r>
              <a:rPr sz="1500" b="0" dirty="0" err="1">
                <a:solidFill>
                  <a:srgbClr val="191919"/>
                </a:solidFill>
                <a:latin typeface="Aptos"/>
              </a:rPr>
              <a:t>exemplo</a:t>
            </a:r>
            <a:r>
              <a:rPr sz="1500" b="0" dirty="0">
                <a:solidFill>
                  <a:srgbClr val="191919"/>
                </a:solidFill>
                <a:latin typeface="Aptos"/>
              </a:rPr>
              <a:t>:
“O </a:t>
            </a:r>
            <a:r>
              <a:rPr sz="1500" b="0" dirty="0" err="1">
                <a:solidFill>
                  <a:srgbClr val="191919"/>
                </a:solidFill>
                <a:latin typeface="Aptos"/>
              </a:rPr>
              <a:t>modelo</a:t>
            </a:r>
            <a:r>
              <a:rPr sz="1500" b="0" dirty="0">
                <a:solidFill>
                  <a:srgbClr val="191919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191919"/>
                </a:solidFill>
                <a:latin typeface="Aptos"/>
              </a:rPr>
              <a:t>erra</a:t>
            </a:r>
            <a:r>
              <a:rPr sz="1500" b="0" dirty="0">
                <a:solidFill>
                  <a:srgbClr val="191919"/>
                </a:solidFill>
                <a:latin typeface="Aptos"/>
              </a:rPr>
              <a:t>, </a:t>
            </a:r>
            <a:r>
              <a:rPr sz="1500" b="0" dirty="0" err="1">
                <a:solidFill>
                  <a:srgbClr val="191919"/>
                </a:solidFill>
                <a:latin typeface="Aptos"/>
              </a:rPr>
              <a:t>em</a:t>
            </a:r>
            <a:r>
              <a:rPr sz="1500" b="0" dirty="0">
                <a:solidFill>
                  <a:srgbClr val="191919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191919"/>
                </a:solidFill>
                <a:latin typeface="Aptos"/>
              </a:rPr>
              <a:t>média</a:t>
            </a:r>
            <a:r>
              <a:rPr sz="1500" b="0" dirty="0">
                <a:solidFill>
                  <a:srgbClr val="191919"/>
                </a:solidFill>
                <a:latin typeface="Aptos"/>
              </a:rPr>
              <a:t>, </a:t>
            </a:r>
            <a:r>
              <a:rPr sz="1500" b="0" dirty="0" err="1">
                <a:solidFill>
                  <a:srgbClr val="191919"/>
                </a:solidFill>
                <a:latin typeface="Aptos"/>
              </a:rPr>
              <a:t>cerca</a:t>
            </a:r>
            <a:r>
              <a:rPr sz="1500" b="0" dirty="0">
                <a:solidFill>
                  <a:srgbClr val="191919"/>
                </a:solidFill>
                <a:latin typeface="Aptos"/>
              </a:rPr>
              <a:t> de 0,41 </a:t>
            </a:r>
            <a:r>
              <a:rPr sz="1500" b="0" dirty="0" err="1">
                <a:solidFill>
                  <a:srgbClr val="191919"/>
                </a:solidFill>
                <a:latin typeface="Aptos"/>
              </a:rPr>
              <a:t>unidade</a:t>
            </a:r>
            <a:r>
              <a:rPr sz="1500" b="0" dirty="0">
                <a:solidFill>
                  <a:srgbClr val="191919"/>
                </a:solidFill>
                <a:latin typeface="Aptos"/>
              </a:rPr>
              <a:t> de y; </a:t>
            </a:r>
            <a:r>
              <a:rPr sz="1500" b="0" dirty="0" err="1">
                <a:solidFill>
                  <a:srgbClr val="191919"/>
                </a:solidFill>
                <a:latin typeface="Aptos"/>
              </a:rPr>
              <a:t>pelo</a:t>
            </a:r>
            <a:r>
              <a:rPr sz="1500" b="0" dirty="0">
                <a:solidFill>
                  <a:srgbClr val="191919"/>
                </a:solidFill>
                <a:latin typeface="Aptos"/>
              </a:rPr>
              <a:t> RMSE, o </a:t>
            </a:r>
            <a:r>
              <a:rPr sz="1500" b="0" dirty="0" err="1">
                <a:solidFill>
                  <a:srgbClr val="191919"/>
                </a:solidFill>
                <a:latin typeface="Aptos"/>
              </a:rPr>
              <a:t>erro</a:t>
            </a:r>
            <a:r>
              <a:rPr sz="1500" b="0" dirty="0">
                <a:solidFill>
                  <a:srgbClr val="191919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191919"/>
                </a:solidFill>
                <a:latin typeface="Aptos"/>
              </a:rPr>
              <a:t>típico</a:t>
            </a:r>
            <a:r>
              <a:rPr sz="1500" b="0" dirty="0">
                <a:solidFill>
                  <a:srgbClr val="191919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191919"/>
                </a:solidFill>
                <a:latin typeface="Aptos"/>
              </a:rPr>
              <a:t>fica</a:t>
            </a:r>
            <a:r>
              <a:rPr sz="1500" b="0" dirty="0">
                <a:solidFill>
                  <a:srgbClr val="191919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191919"/>
                </a:solidFill>
                <a:latin typeface="Aptos"/>
              </a:rPr>
              <a:t>perto</a:t>
            </a:r>
            <a:r>
              <a:rPr sz="1500" b="0" dirty="0">
                <a:solidFill>
                  <a:srgbClr val="191919"/>
                </a:solidFill>
                <a:latin typeface="Aptos"/>
              </a:rPr>
              <a:t> de 0,48 </a:t>
            </a:r>
            <a:r>
              <a:rPr sz="1500" b="0" dirty="0" err="1">
                <a:solidFill>
                  <a:srgbClr val="191919"/>
                </a:solidFill>
                <a:latin typeface="Aptos"/>
              </a:rPr>
              <a:t>unidade</a:t>
            </a:r>
            <a:r>
              <a:rPr lang="pt-PT" sz="1500" b="0" dirty="0">
                <a:solidFill>
                  <a:srgbClr val="191919"/>
                </a:solidFill>
                <a:latin typeface="Aptos"/>
              </a:rPr>
              <a:t>, sem apresentar valores extremos</a:t>
            </a:r>
            <a:r>
              <a:rPr sz="1500" b="0" dirty="0">
                <a:solidFill>
                  <a:srgbClr val="191919"/>
                </a:solidFill>
                <a:latin typeface="Aptos"/>
              </a:rPr>
              <a:t>.”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89320" y="4434839"/>
            <a:ext cx="5349240" cy="1181181"/>
          </a:xfrm>
          <a:prstGeom prst="roundRect">
            <a:avLst/>
          </a:prstGeom>
          <a:solidFill>
            <a:srgbClr val="FFF7EB"/>
          </a:solidFill>
          <a:ln w="12700">
            <a:solidFill>
              <a:srgbClr val="EB9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/>
          <a:lstStyle/>
          <a:p>
            <a:pPr algn="l"/>
            <a:r>
              <a:rPr sz="1500" b="0">
                <a:solidFill>
                  <a:srgbClr val="191919"/>
                </a:solidFill>
                <a:latin typeface="Aptos"/>
              </a:rPr>
              <a:t>Frase aplicada ao domínio:
“Se y for temperatura diária, MAE = 2,31 °C significa que a previsão fica, em média, 2,31 °C distante do valor real.”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852160"/>
            <a:ext cx="10835640" cy="411480"/>
          </a:xfrm>
          <a:prstGeom prst="roundRect">
            <a:avLst/>
          </a:prstGeom>
          <a:solidFill>
            <a:srgbClr val="EBEFF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600" b="1" dirty="0" err="1">
                <a:solidFill>
                  <a:srgbClr val="003D59"/>
                </a:solidFill>
                <a:latin typeface="Aptos"/>
              </a:rPr>
              <a:t>Leitura</a:t>
            </a:r>
            <a:r>
              <a:rPr sz="1600" b="1" dirty="0">
                <a:solidFill>
                  <a:srgbClr val="003D59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003D59"/>
                </a:solidFill>
                <a:latin typeface="Aptos"/>
              </a:rPr>
              <a:t>conjunta</a:t>
            </a:r>
            <a:r>
              <a:rPr sz="1600" b="1" dirty="0">
                <a:solidFill>
                  <a:srgbClr val="003D59"/>
                </a:solidFill>
                <a:latin typeface="Aptos"/>
              </a:rPr>
              <a:t>: MAE e RMSE </a:t>
            </a:r>
            <a:r>
              <a:rPr sz="1600" b="1" dirty="0" err="1">
                <a:solidFill>
                  <a:srgbClr val="003D59"/>
                </a:solidFill>
                <a:latin typeface="Aptos"/>
              </a:rPr>
              <a:t>próximos</a:t>
            </a:r>
            <a:r>
              <a:rPr sz="1600" b="1" dirty="0">
                <a:solidFill>
                  <a:srgbClr val="003D59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003D59"/>
                </a:solidFill>
                <a:latin typeface="Aptos"/>
              </a:rPr>
              <a:t>sugerem</a:t>
            </a:r>
            <a:r>
              <a:rPr sz="1600" b="1" dirty="0">
                <a:solidFill>
                  <a:srgbClr val="003D59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003D59"/>
                </a:solidFill>
                <a:latin typeface="Aptos"/>
              </a:rPr>
              <a:t>que</a:t>
            </a:r>
            <a:r>
              <a:rPr sz="1600" b="1" dirty="0">
                <a:solidFill>
                  <a:srgbClr val="003D59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003D59"/>
                </a:solidFill>
                <a:latin typeface="Aptos"/>
              </a:rPr>
              <a:t>não</a:t>
            </a:r>
            <a:r>
              <a:rPr sz="1600" b="1" dirty="0">
                <a:solidFill>
                  <a:srgbClr val="003D59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003D59"/>
                </a:solidFill>
                <a:latin typeface="Aptos"/>
              </a:rPr>
              <a:t>há</a:t>
            </a:r>
            <a:r>
              <a:rPr sz="1600" b="1" dirty="0">
                <a:solidFill>
                  <a:srgbClr val="003D59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003D59"/>
                </a:solidFill>
                <a:latin typeface="Aptos"/>
              </a:rPr>
              <a:t>poucos</a:t>
            </a:r>
            <a:r>
              <a:rPr sz="1600" b="1" dirty="0">
                <a:solidFill>
                  <a:srgbClr val="003D59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003D59"/>
                </a:solidFill>
                <a:latin typeface="Aptos"/>
              </a:rPr>
              <a:t>erros</a:t>
            </a:r>
            <a:r>
              <a:rPr sz="1600" b="1" dirty="0">
                <a:solidFill>
                  <a:srgbClr val="003D59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003D59"/>
                </a:solidFill>
                <a:latin typeface="Aptos"/>
              </a:rPr>
              <a:t>extremos</a:t>
            </a:r>
            <a:r>
              <a:rPr sz="1600" b="1" dirty="0">
                <a:solidFill>
                  <a:srgbClr val="003D59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003D59"/>
                </a:solidFill>
                <a:latin typeface="Aptos"/>
              </a:rPr>
              <a:t>dominando</a:t>
            </a:r>
            <a:r>
              <a:rPr sz="1600" b="1" dirty="0">
                <a:solidFill>
                  <a:srgbClr val="003D59"/>
                </a:solidFill>
                <a:latin typeface="Aptos"/>
              </a:rPr>
              <a:t> a </a:t>
            </a:r>
            <a:r>
              <a:rPr sz="1600" b="1" dirty="0" err="1">
                <a:solidFill>
                  <a:srgbClr val="003D59"/>
                </a:solidFill>
                <a:latin typeface="Aptos"/>
              </a:rPr>
              <a:t>avaliação</a:t>
            </a:r>
            <a:r>
              <a:rPr sz="1600" b="1" dirty="0">
                <a:solidFill>
                  <a:srgbClr val="003D59"/>
                </a:solidFill>
                <a:latin typeface="Apto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75845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12049-A9CD-8F5A-BA5E-25D6012C6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02D21DE1-97CE-84B4-043C-651124C43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1D34591-3C45-7052-A8DA-598C60C5A6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94BE5502-8C29-7A7F-B705-7ACEB44A3E00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5760"/>
              </a:lnSpc>
            </a:pPr>
            <a:r>
              <a:rPr sz="3800">
                <a:solidFill>
                  <a:srgbClr val="003D59"/>
                </a:solidFill>
                <a:latin typeface="Aptos Display"/>
              </a:rPr>
              <a:t>Regressão Linear - Métricas II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8B12575-BED7-1106-43D1-0AE6348D7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17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7996474A-A7F1-C980-E609-8899D30276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2920" y="1005840"/>
            <a:ext cx="10789920" cy="384048"/>
          </a:xfrm>
          <a:prstGeom prst="rect">
            <a:avLst/>
          </a:prstGeom>
          <a:noFill/>
        </p:spPr>
        <p:txBody>
          <a:bodyPr wrap="square" tIns="54864" bIns="54864" anchor="t">
            <a:spAutoFit/>
          </a:bodyPr>
          <a:lstStyle/>
          <a:p>
            <a:pPr algn="l"/>
            <a:r>
              <a:rPr sz="1900" b="1">
                <a:solidFill>
                  <a:srgbClr val="003D59"/>
                </a:solidFill>
                <a:latin typeface="Aptos"/>
              </a:rPr>
              <a:t>Variabilidade explicada: o modelo melhora em relação ao baseline da média?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7" y="1554480"/>
            <a:ext cx="4342529" cy="384048"/>
          </a:xfrm>
          <a:prstGeom prst="roundRect">
            <a:avLst/>
          </a:prstGeom>
          <a:solidFill>
            <a:srgbClr val="003D59"/>
          </a:solidFill>
          <a:ln>
            <a:solidFill>
              <a:srgbClr val="00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1. Baseline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05400" y="1554480"/>
            <a:ext cx="6096000" cy="38404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l"/>
            <a:r>
              <a:rPr sz="1500" b="0" dirty="0" err="1">
                <a:solidFill>
                  <a:srgbClr val="191919"/>
                </a:solidFill>
                <a:latin typeface="Aptos"/>
              </a:rPr>
              <a:t>prever</a:t>
            </a:r>
            <a:r>
              <a:rPr sz="1500" b="0" dirty="0">
                <a:solidFill>
                  <a:srgbClr val="191919"/>
                </a:solidFill>
                <a:latin typeface="Aptos"/>
              </a:rPr>
              <a:t> sempre a </a:t>
            </a:r>
            <a:r>
              <a:rPr sz="1500" b="0" dirty="0" err="1">
                <a:solidFill>
                  <a:srgbClr val="191919"/>
                </a:solidFill>
                <a:latin typeface="Aptos"/>
              </a:rPr>
              <a:t>média</a:t>
            </a:r>
            <a:r>
              <a:rPr sz="1500" b="0" dirty="0">
                <a:solidFill>
                  <a:srgbClr val="191919"/>
                </a:solidFill>
                <a:latin typeface="Aptos"/>
              </a:rPr>
              <a:t>: ȳ = 8,1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7" y="2084831"/>
            <a:ext cx="4342529" cy="384048"/>
          </a:xfrm>
          <a:prstGeom prst="roundRect">
            <a:avLst/>
          </a:prstGeom>
          <a:solidFill>
            <a:srgbClr val="3C71AA"/>
          </a:solidFill>
          <a:ln>
            <a:solidFill>
              <a:srgbClr val="3C71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Aptos"/>
              </a:rPr>
              <a:t>2. SST</a:t>
            </a:r>
            <a:r>
              <a:rPr lang="pt-PT" sz="1500" b="1" dirty="0">
                <a:solidFill>
                  <a:srgbClr val="FFFFFF"/>
                </a:solidFill>
                <a:latin typeface="Aptos"/>
              </a:rPr>
              <a:t> - </a:t>
            </a:r>
            <a:r>
              <a:rPr lang="pt-BR" sz="1600" dirty="0"/>
              <a:t>Soma dos Quadrados Totais</a:t>
            </a:r>
            <a:endParaRPr sz="1500" b="1" dirty="0">
              <a:solidFill>
                <a:srgbClr val="FFFFFF"/>
              </a:solidFill>
              <a:latin typeface="Apto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ounded Rectangle 18"/>
              <p:cNvSpPr/>
              <p:nvPr/>
            </p:nvSpPr>
            <p:spPr>
              <a:xfrm>
                <a:off x="5105400" y="2084830"/>
                <a:ext cx="6096000" cy="832105"/>
              </a:xfrm>
              <a:prstGeom prst="roundRect">
                <a:avLst/>
              </a:prstGeom>
              <a:solidFill>
                <a:srgbClr val="F4F7FB"/>
              </a:solidFill>
              <a:ln w="12700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tIns="54864" bIns="54864" rtlCol="0" anchor="ctr"/>
              <a:lstStyle/>
              <a:p>
                <a:r>
                  <a:rPr lang="pt-PT" sz="1500" b="0" dirty="0">
                    <a:solidFill>
                      <a:schemeClr val="tx1"/>
                    </a:solidFill>
                    <a:latin typeface="Aptos"/>
                  </a:rPr>
                  <a:t>SST = Σ(yᵢ - ȳ)² = 197,54   → </a:t>
                </a:r>
                <a:r>
                  <a:rPr lang="pt-PT" sz="1500" b="0" dirty="0" err="1">
                    <a:solidFill>
                      <a:schemeClr val="tx1"/>
                    </a:solidFill>
                    <a:latin typeface="Aptos"/>
                  </a:rPr>
                  <a:t>variação</a:t>
                </a:r>
                <a:r>
                  <a:rPr lang="pt-PT" sz="1500" b="0" dirty="0">
                    <a:solidFill>
                      <a:schemeClr val="tx1"/>
                    </a:solidFill>
                    <a:latin typeface="Aptos"/>
                  </a:rPr>
                  <a:t> total de y antes do </a:t>
                </a:r>
                <a:r>
                  <a:rPr lang="pt-PT" sz="1500" b="0" dirty="0" err="1">
                    <a:solidFill>
                      <a:schemeClr val="tx1"/>
                    </a:solidFill>
                    <a:latin typeface="Aptos"/>
                  </a:rPr>
                  <a:t>modelo</a:t>
                </a:r>
                <a:r>
                  <a:rPr lang="pt-PT" sz="1500" dirty="0">
                    <a:solidFill>
                      <a:schemeClr val="tx1"/>
                    </a:solidFill>
                    <a:latin typeface="Aptos"/>
                  </a:rPr>
                  <a:t>, </a:t>
                </a:r>
                <a:r>
                  <a:rPr lang="pt-PT" sz="1600" dirty="0">
                    <a:solidFill>
                      <a:schemeClr val="tx1"/>
                    </a:solidFill>
                  </a:rPr>
                  <a:t>É toda a variação original contida na variável </a:t>
                </a:r>
                <a14:m>
                  <m:oMath xmlns:m="http://schemas.openxmlformats.org/officeDocument/2006/math">
                    <m:r>
                      <a:rPr lang="pt-PT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pt-PT" sz="1600" dirty="0">
                    <a:solidFill>
                      <a:schemeClr val="tx1"/>
                    </a:solidFill>
                  </a:rPr>
                  <a:t>que o modelo precisa tentar explicar.</a:t>
                </a:r>
                <a:endParaRPr lang="pt-PT" sz="1500" b="0" dirty="0">
                  <a:solidFill>
                    <a:schemeClr val="tx1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19" name="Rounded 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400" y="2084830"/>
                <a:ext cx="6096000" cy="832105"/>
              </a:xfrm>
              <a:prstGeom prst="roundRect">
                <a:avLst/>
              </a:prstGeom>
              <a:blipFill>
                <a:blip r:embed="rId6"/>
                <a:stretch>
                  <a:fillRect t="-2174" b="-10145"/>
                </a:stretch>
              </a:blipFill>
              <a:ln w="12700">
                <a:solidFill>
                  <a:srgbClr val="FFFFFF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ounded Rectangle 19"/>
          <p:cNvSpPr/>
          <p:nvPr/>
        </p:nvSpPr>
        <p:spPr>
          <a:xfrm>
            <a:off x="566927" y="2960723"/>
            <a:ext cx="4342529" cy="384048"/>
          </a:xfrm>
          <a:prstGeom prst="roundRect">
            <a:avLst/>
          </a:prstGeom>
          <a:solidFill>
            <a:srgbClr val="B43C37"/>
          </a:solidFill>
          <a:ln>
            <a:solidFill>
              <a:srgbClr val="B43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Aptos"/>
              </a:rPr>
              <a:t>3. SSE</a:t>
            </a:r>
            <a:r>
              <a:rPr lang="pt-PT" sz="1500" b="1" dirty="0">
                <a:solidFill>
                  <a:srgbClr val="FFFFFF"/>
                </a:solidFill>
                <a:latin typeface="Aptos"/>
              </a:rPr>
              <a:t> - </a:t>
            </a:r>
            <a:r>
              <a:rPr lang="pt-BR" sz="1600" dirty="0"/>
              <a:t>Soma dos Quadrados dos Erros</a:t>
            </a:r>
            <a:endParaRPr sz="15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105400" y="2960723"/>
            <a:ext cx="6096000" cy="77700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r>
              <a:rPr sz="1500" b="0" dirty="0">
                <a:solidFill>
                  <a:schemeClr val="tx1"/>
                </a:solidFill>
                <a:latin typeface="Aptos"/>
              </a:rPr>
              <a:t>SSE = Σ(yᵢ - ŷᵢ)² = 2,34473   → </a:t>
            </a:r>
            <a:r>
              <a:rPr lang="pt-BR" sz="1600" dirty="0">
                <a:solidFill>
                  <a:schemeClr val="tx1"/>
                </a:solidFill>
              </a:rPr>
              <a:t>soma dos erros cometidos pela reta ao tentar prever os dados reais.</a:t>
            </a:r>
            <a:endParaRPr sz="150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66927" y="3737731"/>
            <a:ext cx="4342529" cy="384048"/>
          </a:xfrm>
          <a:prstGeom prst="roundRect">
            <a:avLst/>
          </a:prstGeom>
          <a:solidFill>
            <a:srgbClr val="387A37"/>
          </a:solidFill>
          <a:ln>
            <a:solidFill>
              <a:srgbClr val="387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Aptos"/>
              </a:rPr>
              <a:t>4. SSR</a:t>
            </a:r>
            <a:r>
              <a:rPr lang="pt-PT" sz="1500" b="1" dirty="0">
                <a:solidFill>
                  <a:srgbClr val="FFFFFF"/>
                </a:solidFill>
                <a:latin typeface="Aptos"/>
              </a:rPr>
              <a:t> - </a:t>
            </a:r>
            <a:r>
              <a:rPr lang="pt-BR" sz="1600" dirty="0"/>
              <a:t>Soma dos Quadrados da Regressão </a:t>
            </a:r>
            <a:endParaRPr sz="15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105400" y="3737731"/>
            <a:ext cx="6096000" cy="7385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r>
              <a:rPr sz="1500" b="0" dirty="0">
                <a:solidFill>
                  <a:schemeClr val="tx1"/>
                </a:solidFill>
                <a:latin typeface="Aptos"/>
              </a:rPr>
              <a:t>SSR = SST - SSE = 195,195   → </a:t>
            </a:r>
            <a:r>
              <a:rPr lang="pt-BR" sz="1600" dirty="0">
                <a:solidFill>
                  <a:schemeClr val="tx1"/>
                </a:solidFill>
              </a:rPr>
              <a:t>Mede a variação dos dados que a reta de regressão conseguiu capturar/explicar em relação à média.</a:t>
            </a:r>
            <a:endParaRPr sz="1500" b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66928" y="4613391"/>
            <a:ext cx="2377440" cy="493776"/>
          </a:xfrm>
          <a:prstGeom prst="roundRect">
            <a:avLst/>
          </a:prstGeom>
          <a:solidFill>
            <a:srgbClr val="003D59"/>
          </a:solidFill>
          <a:ln>
            <a:solidFill>
              <a:srgbClr val="00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5. R²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08960" y="4613391"/>
            <a:ext cx="3749039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800" b="1">
                <a:solidFill>
                  <a:srgbClr val="003D59"/>
                </a:solidFill>
                <a:latin typeface="Aptos"/>
              </a:rPr>
              <a:t>R² = 1 - SSE/SST = 0,9881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59168" y="4613391"/>
            <a:ext cx="4114800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700" b="1">
                <a:solidFill>
                  <a:srgbClr val="003D59"/>
                </a:solidFill>
                <a:latin typeface="Aptos"/>
              </a:rPr>
              <a:t>R² ajustado ≈ 0,9866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244327"/>
            <a:ext cx="5303520" cy="1051560"/>
          </a:xfrm>
          <a:prstGeom prst="roundRect">
            <a:avLst/>
          </a:prstGeom>
          <a:solidFill>
            <a:srgbClr val="EEF7EE"/>
          </a:solidFill>
          <a:ln w="12700">
            <a:solidFill>
              <a:srgbClr val="387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/>
          <a:lstStyle/>
          <a:p>
            <a:pPr algn="l"/>
            <a:r>
              <a:rPr sz="1600" b="0">
                <a:solidFill>
                  <a:srgbClr val="191919"/>
                </a:solidFill>
                <a:latin typeface="Aptos"/>
              </a:rPr>
              <a:t>Frase correta:
“A reta explica aproximadamente 98,8% da variabilidade observada em y neste conjunto de dados.”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80760" y="5244327"/>
            <a:ext cx="5074920" cy="1051560"/>
          </a:xfrm>
          <a:prstGeom prst="roundRect">
            <a:avLst/>
          </a:prstGeom>
          <a:solidFill>
            <a:srgbClr val="FFF2F2"/>
          </a:solidFill>
          <a:ln w="12700">
            <a:solidFill>
              <a:srgbClr val="B43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/>
          <a:lstStyle/>
          <a:p>
            <a:pPr algn="l"/>
            <a:r>
              <a:rPr sz="1600" b="0">
                <a:solidFill>
                  <a:srgbClr val="191919"/>
                </a:solidFill>
                <a:latin typeface="Aptos"/>
              </a:rPr>
              <a:t>Cuidado:
R² não é “98,8% de acerto”. Para saber o erro em reais, graus ou centímetros, olhe MAE/RMSE.</a:t>
            </a:r>
          </a:p>
        </p:txBody>
      </p:sp>
    </p:spTree>
    <p:extLst>
      <p:ext uri="{BB962C8B-B14F-4D97-AF65-F5344CB8AC3E}">
        <p14:creationId xmlns:p14="http://schemas.microsoft.com/office/powerpoint/2010/main" val="6769360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73CC9-76E4-8FFE-6DF0-7B2E5C519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>
            <a:extLst>
              <a:ext uri="{FF2B5EF4-FFF2-40B4-BE49-F238E27FC236}">
                <a16:creationId xmlns:a16="http://schemas.microsoft.com/office/drawing/2014/main" id="{25B12888-E7E8-4E60-6435-848F4FAB2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64A81EB-9F94-7D52-CC3E-7EA7B18276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4F45F589-F90F-19D1-E4B0-D039B829F2A5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5760"/>
              </a:lnSpc>
            </a:pPr>
            <a:r>
              <a:rPr sz="3800">
                <a:solidFill>
                  <a:srgbClr val="003D59"/>
                </a:solidFill>
                <a:latin typeface="Aptos Display"/>
              </a:rPr>
              <a:t>Regressão Linear - Interpretação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B3EB91B6-D310-8F3E-3FB5-B097BF242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18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7439F5A4-64B4-5F3E-9E2F-5954C1281F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02920" y="1005840"/>
            <a:ext cx="10789920" cy="384048"/>
          </a:xfrm>
          <a:prstGeom prst="rect">
            <a:avLst/>
          </a:prstGeom>
          <a:noFill/>
        </p:spPr>
        <p:txBody>
          <a:bodyPr wrap="square" tIns="54864" bIns="54864" anchor="t">
            <a:spAutoFit/>
          </a:bodyPr>
          <a:lstStyle/>
          <a:p>
            <a:pPr algn="l"/>
            <a:r>
              <a:rPr sz="1900" b="1">
                <a:solidFill>
                  <a:srgbClr val="003D59"/>
                </a:solidFill>
                <a:latin typeface="Aptos"/>
              </a:rPr>
              <a:t>Como transformar números em uma conclusão técnica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1481328"/>
            <a:ext cx="5257800" cy="548640"/>
          </a:xfrm>
          <a:prstGeom prst="roundRect">
            <a:avLst/>
          </a:prstGeom>
          <a:solidFill>
            <a:srgbClr val="003D59"/>
          </a:solidFill>
          <a:ln>
            <a:solidFill>
              <a:srgbClr val="00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Modelo ajustado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2103120"/>
            <a:ext cx="52578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2400" b="1">
                <a:solidFill>
                  <a:srgbClr val="003D59"/>
                </a:solidFill>
                <a:latin typeface="Aptos"/>
              </a:rPr>
              <a:t>ŷ = -0,360 + 1,538x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852928"/>
            <a:ext cx="5074920" cy="16459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buChar char="•"/>
              <a:defRPr sz="1500">
                <a:solidFill>
                  <a:srgbClr val="191919"/>
                </a:solidFill>
                <a:latin typeface="Aptos"/>
              </a:defRPr>
            </a:pPr>
            <a:r>
              <a:t>Para +1 em x, o valor previsto de y aumenta cerca de 1,538.</a:t>
            </a:r>
          </a:p>
          <a:p>
            <a:pPr>
              <a:buChar char="•"/>
              <a:defRPr sz="1500">
                <a:solidFill>
                  <a:srgbClr val="191919"/>
                </a:solidFill>
                <a:latin typeface="Aptos"/>
              </a:defRPr>
            </a:pPr>
            <a:r>
              <a:t>MAE ≈ 0,408: erro médio normal na unidade de y.</a:t>
            </a:r>
          </a:p>
          <a:p>
            <a:pPr>
              <a:buChar char="•"/>
              <a:defRPr sz="1500">
                <a:solidFill>
                  <a:srgbClr val="191919"/>
                </a:solidFill>
                <a:latin typeface="Aptos"/>
              </a:defRPr>
            </a:pPr>
            <a:r>
              <a:t>RMSE ≈ 0,484: erro típico com maior peso para erros grandes.</a:t>
            </a:r>
          </a:p>
          <a:p>
            <a:pPr>
              <a:buChar char="•"/>
              <a:defRPr sz="1500">
                <a:solidFill>
                  <a:srgbClr val="191919"/>
                </a:solidFill>
                <a:latin typeface="Aptos"/>
              </a:defRPr>
            </a:pPr>
            <a:r>
              <a:t>R² ≈ 0,988: ajuste muito forte neste conjunto.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481328"/>
            <a:ext cx="5074920" cy="548640"/>
          </a:xfrm>
          <a:prstGeom prst="roundRect">
            <a:avLst/>
          </a:prstGeom>
          <a:solidFill>
            <a:srgbClr val="387A37"/>
          </a:solidFill>
          <a:ln>
            <a:solidFill>
              <a:srgbClr val="387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Frase pronta para o relatório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2121408"/>
            <a:ext cx="5074920" cy="1280160"/>
          </a:xfrm>
          <a:prstGeom prst="roundRect">
            <a:avLst/>
          </a:prstGeom>
          <a:solidFill>
            <a:srgbClr val="EEF7EE"/>
          </a:solidFill>
          <a:ln w="12700">
            <a:solidFill>
              <a:srgbClr val="387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/>
          <a:lstStyle/>
          <a:p>
            <a:pPr algn="l"/>
            <a:r>
              <a:rPr sz="1500" b="0">
                <a:solidFill>
                  <a:srgbClr val="191919"/>
                </a:solidFill>
                <a:latin typeface="Aptos"/>
              </a:rPr>
              <a:t>“O modelo apresenta erro típico de aproximadamente 0,5 unidade de y e explica cerca de 98,8% da variação observada. Portanto, o ajuste é bom para os dados analisados, desde que os resíduos não mostrem padrão sistemático.”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611880"/>
            <a:ext cx="5074920" cy="548640"/>
          </a:xfrm>
          <a:prstGeom prst="roundRect">
            <a:avLst/>
          </a:prstGeom>
          <a:solidFill>
            <a:srgbClr val="EB9121"/>
          </a:solidFill>
          <a:ln>
            <a:solidFill>
              <a:srgbClr val="EB9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Antes de aprovar, verifique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4279392"/>
            <a:ext cx="4892040" cy="114300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buChar char="•"/>
              <a:defRPr sz="1500">
                <a:solidFill>
                  <a:srgbClr val="191919"/>
                </a:solidFill>
                <a:latin typeface="Aptos"/>
              </a:defRPr>
            </a:pPr>
            <a:r>
              <a:t>Resíduos espalhados sem curva ou viés?</a:t>
            </a:r>
          </a:p>
          <a:p>
            <a:pPr>
              <a:buChar char="•"/>
              <a:defRPr sz="1500">
                <a:solidFill>
                  <a:srgbClr val="191919"/>
                </a:solidFill>
                <a:latin typeface="Aptos"/>
              </a:defRPr>
            </a:pPr>
            <a:r>
              <a:t>Há ponto extremo dominando o RMSE?</a:t>
            </a:r>
          </a:p>
          <a:p>
            <a:pPr>
              <a:buChar char="•"/>
              <a:defRPr sz="1500">
                <a:solidFill>
                  <a:srgbClr val="191919"/>
                </a:solidFill>
                <a:latin typeface="Aptos"/>
              </a:defRPr>
            </a:pPr>
            <a:r>
              <a:t>O uso está dentro do intervalo observado de x?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846320"/>
            <a:ext cx="5257800" cy="14782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/>
          <a:lstStyle/>
          <a:p>
            <a:pPr algn="l"/>
            <a:r>
              <a:rPr sz="1500" b="0" dirty="0" err="1">
                <a:solidFill>
                  <a:srgbClr val="191919"/>
                </a:solidFill>
                <a:latin typeface="Aptos"/>
              </a:rPr>
              <a:t>Exemplo</a:t>
            </a:r>
            <a:r>
              <a:rPr sz="1500" b="0" dirty="0">
                <a:solidFill>
                  <a:srgbClr val="191919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191919"/>
                </a:solidFill>
                <a:latin typeface="Aptos"/>
              </a:rPr>
              <a:t>aplicado</a:t>
            </a:r>
            <a:r>
              <a:rPr sz="1500" b="0" dirty="0">
                <a:solidFill>
                  <a:srgbClr val="191919"/>
                </a:solidFill>
                <a:latin typeface="Aptos"/>
              </a:rPr>
              <a:t>:
Se y for </a:t>
            </a:r>
            <a:r>
              <a:rPr sz="1500" b="0" dirty="0" err="1">
                <a:solidFill>
                  <a:srgbClr val="191919"/>
                </a:solidFill>
                <a:latin typeface="Aptos"/>
              </a:rPr>
              <a:t>altura</a:t>
            </a:r>
            <a:r>
              <a:rPr sz="1500" b="0" dirty="0">
                <a:solidFill>
                  <a:srgbClr val="191919"/>
                </a:solidFill>
                <a:latin typeface="Aptos"/>
              </a:rPr>
              <a:t> de </a:t>
            </a:r>
            <a:r>
              <a:rPr sz="1500" b="0" dirty="0" err="1">
                <a:solidFill>
                  <a:srgbClr val="191919"/>
                </a:solidFill>
                <a:latin typeface="Aptos"/>
              </a:rPr>
              <a:t>muda</a:t>
            </a:r>
            <a:r>
              <a:rPr sz="1500" b="0" dirty="0">
                <a:solidFill>
                  <a:srgbClr val="191919"/>
                </a:solidFill>
                <a:latin typeface="Aptos"/>
              </a:rPr>
              <a:t>, MAE = 0,41 cm </a:t>
            </a:r>
            <a:r>
              <a:rPr sz="1500" b="0" dirty="0" err="1">
                <a:solidFill>
                  <a:srgbClr val="191919"/>
                </a:solidFill>
                <a:latin typeface="Aptos"/>
              </a:rPr>
              <a:t>significa</a:t>
            </a:r>
            <a:r>
              <a:rPr sz="1500" b="0" dirty="0">
                <a:solidFill>
                  <a:srgbClr val="191919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191919"/>
                </a:solidFill>
                <a:latin typeface="Aptos"/>
              </a:rPr>
              <a:t>que</a:t>
            </a:r>
            <a:r>
              <a:rPr sz="1500" b="0" dirty="0">
                <a:solidFill>
                  <a:srgbClr val="191919"/>
                </a:solidFill>
                <a:latin typeface="Aptos"/>
              </a:rPr>
              <a:t> o </a:t>
            </a:r>
            <a:r>
              <a:rPr sz="1500" b="0" dirty="0" err="1">
                <a:solidFill>
                  <a:srgbClr val="191919"/>
                </a:solidFill>
                <a:latin typeface="Aptos"/>
              </a:rPr>
              <a:t>modelo</a:t>
            </a:r>
            <a:r>
              <a:rPr sz="1500" b="0" dirty="0">
                <a:solidFill>
                  <a:srgbClr val="191919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191919"/>
                </a:solidFill>
                <a:latin typeface="Aptos"/>
              </a:rPr>
              <a:t>erra</a:t>
            </a:r>
            <a:r>
              <a:rPr sz="1500" b="0" dirty="0">
                <a:solidFill>
                  <a:srgbClr val="191919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191919"/>
                </a:solidFill>
                <a:latin typeface="Aptos"/>
              </a:rPr>
              <a:t>normalmente</a:t>
            </a:r>
            <a:r>
              <a:rPr sz="1500" b="0" dirty="0">
                <a:solidFill>
                  <a:srgbClr val="191919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191919"/>
                </a:solidFill>
                <a:latin typeface="Aptos"/>
              </a:rPr>
              <a:t>cerca</a:t>
            </a:r>
            <a:r>
              <a:rPr sz="1500" b="0" dirty="0">
                <a:solidFill>
                  <a:srgbClr val="191919"/>
                </a:solidFill>
                <a:latin typeface="Aptos"/>
              </a:rPr>
              <a:t> de 0,41 cm </a:t>
            </a:r>
            <a:r>
              <a:rPr sz="1500" b="0" dirty="0" err="1">
                <a:solidFill>
                  <a:srgbClr val="191919"/>
                </a:solidFill>
                <a:latin typeface="Aptos"/>
              </a:rPr>
              <a:t>na</a:t>
            </a:r>
            <a:r>
              <a:rPr sz="1500" b="0" dirty="0">
                <a:solidFill>
                  <a:srgbClr val="191919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191919"/>
                </a:solidFill>
                <a:latin typeface="Aptos"/>
              </a:rPr>
              <a:t>altura</a:t>
            </a:r>
            <a:r>
              <a:rPr sz="1500" b="0" dirty="0">
                <a:solidFill>
                  <a:srgbClr val="191919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191919"/>
                </a:solidFill>
                <a:latin typeface="Aptos"/>
              </a:rPr>
              <a:t>prevista</a:t>
            </a:r>
            <a:r>
              <a:rPr sz="1500" b="0" dirty="0">
                <a:solidFill>
                  <a:srgbClr val="191919"/>
                </a:solidFill>
                <a:latin typeface="Aptos"/>
              </a:rPr>
              <a:t>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5065395"/>
            <a:ext cx="5074920" cy="1216728"/>
          </a:xfrm>
          <a:prstGeom prst="roundRect">
            <a:avLst/>
          </a:prstGeom>
          <a:solidFill>
            <a:srgbClr val="EBEFF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600" b="1" dirty="0" err="1">
                <a:solidFill>
                  <a:srgbClr val="003D59"/>
                </a:solidFill>
                <a:latin typeface="Aptos"/>
              </a:rPr>
              <a:t>Métrica</a:t>
            </a:r>
            <a:r>
              <a:rPr sz="1600" b="1" dirty="0">
                <a:solidFill>
                  <a:srgbClr val="003D59"/>
                </a:solidFill>
                <a:latin typeface="Aptos"/>
              </a:rPr>
              <a:t> boa </a:t>
            </a:r>
            <a:r>
              <a:rPr sz="1600" b="1" dirty="0" err="1">
                <a:solidFill>
                  <a:srgbClr val="003D59"/>
                </a:solidFill>
                <a:latin typeface="Aptos"/>
              </a:rPr>
              <a:t>não</a:t>
            </a:r>
            <a:r>
              <a:rPr sz="1600" b="1" dirty="0">
                <a:solidFill>
                  <a:srgbClr val="003D59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003D59"/>
                </a:solidFill>
                <a:latin typeface="Aptos"/>
              </a:rPr>
              <a:t>substitui</a:t>
            </a:r>
            <a:r>
              <a:rPr sz="1600" b="1" dirty="0">
                <a:solidFill>
                  <a:srgbClr val="003D59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003D59"/>
                </a:solidFill>
                <a:latin typeface="Aptos"/>
              </a:rPr>
              <a:t>diagnóstico</a:t>
            </a:r>
            <a:r>
              <a:rPr sz="1600" b="1" dirty="0">
                <a:solidFill>
                  <a:srgbClr val="003D59"/>
                </a:solidFill>
                <a:latin typeface="Aptos"/>
              </a:rPr>
              <a:t>: sempre </a:t>
            </a:r>
            <a:r>
              <a:rPr sz="1600" b="1" dirty="0" err="1">
                <a:solidFill>
                  <a:srgbClr val="003D59"/>
                </a:solidFill>
                <a:latin typeface="Aptos"/>
              </a:rPr>
              <a:t>olhe</a:t>
            </a:r>
            <a:r>
              <a:rPr sz="1600" b="1" dirty="0">
                <a:solidFill>
                  <a:srgbClr val="003D59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003D59"/>
                </a:solidFill>
                <a:latin typeface="Aptos"/>
              </a:rPr>
              <a:t>os</a:t>
            </a:r>
            <a:r>
              <a:rPr sz="1600" b="1" dirty="0">
                <a:solidFill>
                  <a:srgbClr val="003D59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003D59"/>
                </a:solidFill>
                <a:latin typeface="Aptos"/>
              </a:rPr>
              <a:t>resíduos</a:t>
            </a:r>
            <a:r>
              <a:rPr sz="1600" b="1" dirty="0">
                <a:solidFill>
                  <a:srgbClr val="003D59"/>
                </a:solidFill>
                <a:latin typeface="Apto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669202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F9978-38BA-89BE-69AD-B42270ADE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E06E482E-3A11-8BA2-41E0-C02D64BB1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927EA007-CE79-06B7-2E8B-48396B5EB4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DA44A10E-F13F-9D08-FA9B-877336E9B55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Regressão Linear Multipla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1CBBC2CD-4D9F-A6B0-1CF7-CB13B0661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19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DD8275B-7D96-D432-2CFC-746EDC5F50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257" y="1247471"/>
            <a:ext cx="7154273" cy="2181529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6B8F98F-550B-29DA-96F7-D69BDBB7E85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58918" b="27188"/>
          <a:stretch>
            <a:fillRect/>
          </a:stretch>
        </p:blipFill>
        <p:spPr>
          <a:xfrm>
            <a:off x="1023257" y="3708237"/>
            <a:ext cx="7382905" cy="46061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73302C2B-9776-4B31-83BE-CD48772F80A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0130"/>
          <a:stretch>
            <a:fillRect/>
          </a:stretch>
        </p:blipFill>
        <p:spPr>
          <a:xfrm>
            <a:off x="1023257" y="4354365"/>
            <a:ext cx="5525271" cy="744831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07743D72-E50C-F0AC-855D-0953598554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23B73A54-2D6B-5389-5887-5A73FEE275E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3257" y="5254635"/>
            <a:ext cx="4191585" cy="133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2366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FE512-C65C-F6A8-7A65-5B2DF91AF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>
            <a:extLst>
              <a:ext uri="{FF2B5EF4-FFF2-40B4-BE49-F238E27FC236}">
                <a16:creationId xmlns:a16="http://schemas.microsoft.com/office/drawing/2014/main" id="{BF7C1476-CF0A-3C38-8634-AE67454DF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E9C9D3F2-F142-4FD6-1408-C4DFA39C48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46CAE7EF-90AC-A6CC-2F41-EAC68A0EE012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Regressão Linear Multipla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F5797F31-8B79-CB83-B6DF-E49BD1953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20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7BD2A184-9727-D022-90B6-4FB706BA69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6151" y="1419576"/>
            <a:ext cx="9659698" cy="4715533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E25074FA-2268-DF8C-971B-74FBBB51F7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6089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1770A-8CE9-2F1F-A474-EEDE88EC2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>
            <a:extLst>
              <a:ext uri="{FF2B5EF4-FFF2-40B4-BE49-F238E27FC236}">
                <a16:creationId xmlns:a16="http://schemas.microsoft.com/office/drawing/2014/main" id="{C559BCBE-FECB-C10D-837C-BD0B95E004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6EF8A9E0-BE3A-E0DE-9754-4C8684BD6E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F34FC1CD-314E-77F9-BC00-EFB4D9CC28F0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Regressão Linear Multipla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C433D93-07D1-918D-E462-15AF476E9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21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EB92F271-19C9-CFFF-CCC3-98B2443C6B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1844101-C330-D3EE-2A92-11210EED00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5202" y="1524000"/>
            <a:ext cx="7831455" cy="3055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7947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49D5A-F932-53C0-DC32-7DCDC5031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>
            <a:extLst>
              <a:ext uri="{FF2B5EF4-FFF2-40B4-BE49-F238E27FC236}">
                <a16:creationId xmlns:a16="http://schemas.microsoft.com/office/drawing/2014/main" id="{A137EF35-7389-14B7-795B-3598F75A4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4C2D1997-E87B-BA4C-3E92-205801CDBD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FB3980C9-58E4-827C-0870-48475A325F0D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Regressão Linear Multipla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B400B908-8D54-50F9-D5CC-5AE59A8B4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22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E21C6C3B-6394-9271-0916-25FAD76611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17F028D8-86A7-1715-D375-59A0D69FA6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0777" y="1185850"/>
            <a:ext cx="6574972" cy="5331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0137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7419B-630D-17E7-0631-B1AC8B02B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>
            <a:extLst>
              <a:ext uri="{FF2B5EF4-FFF2-40B4-BE49-F238E27FC236}">
                <a16:creationId xmlns:a16="http://schemas.microsoft.com/office/drawing/2014/main" id="{896ADC38-AEE2-B147-407D-D0EF8D7C1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F3E9DDE7-07A0-34CB-6B76-C00F08F1E0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A1AAC960-B751-7679-3404-19B3D7917F84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Regressão Linear Multipla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F22E6E6A-A187-D90B-9D7A-01B6C2984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23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4D3F4B08-2271-03D7-4F2E-3398BFB6C8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16B1CF1-FD84-B033-C0F6-86FEF74187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8387" y="1153749"/>
            <a:ext cx="6592220" cy="488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0442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F5B4F-70C2-B54E-1B96-D45AC676C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magem 30">
            <a:extLst>
              <a:ext uri="{FF2B5EF4-FFF2-40B4-BE49-F238E27FC236}">
                <a16:creationId xmlns:a16="http://schemas.microsoft.com/office/drawing/2014/main" id="{B5BD4882-22C2-8DF5-3890-829A598875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0DB816B7-0475-D1BF-2027-7A374BD67E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A3962998-1BE8-87EE-07CD-DC9E18B2F76F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Regressão Linear Multipla - Resolução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85704E3C-0CCB-34C0-C71E-447FC3EEC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24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graphicFrame>
        <p:nvGraphicFramePr>
          <p:cNvPr id="26" name="Tabela 25">
            <a:extLst>
              <a:ext uri="{FF2B5EF4-FFF2-40B4-BE49-F238E27FC236}">
                <a16:creationId xmlns:a16="http://schemas.microsoft.com/office/drawing/2014/main" id="{7E89D524-205B-519B-F741-F75FF2C587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8119349"/>
              </p:ext>
            </p:extLst>
          </p:nvPr>
        </p:nvGraphicFramePr>
        <p:xfrm>
          <a:off x="633089" y="2477188"/>
          <a:ext cx="5212542" cy="412838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37514">
                  <a:extLst>
                    <a:ext uri="{9D8B030D-6E8A-4147-A177-3AD203B41FA5}">
                      <a16:colId xmlns:a16="http://schemas.microsoft.com/office/drawing/2014/main" val="1369025151"/>
                    </a:ext>
                  </a:extLst>
                </a:gridCol>
                <a:gridCol w="1737514">
                  <a:extLst>
                    <a:ext uri="{9D8B030D-6E8A-4147-A177-3AD203B41FA5}">
                      <a16:colId xmlns:a16="http://schemas.microsoft.com/office/drawing/2014/main" val="2879675949"/>
                    </a:ext>
                  </a:extLst>
                </a:gridCol>
                <a:gridCol w="1737514">
                  <a:extLst>
                    <a:ext uri="{9D8B030D-6E8A-4147-A177-3AD203B41FA5}">
                      <a16:colId xmlns:a16="http://schemas.microsoft.com/office/drawing/2014/main" val="1926617372"/>
                    </a:ext>
                  </a:extLst>
                </a:gridCol>
              </a:tblGrid>
              <a:tr h="3440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b="1" dirty="0"/>
                        <a:t>Quant. (kg)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b="1" dirty="0"/>
                        <a:t>Preço (R$)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b="1" dirty="0"/>
                        <a:t>Invest. (mil R$)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702719968"/>
                  </a:ext>
                </a:extLst>
              </a:tr>
              <a:tr h="3440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/>
                        <a:t>70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/>
                        <a:t>90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/>
                        <a:t>630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146590155"/>
                  </a:ext>
                </a:extLst>
              </a:tr>
              <a:tr h="3440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/>
                        <a:t>90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/>
                        <a:t>80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/>
                        <a:t>720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511825698"/>
                  </a:ext>
                </a:extLst>
              </a:tr>
              <a:tr h="3440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/>
                        <a:t>100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/>
                        <a:t>70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/>
                        <a:t>700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230183011"/>
                  </a:ext>
                </a:extLst>
              </a:tr>
              <a:tr h="3440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/>
                        <a:t>90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/>
                        <a:t>70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/>
                        <a:t>625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050747867"/>
                  </a:ext>
                </a:extLst>
              </a:tr>
              <a:tr h="3440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/>
                        <a:t>105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/>
                        <a:t>70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/>
                        <a:t>735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778948869"/>
                  </a:ext>
                </a:extLst>
              </a:tr>
              <a:tr h="3440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/>
                        <a:t>80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/>
                        <a:t>70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/>
                        <a:t>560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984408037"/>
                  </a:ext>
                </a:extLst>
              </a:tr>
              <a:tr h="3440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/>
                        <a:t>110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/>
                        <a:t>65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/>
                        <a:t>715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548952437"/>
                  </a:ext>
                </a:extLst>
              </a:tr>
              <a:tr h="3440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/>
                        <a:t>125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/>
                        <a:t>60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/>
                        <a:t>720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785153622"/>
                  </a:ext>
                </a:extLst>
              </a:tr>
              <a:tr h="3440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/>
                        <a:t>115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/>
                        <a:t>60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/>
                        <a:t>690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187086962"/>
                  </a:ext>
                </a:extLst>
              </a:tr>
              <a:tr h="3440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/>
                        <a:t>130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/>
                        <a:t>55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/>
                        <a:t>715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967447525"/>
                  </a:ext>
                </a:extLst>
              </a:tr>
              <a:tr h="3440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/>
                        <a:t>130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/>
                        <a:t>50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dirty="0"/>
                        <a:t>650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994417095"/>
                  </a:ext>
                </a:extLst>
              </a:tr>
            </a:tbl>
          </a:graphicData>
        </a:graphic>
      </p:graphicFrame>
      <p:sp>
        <p:nvSpPr>
          <p:cNvPr id="28" name="CaixaDeTexto 27">
            <a:extLst>
              <a:ext uri="{FF2B5EF4-FFF2-40B4-BE49-F238E27FC236}">
                <a16:creationId xmlns:a16="http://schemas.microsoft.com/office/drawing/2014/main" id="{CDCE1F79-CD9D-37FE-0F1F-0FCF52755C44}"/>
              </a:ext>
            </a:extLst>
          </p:cNvPr>
          <p:cNvSpPr txBox="1"/>
          <p:nvPr/>
        </p:nvSpPr>
        <p:spPr>
          <a:xfrm>
            <a:off x="633089" y="1229367"/>
            <a:ext cx="710665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600" b="0" i="1" dirty="0">
                <a:solidFill>
                  <a:srgbClr val="000000"/>
                </a:solidFill>
                <a:effectLst/>
                <a:latin typeface="A030-Ita"/>
              </a:rPr>
              <a:t>Os dados contidos na tabela expressam quantidades vendidas, preços e gastos com divulgação dos principais produtos de uma determinada empresa. Determine a equação de regressão de y em função de x</a:t>
            </a:r>
            <a:r>
              <a:rPr lang="pt-PT" sz="1600" b="0" i="1" baseline="-25000" dirty="0">
                <a:solidFill>
                  <a:srgbClr val="000000"/>
                </a:solidFill>
                <a:effectLst/>
                <a:latin typeface="A030-Ita"/>
              </a:rPr>
              <a:t>1</a:t>
            </a:r>
            <a:r>
              <a:rPr lang="pt-PT" sz="1600" b="0" i="1" dirty="0">
                <a:solidFill>
                  <a:srgbClr val="000000"/>
                </a:solidFill>
                <a:effectLst/>
                <a:latin typeface="A030-Ita"/>
              </a:rPr>
              <a:t> e x</a:t>
            </a:r>
            <a:r>
              <a:rPr lang="pt-PT" sz="1600" b="0" i="1" baseline="-25000" dirty="0">
                <a:solidFill>
                  <a:srgbClr val="000000"/>
                </a:solidFill>
                <a:effectLst/>
                <a:latin typeface="A030-Ita"/>
              </a:rPr>
              <a:t>2</a:t>
            </a:r>
            <a:r>
              <a:rPr lang="pt-PT" sz="1600" baseline="-25000" dirty="0"/>
              <a:t> </a:t>
            </a:r>
            <a:r>
              <a:rPr lang="pt-PT" sz="1600" dirty="0"/>
              <a:t>.</a:t>
            </a:r>
            <a:br>
              <a:rPr lang="pt-PT" sz="1600" dirty="0"/>
            </a:br>
            <a:endParaRPr lang="pt-BR" sz="1600" dirty="0"/>
          </a:p>
        </p:txBody>
      </p:sp>
      <p:pic>
        <p:nvPicPr>
          <p:cNvPr id="32" name="Imagem 31">
            <a:extLst>
              <a:ext uri="{FF2B5EF4-FFF2-40B4-BE49-F238E27FC236}">
                <a16:creationId xmlns:a16="http://schemas.microsoft.com/office/drawing/2014/main" id="{53327366-03EA-3E28-2DF7-1496481F4E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20B8C80-18B7-6C9C-BB8F-1BC4C7EF4C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2615444"/>
            <a:ext cx="5534729" cy="1390499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F0CEAD8-5CE6-B4E9-937B-C56EB79D423E}"/>
              </a:ext>
            </a:extLst>
          </p:cNvPr>
          <p:cNvSpPr txBox="1"/>
          <p:nvPr/>
        </p:nvSpPr>
        <p:spPr>
          <a:xfrm>
            <a:off x="1349828" y="2045528"/>
            <a:ext cx="500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/>
              <a:t>y</a:t>
            </a:r>
            <a:endParaRPr lang="pt-BR" b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A5A2AE4-8DC5-06E8-2676-E59042B75EF0}"/>
              </a:ext>
            </a:extLst>
          </p:cNvPr>
          <p:cNvSpPr txBox="1"/>
          <p:nvPr/>
        </p:nvSpPr>
        <p:spPr>
          <a:xfrm>
            <a:off x="3124200" y="2045528"/>
            <a:ext cx="500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/>
              <a:t>x1</a:t>
            </a:r>
            <a:endParaRPr lang="pt-BR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2089C5F-018F-EB0C-E4F2-EC1478C66A3F}"/>
              </a:ext>
            </a:extLst>
          </p:cNvPr>
          <p:cNvSpPr txBox="1"/>
          <p:nvPr/>
        </p:nvSpPr>
        <p:spPr>
          <a:xfrm>
            <a:off x="4746172" y="2045528"/>
            <a:ext cx="500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/>
              <a:t>x2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41947865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78842-0B57-ED4A-9687-492442029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C85AF054-EF99-7950-0297-1CE0A0A60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459D23B3-9D77-7C32-E475-592ED747C4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AC60F02E-FC95-8D3A-9479-2FEC544E8C9D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Regressão Linear Multipla - Resolução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63B2163-0BAF-5B37-4AEE-4105DDC14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25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C4F1D36E-4CA0-8F98-7E1D-B8376CFAEC20}"/>
              </a:ext>
            </a:extLst>
          </p:cNvPr>
          <p:cNvSpPr txBox="1"/>
          <p:nvPr/>
        </p:nvSpPr>
        <p:spPr>
          <a:xfrm>
            <a:off x="2142083" y="1245060"/>
            <a:ext cx="38409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600" b="0" i="1" dirty="0">
                <a:solidFill>
                  <a:srgbClr val="000000"/>
                </a:solidFill>
                <a:effectLst/>
                <a:latin typeface="A030-Ita"/>
              </a:rPr>
              <a:t>Tomando base a equação, gere a tabela</a:t>
            </a:r>
            <a:br>
              <a:rPr lang="pt-PT" sz="1600" dirty="0"/>
            </a:br>
            <a:endParaRPr lang="pt-BR" sz="1600" dirty="0"/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2E8BF616-A56F-115A-48EE-FE6A72452A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2048510"/>
              </p:ext>
            </p:extLst>
          </p:nvPr>
        </p:nvGraphicFramePr>
        <p:xfrm>
          <a:off x="707481" y="2235797"/>
          <a:ext cx="9623151" cy="435133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69239">
                  <a:extLst>
                    <a:ext uri="{9D8B030D-6E8A-4147-A177-3AD203B41FA5}">
                      <a16:colId xmlns:a16="http://schemas.microsoft.com/office/drawing/2014/main" val="1398768701"/>
                    </a:ext>
                  </a:extLst>
                </a:gridCol>
                <a:gridCol w="1069239">
                  <a:extLst>
                    <a:ext uri="{9D8B030D-6E8A-4147-A177-3AD203B41FA5}">
                      <a16:colId xmlns:a16="http://schemas.microsoft.com/office/drawing/2014/main" val="2979413996"/>
                    </a:ext>
                  </a:extLst>
                </a:gridCol>
                <a:gridCol w="1069239">
                  <a:extLst>
                    <a:ext uri="{9D8B030D-6E8A-4147-A177-3AD203B41FA5}">
                      <a16:colId xmlns:a16="http://schemas.microsoft.com/office/drawing/2014/main" val="3245834008"/>
                    </a:ext>
                  </a:extLst>
                </a:gridCol>
                <a:gridCol w="1069239">
                  <a:extLst>
                    <a:ext uri="{9D8B030D-6E8A-4147-A177-3AD203B41FA5}">
                      <a16:colId xmlns:a16="http://schemas.microsoft.com/office/drawing/2014/main" val="3663664465"/>
                    </a:ext>
                  </a:extLst>
                </a:gridCol>
                <a:gridCol w="1069239">
                  <a:extLst>
                    <a:ext uri="{9D8B030D-6E8A-4147-A177-3AD203B41FA5}">
                      <a16:colId xmlns:a16="http://schemas.microsoft.com/office/drawing/2014/main" val="3444778872"/>
                    </a:ext>
                  </a:extLst>
                </a:gridCol>
                <a:gridCol w="1069239">
                  <a:extLst>
                    <a:ext uri="{9D8B030D-6E8A-4147-A177-3AD203B41FA5}">
                      <a16:colId xmlns:a16="http://schemas.microsoft.com/office/drawing/2014/main" val="1020847287"/>
                    </a:ext>
                  </a:extLst>
                </a:gridCol>
                <a:gridCol w="1069239">
                  <a:extLst>
                    <a:ext uri="{9D8B030D-6E8A-4147-A177-3AD203B41FA5}">
                      <a16:colId xmlns:a16="http://schemas.microsoft.com/office/drawing/2014/main" val="1994703265"/>
                    </a:ext>
                  </a:extLst>
                </a:gridCol>
                <a:gridCol w="1069239">
                  <a:extLst>
                    <a:ext uri="{9D8B030D-6E8A-4147-A177-3AD203B41FA5}">
                      <a16:colId xmlns:a16="http://schemas.microsoft.com/office/drawing/2014/main" val="3487639931"/>
                    </a:ext>
                  </a:extLst>
                </a:gridCol>
                <a:gridCol w="1069239">
                  <a:extLst>
                    <a:ext uri="{9D8B030D-6E8A-4147-A177-3AD203B41FA5}">
                      <a16:colId xmlns:a16="http://schemas.microsoft.com/office/drawing/2014/main" val="653371092"/>
                    </a:ext>
                  </a:extLst>
                </a:gridCol>
              </a:tblGrid>
              <a:tr h="33471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 b="1" dirty="0"/>
                        <a:t>i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 b="1" dirty="0"/>
                        <a:t>x</a:t>
                      </a:r>
                      <a:r>
                        <a:rPr lang="pt-BR" sz="1600" b="1" baseline="-25000" dirty="0"/>
                        <a:t>1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 b="1" dirty="0"/>
                        <a:t>x</a:t>
                      </a:r>
                      <a:r>
                        <a:rPr lang="pt-BR" sz="1600" b="1" baseline="-25000" dirty="0"/>
                        <a:t>2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 b="1"/>
                        <a:t>y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 b="1" dirty="0"/>
                        <a:t>x</a:t>
                      </a:r>
                      <a:r>
                        <a:rPr lang="pt-BR" sz="1600" b="1" baseline="-25000" dirty="0"/>
                        <a:t>1</a:t>
                      </a:r>
                      <a:r>
                        <a:rPr lang="pt-BR" sz="1600" b="1" baseline="30000" dirty="0"/>
                        <a:t>2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 b="1" dirty="0"/>
                        <a:t>x</a:t>
                      </a:r>
                      <a:r>
                        <a:rPr lang="pt-BR" sz="1600" b="1" baseline="-25000" dirty="0"/>
                        <a:t>2</a:t>
                      </a:r>
                      <a:r>
                        <a:rPr lang="pt-BR" sz="1600" b="1" baseline="30000" dirty="0"/>
                        <a:t>2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 b="1" dirty="0"/>
                        <a:t>x</a:t>
                      </a:r>
                      <a:r>
                        <a:rPr lang="pt-BR" sz="1600" b="1" baseline="-25000" dirty="0"/>
                        <a:t>1</a:t>
                      </a:r>
                      <a:r>
                        <a:rPr lang="pt-BR" sz="1600" b="1" dirty="0"/>
                        <a:t>x</a:t>
                      </a:r>
                      <a:r>
                        <a:rPr lang="pt-BR" sz="1600" b="1" baseline="-25000" dirty="0"/>
                        <a:t>2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 b="1" dirty="0"/>
                        <a:t>x</a:t>
                      </a:r>
                      <a:r>
                        <a:rPr lang="pt-BR" sz="1600" b="1" baseline="-25000" dirty="0"/>
                        <a:t>1</a:t>
                      </a:r>
                      <a:r>
                        <a:rPr lang="pt-BR" sz="1600" b="1" dirty="0"/>
                        <a:t>y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 b="1" dirty="0"/>
                        <a:t>x</a:t>
                      </a:r>
                      <a:r>
                        <a:rPr lang="pt-BR" sz="1600" b="1" baseline="-25000" dirty="0"/>
                        <a:t>2</a:t>
                      </a:r>
                      <a:r>
                        <a:rPr lang="pt-BR" sz="1600" b="1" dirty="0"/>
                        <a:t>y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705225041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1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90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630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70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8100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396900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56700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6300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44100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873919117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2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80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720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90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6400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518400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57600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7200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64800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826956503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3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70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700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100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4900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490000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49000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7000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70000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663171676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4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70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625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90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4900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390625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43750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6300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56250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75718114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5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70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735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105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4900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540225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51450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7350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77175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746710750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6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70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560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80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4900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313600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39200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5600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44800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570059061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7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65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715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110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4225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511225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46475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7150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78650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864685211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8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60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720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125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3600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518400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43200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7500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90000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4034816421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9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60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690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115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3600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476100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41400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6900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79350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458088438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10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55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715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130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3025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511225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39325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7150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92950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759366680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11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50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650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130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2500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422500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32500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6500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/>
                        <a:t>84500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920792148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l-GR" sz="1600" b="1"/>
                        <a:t>Σ</a:t>
                      </a:r>
                      <a:endParaRPr lang="el-GR" sz="160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 b="1"/>
                        <a:t>740</a:t>
                      </a:r>
                      <a:endParaRPr lang="pt-BR" sz="160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 b="1"/>
                        <a:t>7460</a:t>
                      </a:r>
                      <a:endParaRPr lang="pt-BR" sz="160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 b="1"/>
                        <a:t>1145</a:t>
                      </a:r>
                      <a:endParaRPr lang="pt-BR" sz="160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 b="1"/>
                        <a:t>51050</a:t>
                      </a:r>
                      <a:endParaRPr lang="pt-BR" sz="160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 b="1"/>
                        <a:t>5089200</a:t>
                      </a:r>
                      <a:endParaRPr lang="pt-BR" sz="160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 b="1"/>
                        <a:t>500600</a:t>
                      </a:r>
                      <a:endParaRPr lang="pt-BR" sz="160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 b="1"/>
                        <a:t>74950</a:t>
                      </a:r>
                      <a:endParaRPr lang="pt-BR" sz="160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sz="1600" b="1" dirty="0"/>
                        <a:t>782575</a:t>
                      </a:r>
                      <a:endParaRPr lang="pt-BR" sz="1600" dirty="0"/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814820162"/>
                  </a:ext>
                </a:extLst>
              </a:tr>
            </a:tbl>
          </a:graphicData>
        </a:graphic>
      </p:graphicFrame>
      <p:pic>
        <p:nvPicPr>
          <p:cNvPr id="12" name="Imagem 11">
            <a:extLst>
              <a:ext uri="{FF2B5EF4-FFF2-40B4-BE49-F238E27FC236}">
                <a16:creationId xmlns:a16="http://schemas.microsoft.com/office/drawing/2014/main" id="{47B273E9-7A84-6C8F-FFAE-3F2BB9928F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5871D156-B927-38EB-22C2-BF6371701D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2227" y="1051604"/>
            <a:ext cx="3867690" cy="97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2185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FFC0E-2D31-0A15-E2C0-2034DE7CC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Imagem 59">
            <a:extLst>
              <a:ext uri="{FF2B5EF4-FFF2-40B4-BE49-F238E27FC236}">
                <a16:creationId xmlns:a16="http://schemas.microsoft.com/office/drawing/2014/main" id="{DA15DF0D-3434-32D1-4470-AC088FC77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9FE3C5FB-655B-5FA9-BBF8-1EE887D0B8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548" y="1111841"/>
            <a:ext cx="6954220" cy="143847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D25462B2-BF13-7E4E-3E74-6ED6E7189C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059" y="1591874"/>
            <a:ext cx="2432735" cy="611180"/>
          </a:xfrm>
          <a:prstGeom prst="rect">
            <a:avLst/>
          </a:prstGeom>
        </p:spPr>
      </p:pic>
      <p:pic>
        <p:nvPicPr>
          <p:cNvPr id="43" name="Imagem 42">
            <a:extLst>
              <a:ext uri="{FF2B5EF4-FFF2-40B4-BE49-F238E27FC236}">
                <a16:creationId xmlns:a16="http://schemas.microsoft.com/office/drawing/2014/main" id="{D4A759A9-366E-7702-BECD-6DE19C76E3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0762" y="2782919"/>
            <a:ext cx="5891409" cy="3976419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A6AB3E8C-EF72-7FB9-243A-EEB0EE5093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23DB5AB8-0FBC-F22B-DAD5-F850587A1DFB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Regressão Linear Multipla - Resolução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0D1AC609-033A-BBB5-7FA4-0FC90C3E9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26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F16548D3-F257-C2A5-786D-0289C261526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91098"/>
          <a:stretch>
            <a:fillRect/>
          </a:stretch>
        </p:blipFill>
        <p:spPr>
          <a:xfrm>
            <a:off x="522514" y="2508409"/>
            <a:ext cx="7358743" cy="387191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C3C94403-EE93-E128-0140-0579E057196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66968"/>
          <a:stretch>
            <a:fillRect/>
          </a:stretch>
        </p:blipFill>
        <p:spPr>
          <a:xfrm>
            <a:off x="8026605" y="1380916"/>
            <a:ext cx="3562847" cy="387041"/>
          </a:xfrm>
          <a:prstGeom prst="rect">
            <a:avLst/>
          </a:prstGeom>
        </p:spPr>
      </p:pic>
      <p:pic>
        <p:nvPicPr>
          <p:cNvPr id="45" name="Imagem 44">
            <a:extLst>
              <a:ext uri="{FF2B5EF4-FFF2-40B4-BE49-F238E27FC236}">
                <a16:creationId xmlns:a16="http://schemas.microsoft.com/office/drawing/2014/main" id="{1D466830-DDFB-BF93-8568-82AEAA42663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13201" y="1872209"/>
            <a:ext cx="2175131" cy="696042"/>
          </a:xfrm>
          <a:prstGeom prst="rect">
            <a:avLst/>
          </a:prstGeom>
        </p:spPr>
      </p:pic>
      <p:pic>
        <p:nvPicPr>
          <p:cNvPr id="47" name="Imagem 46">
            <a:extLst>
              <a:ext uri="{FF2B5EF4-FFF2-40B4-BE49-F238E27FC236}">
                <a16:creationId xmlns:a16="http://schemas.microsoft.com/office/drawing/2014/main" id="{0FE3F6AF-E3D8-D6CC-7FA0-65D4BCF03B6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19695" y="2732958"/>
            <a:ext cx="2181625" cy="696042"/>
          </a:xfrm>
          <a:prstGeom prst="rect">
            <a:avLst/>
          </a:prstGeom>
        </p:spPr>
      </p:pic>
      <p:pic>
        <p:nvPicPr>
          <p:cNvPr id="49" name="Imagem 48">
            <a:extLst>
              <a:ext uri="{FF2B5EF4-FFF2-40B4-BE49-F238E27FC236}">
                <a16:creationId xmlns:a16="http://schemas.microsoft.com/office/drawing/2014/main" id="{1694CE9F-FDF0-00F0-04A5-59A76E058DE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32683" y="3533252"/>
            <a:ext cx="2168637" cy="730488"/>
          </a:xfrm>
          <a:prstGeom prst="rect">
            <a:avLst/>
          </a:prstGeom>
        </p:spPr>
      </p:pic>
      <p:grpSp>
        <p:nvGrpSpPr>
          <p:cNvPr id="55" name="Agrupar 54">
            <a:extLst>
              <a:ext uri="{FF2B5EF4-FFF2-40B4-BE49-F238E27FC236}">
                <a16:creationId xmlns:a16="http://schemas.microsoft.com/office/drawing/2014/main" id="{C7A40B59-C6AB-1364-BCC4-AFA52A939601}"/>
              </a:ext>
            </a:extLst>
          </p:cNvPr>
          <p:cNvGrpSpPr/>
          <p:nvPr/>
        </p:nvGrpSpPr>
        <p:grpSpPr>
          <a:xfrm>
            <a:off x="445996" y="1554944"/>
            <a:ext cx="7402843" cy="5246951"/>
            <a:chOff x="547243" y="1512386"/>
            <a:chExt cx="7402843" cy="5246951"/>
          </a:xfrm>
        </p:grpSpPr>
        <p:grpSp>
          <p:nvGrpSpPr>
            <p:cNvPr id="52" name="Agrupar 51">
              <a:extLst>
                <a:ext uri="{FF2B5EF4-FFF2-40B4-BE49-F238E27FC236}">
                  <a16:creationId xmlns:a16="http://schemas.microsoft.com/office/drawing/2014/main" id="{C96190AF-FF9B-C3F8-7119-B6A46C2FD32B}"/>
                </a:ext>
              </a:extLst>
            </p:cNvPr>
            <p:cNvGrpSpPr/>
            <p:nvPr/>
          </p:nvGrpSpPr>
          <p:grpSpPr>
            <a:xfrm>
              <a:off x="547243" y="1512386"/>
              <a:ext cx="7402843" cy="5246951"/>
              <a:chOff x="-651369" y="1231592"/>
              <a:chExt cx="7064828" cy="4772218"/>
            </a:xfrm>
          </p:grpSpPr>
          <p:sp>
            <p:nvSpPr>
              <p:cNvPr id="22" name="Retângulo 21">
                <a:extLst>
                  <a:ext uri="{FF2B5EF4-FFF2-40B4-BE49-F238E27FC236}">
                    <a16:creationId xmlns:a16="http://schemas.microsoft.com/office/drawing/2014/main" id="{8C9948C4-DF56-7F4A-9A9A-9CB37C6B9E43}"/>
                  </a:ext>
                </a:extLst>
              </p:cNvPr>
              <p:cNvSpPr/>
              <p:nvPr/>
            </p:nvSpPr>
            <p:spPr>
              <a:xfrm>
                <a:off x="-651369" y="1231592"/>
                <a:ext cx="7064828" cy="477221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PT" b="1" dirty="0">
                    <a:solidFill>
                      <a:schemeClr val="tx1"/>
                    </a:solidFill>
                  </a:rPr>
                  <a:t>Equação ajustada para as variáveis</a:t>
                </a:r>
              </a:p>
              <a:p>
                <a:pPr algn="ctr"/>
                <a:endParaRPr lang="pt-PT" dirty="0">
                  <a:solidFill>
                    <a:schemeClr val="tx1"/>
                  </a:solidFill>
                </a:endParaRPr>
              </a:p>
              <a:p>
                <a:pPr algn="ctr"/>
                <a:endParaRPr lang="pt-PT" dirty="0">
                  <a:solidFill>
                    <a:schemeClr val="tx1"/>
                  </a:solidFill>
                </a:endParaRPr>
              </a:p>
              <a:p>
                <a:pPr algn="ctr"/>
                <a:endParaRPr lang="pt-PT" dirty="0">
                  <a:solidFill>
                    <a:schemeClr val="tx1"/>
                  </a:solidFill>
                </a:endParaRPr>
              </a:p>
              <a:p>
                <a:pPr algn="ctr"/>
                <a:endParaRPr lang="pt-PT" dirty="0">
                  <a:solidFill>
                    <a:schemeClr val="tx1"/>
                  </a:solidFill>
                </a:endParaRPr>
              </a:p>
              <a:p>
                <a:pPr algn="ctr"/>
                <a:endParaRPr lang="pt-PT" dirty="0">
                  <a:solidFill>
                    <a:schemeClr val="tx1"/>
                  </a:solidFill>
                </a:endParaRPr>
              </a:p>
              <a:p>
                <a:pPr algn="ctr"/>
                <a:endParaRPr lang="pt-PT" dirty="0">
                  <a:solidFill>
                    <a:schemeClr val="tx1"/>
                  </a:solidFill>
                </a:endParaRPr>
              </a:p>
              <a:p>
                <a:pPr algn="ctr"/>
                <a:endParaRPr lang="pt-PT" dirty="0">
                  <a:solidFill>
                    <a:schemeClr val="tx1"/>
                  </a:solidFill>
                </a:endParaRPr>
              </a:p>
              <a:p>
                <a:pPr algn="ctr"/>
                <a:endParaRPr lang="pt-PT" dirty="0">
                  <a:solidFill>
                    <a:schemeClr val="tx1"/>
                  </a:solidFill>
                </a:endParaRPr>
              </a:p>
              <a:p>
                <a:pPr algn="ctr"/>
                <a:endParaRPr lang="pt-PT" dirty="0">
                  <a:solidFill>
                    <a:schemeClr val="tx1"/>
                  </a:solidFill>
                </a:endParaRPr>
              </a:p>
              <a:p>
                <a:pPr algn="ctr"/>
                <a:endParaRPr lang="pt-PT" dirty="0">
                  <a:solidFill>
                    <a:schemeClr val="tx1"/>
                  </a:solidFill>
                </a:endParaRPr>
              </a:p>
              <a:p>
                <a:pPr algn="ctr"/>
                <a:endParaRPr lang="pt-PT" dirty="0">
                  <a:solidFill>
                    <a:schemeClr val="tx1"/>
                  </a:solidFill>
                </a:endParaRPr>
              </a:p>
              <a:p>
                <a:pPr algn="ctr"/>
                <a:endParaRPr lang="pt-PT" dirty="0">
                  <a:solidFill>
                    <a:schemeClr val="tx1"/>
                  </a:solidFill>
                </a:endParaRPr>
              </a:p>
              <a:p>
                <a:pPr algn="ctr"/>
                <a:endParaRPr lang="pt-PT" dirty="0">
                  <a:solidFill>
                    <a:schemeClr val="tx1"/>
                  </a:solidFill>
                </a:endParaRPr>
              </a:p>
              <a:p>
                <a:pPr algn="ctr"/>
                <a:endParaRPr lang="pt-PT" dirty="0">
                  <a:solidFill>
                    <a:schemeClr val="tx1"/>
                  </a:solidFill>
                </a:endParaRPr>
              </a:p>
              <a:p>
                <a:pPr algn="ctr"/>
                <a:endParaRPr lang="pt-PT" dirty="0">
                  <a:solidFill>
                    <a:schemeClr val="tx1"/>
                  </a:solidFill>
                </a:endParaRPr>
              </a:p>
              <a:p>
                <a:pPr algn="ctr"/>
                <a:endParaRPr lang="pt-BR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51" name="Imagem 50">
                <a:extLst>
                  <a:ext uri="{FF2B5EF4-FFF2-40B4-BE49-F238E27FC236}">
                    <a16:creationId xmlns:a16="http://schemas.microsoft.com/office/drawing/2014/main" id="{EE1C63C6-A959-E5A9-6AAE-A536385DF7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0" y="1780248"/>
                <a:ext cx="5780314" cy="587063"/>
              </a:xfrm>
              <a:prstGeom prst="rect">
                <a:avLst/>
              </a:prstGeom>
            </p:spPr>
          </p:pic>
        </p:grpSp>
        <p:pic>
          <p:nvPicPr>
            <p:cNvPr id="54" name="Imagem 53">
              <a:extLst>
                <a:ext uri="{FF2B5EF4-FFF2-40B4-BE49-F238E27FC236}">
                  <a16:creationId xmlns:a16="http://schemas.microsoft.com/office/drawing/2014/main" id="{475D23F5-2E22-A20E-65B0-90A7B8885D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46145" y="2872628"/>
              <a:ext cx="6810623" cy="3644281"/>
            </a:xfrm>
            <a:prstGeom prst="rect">
              <a:avLst/>
            </a:prstGeom>
          </p:spPr>
        </p:pic>
      </p:grpSp>
      <p:pic>
        <p:nvPicPr>
          <p:cNvPr id="59" name="Imagem 58">
            <a:extLst>
              <a:ext uri="{FF2B5EF4-FFF2-40B4-BE49-F238E27FC236}">
                <a16:creationId xmlns:a16="http://schemas.microsoft.com/office/drawing/2014/main" id="{7731E190-1275-C0E9-D81D-AA9D2C2FE55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9195" y="2850793"/>
            <a:ext cx="7118937" cy="3636848"/>
          </a:xfrm>
          <a:prstGeom prst="rect">
            <a:avLst/>
          </a:prstGeom>
        </p:spPr>
      </p:pic>
      <p:pic>
        <p:nvPicPr>
          <p:cNvPr id="61" name="Imagem 60">
            <a:extLst>
              <a:ext uri="{FF2B5EF4-FFF2-40B4-BE49-F238E27FC236}">
                <a16:creationId xmlns:a16="http://schemas.microsoft.com/office/drawing/2014/main" id="{4654AD38-0AF2-51F9-90E9-9BF8A85737C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892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4128" y="2743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>
                <a:solidFill>
                  <a:srgbClr val="004058"/>
                </a:solidFill>
                <a:latin typeface="Arial"/>
              </a:defRPr>
            </a:pPr>
            <a:r>
              <a:t>Regressão Linear Múltipla — Métricas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841248"/>
            <a:ext cx="10058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84848"/>
                </a:solidFill>
                <a:latin typeface="Arial"/>
              </a:defRPr>
            </a:pPr>
            <a:r>
              <a:t>Depois de ajustar o modelo, avaliamos os resíduos exatamente como na regressão simples.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170432"/>
            <a:ext cx="10716768" cy="621792"/>
          </a:xfrm>
          <a:prstGeom prst="roundRect">
            <a:avLst/>
          </a:prstGeom>
          <a:solidFill>
            <a:srgbClr val="E8F1F8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ctr">
              <a:defRPr sz="1800" b="1">
                <a:solidFill>
                  <a:srgbClr val="004058"/>
                </a:solidFill>
                <a:latin typeface="Arial"/>
              </a:defRPr>
            </a:pPr>
            <a:r>
              <a:t>Modelo ajustado:  ŷ = 110,5207 − 1,50016x₁ + 0,13933x₂</a:t>
            </a:r>
          </a:p>
          <a:p>
            <a:pPr>
              <a:defRPr sz="1200">
                <a:solidFill>
                  <a:srgbClr val="484848"/>
                </a:solidFill>
                <a:latin typeface="Arial"/>
              </a:defRPr>
            </a:pPr>
            <a:r>
              <a:t>y = quantidade vendida (kg);  x₁ = preço;  x₂ = investimento em divulgação</a:t>
            </a:r>
          </a:p>
        </p:txBody>
      </p:sp>
      <p:sp>
        <p:nvSpPr>
          <p:cNvPr id="8" name="Oval 7"/>
          <p:cNvSpPr/>
          <p:nvPr/>
        </p:nvSpPr>
        <p:spPr>
          <a:xfrm>
            <a:off x="713232" y="2002536"/>
            <a:ext cx="338328" cy="338328"/>
          </a:xfrm>
          <a:prstGeom prst="ellipse">
            <a:avLst/>
          </a:prstGeom>
          <a:solidFill>
            <a:srgbClr val="3477B5"/>
          </a:solidFill>
          <a:ln>
            <a:solidFill>
              <a:srgbClr val="3477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5568" y="1965960"/>
            <a:ext cx="4764024" cy="1005840"/>
          </a:xfrm>
          <a:prstGeom prst="roundRect">
            <a:avLst/>
          </a:prstGeom>
          <a:solidFill>
            <a:srgbClr val="F2F6FB"/>
          </a:solidFill>
          <a:ln>
            <a:solidFill>
              <a:srgbClr val="DB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73152" rIns="128016" bIns="54864" rtlCol="0" anchor="ctr"/>
          <a:lstStyle/>
          <a:p>
            <a:pPr algn="ctr">
              <a:defRPr sz="1500" b="1">
                <a:solidFill>
                  <a:srgbClr val="3477B5"/>
                </a:solidFill>
                <a:latin typeface="Arial"/>
              </a:defRPr>
            </a:pPr>
            <a:r>
              <a:t>MAE — Erro Absoluto Médio</a:t>
            </a:r>
          </a:p>
          <a:p>
            <a:pPr>
              <a:defRPr sz="1300" b="1">
                <a:solidFill>
                  <a:srgbClr val="141414"/>
                </a:solidFill>
                <a:latin typeface="Arial"/>
              </a:defRPr>
            </a:pPr>
            <a:r>
              <a:t>MAE = (1/n) Σ|eᵢ|   →   ≈ 3,12 kg</a:t>
            </a:r>
          </a:p>
          <a:p>
            <a:pPr>
              <a:defRPr sz="1150">
                <a:solidFill>
                  <a:srgbClr val="232323"/>
                </a:solidFill>
                <a:latin typeface="Arial"/>
              </a:defRPr>
            </a:pPr>
            <a:r>
              <a:t>Pergunta: quanto o modelo erra normalmente?</a:t>
            </a:r>
          </a:p>
          <a:p>
            <a:pPr>
              <a:defRPr sz="1150">
                <a:solidFill>
                  <a:srgbClr val="232323"/>
                </a:solidFill>
                <a:latin typeface="Arial"/>
              </a:defRPr>
            </a:pPr>
            <a:r>
              <a:t>As previsões ficam, em média, 3,12 kg distantes das vendas reais.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3154680"/>
            <a:ext cx="338328" cy="338328"/>
          </a:xfrm>
          <a:prstGeom prst="ellipse">
            <a:avLst/>
          </a:prstGeom>
          <a:solidFill>
            <a:srgbClr val="BE3732"/>
          </a:solidFill>
          <a:ln>
            <a:solidFill>
              <a:srgbClr val="BE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5568" y="3118104"/>
            <a:ext cx="4764024" cy="1005840"/>
          </a:xfrm>
          <a:prstGeom prst="roundRect">
            <a:avLst/>
          </a:prstGeom>
          <a:solidFill>
            <a:srgbClr val="F2F6FB"/>
          </a:solidFill>
          <a:ln>
            <a:solidFill>
              <a:srgbClr val="DB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73152" rIns="128016" bIns="54864" rtlCol="0" anchor="ctr"/>
          <a:lstStyle/>
          <a:p>
            <a:pPr algn="ctr">
              <a:defRPr sz="1500" b="1">
                <a:solidFill>
                  <a:srgbClr val="BE3732"/>
                </a:solidFill>
                <a:latin typeface="Arial"/>
              </a:defRPr>
            </a:pPr>
            <a:r>
              <a:t>RMSE — Raiz do Erro Quadrático Médio</a:t>
            </a:r>
          </a:p>
          <a:p>
            <a:pPr>
              <a:defRPr sz="1300" b="1">
                <a:solidFill>
                  <a:srgbClr val="141414"/>
                </a:solidFill>
                <a:latin typeface="Arial"/>
              </a:defRPr>
            </a:pPr>
            <a:r>
              <a:t>RMSE = √(SSE/n)   →   ≈ 3,45 kg</a:t>
            </a:r>
          </a:p>
          <a:p>
            <a:pPr>
              <a:defRPr sz="1150">
                <a:solidFill>
                  <a:srgbClr val="232323"/>
                </a:solidFill>
                <a:latin typeface="Arial"/>
              </a:defRPr>
            </a:pPr>
            <a:r>
              <a:t>Pergunta: qual é o erro típico, penalizando erros grandes?</a:t>
            </a:r>
          </a:p>
          <a:p>
            <a:pPr>
              <a:defRPr sz="1150">
                <a:solidFill>
                  <a:srgbClr val="232323"/>
                </a:solidFill>
                <a:latin typeface="Arial"/>
              </a:defRPr>
            </a:pPr>
            <a:r>
              <a:t>Como MAE e RMSE são próximos, poucos erros extremos não dominam a avaliação.</a:t>
            </a:r>
          </a:p>
        </p:txBody>
      </p:sp>
      <p:sp>
        <p:nvSpPr>
          <p:cNvPr id="12" name="Oval 11"/>
          <p:cNvSpPr/>
          <p:nvPr/>
        </p:nvSpPr>
        <p:spPr>
          <a:xfrm>
            <a:off x="6016752" y="2002536"/>
            <a:ext cx="338328" cy="338328"/>
          </a:xfrm>
          <a:prstGeom prst="ellipse">
            <a:avLst/>
          </a:prstGeom>
          <a:solidFill>
            <a:srgbClr val="337E37"/>
          </a:solidFill>
          <a:ln>
            <a:solidFill>
              <a:srgbClr val="33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19088" y="1965960"/>
            <a:ext cx="4764024" cy="1005840"/>
          </a:xfrm>
          <a:prstGeom prst="roundRect">
            <a:avLst/>
          </a:prstGeom>
          <a:solidFill>
            <a:srgbClr val="F2F6FB"/>
          </a:solidFill>
          <a:ln>
            <a:solidFill>
              <a:srgbClr val="DB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73152" rIns="128016" bIns="54864" rtlCol="0" anchor="ctr"/>
          <a:lstStyle/>
          <a:p>
            <a:pPr algn="ctr">
              <a:defRPr sz="1500" b="1">
                <a:solidFill>
                  <a:srgbClr val="337E37"/>
                </a:solidFill>
                <a:latin typeface="Arial"/>
              </a:defRPr>
            </a:pPr>
            <a:r>
              <a:t>R² — Coeficiente de Determinação</a:t>
            </a:r>
          </a:p>
          <a:p>
            <a:pPr>
              <a:defRPr sz="1300" b="1">
                <a:solidFill>
                  <a:srgbClr val="141414"/>
                </a:solidFill>
                <a:latin typeface="Arial"/>
              </a:defRPr>
            </a:pPr>
            <a:r>
              <a:t>R² = 1 − SSE/SST   →   ≈ 0,968</a:t>
            </a:r>
          </a:p>
          <a:p>
            <a:pPr>
              <a:defRPr sz="1150">
                <a:solidFill>
                  <a:srgbClr val="232323"/>
                </a:solidFill>
                <a:latin typeface="Arial"/>
              </a:defRPr>
            </a:pPr>
            <a:r>
              <a:t>Pergunta: quanto da variação de y foi explicada?</a:t>
            </a:r>
          </a:p>
          <a:p>
            <a:pPr>
              <a:defRPr sz="1150">
                <a:solidFill>
                  <a:srgbClr val="232323"/>
                </a:solidFill>
                <a:latin typeface="Arial"/>
              </a:defRPr>
            </a:pPr>
            <a:r>
              <a:t>Preço e investimento explicam cerca de 96,8% da variabilidade da quantidade vendida.</a:t>
            </a:r>
          </a:p>
        </p:txBody>
      </p:sp>
      <p:sp>
        <p:nvSpPr>
          <p:cNvPr id="14" name="Oval 13"/>
          <p:cNvSpPr/>
          <p:nvPr/>
        </p:nvSpPr>
        <p:spPr>
          <a:xfrm>
            <a:off x="6016752" y="3154680"/>
            <a:ext cx="338328" cy="338328"/>
          </a:xfrm>
          <a:prstGeom prst="ellipse">
            <a:avLst/>
          </a:prstGeom>
          <a:solidFill>
            <a:srgbClr val="004058"/>
          </a:solidFill>
          <a:ln>
            <a:solidFill>
              <a:srgbClr val="00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19088" y="3118104"/>
            <a:ext cx="4764024" cy="1005840"/>
          </a:xfrm>
          <a:prstGeom prst="roundRect">
            <a:avLst/>
          </a:prstGeom>
          <a:solidFill>
            <a:srgbClr val="F2F6FB"/>
          </a:solidFill>
          <a:ln>
            <a:solidFill>
              <a:srgbClr val="DB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73152" rIns="128016" bIns="54864" rtlCol="0" anchor="ctr"/>
          <a:lstStyle/>
          <a:p>
            <a:pPr algn="ctr">
              <a:defRPr sz="1500" b="1">
                <a:solidFill>
                  <a:srgbClr val="004058"/>
                </a:solidFill>
                <a:latin typeface="Arial"/>
              </a:defRPr>
            </a:pPr>
            <a:r>
              <a:t>R² ajustado — penaliza variáveis extras</a:t>
            </a:r>
          </a:p>
          <a:p>
            <a:pPr>
              <a:defRPr sz="1300" b="1">
                <a:solidFill>
                  <a:srgbClr val="141414"/>
                </a:solidFill>
                <a:latin typeface="Arial"/>
              </a:defRPr>
            </a:pPr>
            <a:r>
              <a:t>R²aj = 1 − (1−R²)(n−1)/(n−p−1)   →   ≈ 0,960</a:t>
            </a:r>
          </a:p>
          <a:p>
            <a:pPr>
              <a:defRPr sz="1150">
                <a:solidFill>
                  <a:srgbClr val="232323"/>
                </a:solidFill>
                <a:latin typeface="Arial"/>
              </a:defRPr>
            </a:pPr>
            <a:r>
              <a:t>Pergunta: o ajuste continua bom considerando 2 preditores?</a:t>
            </a:r>
          </a:p>
          <a:p>
            <a:pPr>
              <a:defRPr sz="1150">
                <a:solidFill>
                  <a:srgbClr val="232323"/>
                </a:solidFill>
                <a:latin typeface="Arial"/>
              </a:defRPr>
            </a:pPr>
            <a:r>
              <a:t>Mesmo penalizado, o modelo ainda explica cerca de 96,0% da variabilidade.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590288"/>
            <a:ext cx="10716768" cy="987552"/>
          </a:xfrm>
          <a:prstGeom prst="roundRect">
            <a:avLst/>
          </a:prstGeom>
          <a:solidFill>
            <a:srgbClr val="EEF7FC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73152" rIns="164592" bIns="54864" rtlCol="0" anchor="ctr"/>
          <a:lstStyle/>
          <a:p>
            <a:pPr algn="ctr">
              <a:defRPr sz="1300" b="1">
                <a:solidFill>
                  <a:srgbClr val="004058"/>
                </a:solidFill>
                <a:latin typeface="Arial"/>
              </a:defRPr>
            </a:pPr>
            <a:r>
              <a:t>Quantidades que sustentam as métricas:  SST ≈ 4090,91   |   SSE ≈ 130,77   |   MSE ≈ 11,89 kg²   |   erro-padrão ≈ 4,04 kg</a:t>
            </a:r>
          </a:p>
          <a:p>
            <a:pPr>
              <a:defRPr sz="1200">
                <a:solidFill>
                  <a:srgbClr val="1E1E1E"/>
                </a:solidFill>
                <a:latin typeface="Arial"/>
              </a:defRPr>
            </a:pPr>
            <a:r>
              <a:t>Leitura final: o modelo tem erro típico baixo para a escala dos dados e forte poder explicativo, mas ainda precisa de diagnóstico dos resíduos e checagem de multicolinearidade.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52144" y="5696712"/>
            <a:ext cx="9857232" cy="429768"/>
          </a:xfrm>
          <a:prstGeom prst="roundRect">
            <a:avLst/>
          </a:prstGeom>
          <a:solidFill>
            <a:srgbClr val="FFFFFF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4058"/>
                </a:solidFill>
                <a:latin typeface="Arial"/>
              </a:defRPr>
            </a:pPr>
            <a:r>
              <a:t>Ideia-chave:  SST = SSR + SSE   →   variação total = variação explicada + erro restante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3968" y="5956898"/>
            <a:ext cx="1105118" cy="677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Arial"/>
              </a:defRPr>
            </a:pPr>
            <a:r>
              <a:rPr dirty="0"/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95EAA-3DF7-C4C3-79E2-7E6C078F2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095205B8-DC03-13D0-E8A3-0F357BBA0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0E285121-774F-9062-8758-E2A8E5399E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45BF136-AF05-84AE-11C5-4907E7397142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Problema – 1.1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212A6AB-80F0-E236-138B-0DE099487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28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3059D6A-86D3-6B04-C51B-D911E16460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166" y="4447023"/>
            <a:ext cx="6982799" cy="1428949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B2FCD5D-C3F4-EE2C-244A-52192514DD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429" y="1316547"/>
            <a:ext cx="7068536" cy="2514951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1B81BA56-63D5-C7A7-2BFB-FFCAE09F0F4D}"/>
              </a:ext>
            </a:extLst>
          </p:cNvPr>
          <p:cNvSpPr txBox="1"/>
          <p:nvPr/>
        </p:nvSpPr>
        <p:spPr>
          <a:xfrm>
            <a:off x="2536371" y="5989349"/>
            <a:ext cx="57877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3200" b="1" dirty="0"/>
              <a:t>Interprete o resultado os obtidos</a:t>
            </a:r>
            <a:endParaRPr lang="pt-BR" sz="3200" b="1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1E382B74-9034-D538-6FA8-85F5142587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8103A8A2-E6A7-876C-01C7-FDED0206DC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47287" y="1218381"/>
            <a:ext cx="8507012" cy="4610743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0046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72A5A-A5F4-E46F-06BA-90BFAE3FF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FAA4CB71-3E64-0250-B3C8-FF435B116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290C2C01-382A-3387-6997-164B66C6DF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DDCBD766-E8A7-A66C-1043-A42B368AE615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Problema – 1.1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1606785E-70B9-69DE-1EC9-020071105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29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DEE9AF44-9357-5F68-3F28-9D3BCCB907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CF79EAB-9CAA-C038-A2F9-9C7EBD86776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25097"/>
          <a:stretch>
            <a:fillRect/>
          </a:stretch>
        </p:blipFill>
        <p:spPr>
          <a:xfrm>
            <a:off x="1023257" y="1132676"/>
            <a:ext cx="4925112" cy="4288410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053C2183-28EF-50D8-0868-B3442DF9675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31220"/>
          <a:stretch>
            <a:fillRect/>
          </a:stretch>
        </p:blipFill>
        <p:spPr>
          <a:xfrm>
            <a:off x="5658058" y="1218382"/>
            <a:ext cx="5820587" cy="231947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D012168-1E35-D19D-363A-614393D068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61909" y="1153749"/>
            <a:ext cx="8802328" cy="373432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C1E62A0-F83B-6349-FC2E-6B37319C53A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29796" y="1153749"/>
            <a:ext cx="8964276" cy="549669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4175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5F54F-8799-FFA7-7703-9552B9F32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m 16">
            <a:extLst>
              <a:ext uri="{FF2B5EF4-FFF2-40B4-BE49-F238E27FC236}">
                <a16:creationId xmlns:a16="http://schemas.microsoft.com/office/drawing/2014/main" id="{C0A8B9CB-7C2F-1075-0DB3-57A1ECD1A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1E7F7C99-F5E0-CBEA-6000-6A4976DBC0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1F00DC9-A586-B6FF-4363-309B6473C958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Problema 1.2 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2D89EDA-D593-C0D2-DC2D-57B01C6A6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30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FE3F0AD-012F-31B9-8677-FC22C66742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819" y="1139981"/>
            <a:ext cx="5967437" cy="294216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0B1A7E15-735F-651A-B648-6C26C45816F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2589"/>
          <a:stretch>
            <a:fillRect/>
          </a:stretch>
        </p:blipFill>
        <p:spPr>
          <a:xfrm>
            <a:off x="629534" y="4198091"/>
            <a:ext cx="5324952" cy="2035732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6D77DB90-A12B-A77E-8A5A-6A43F28D8F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5069" y="214694"/>
            <a:ext cx="4518581" cy="2920086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F0FF3749-27D7-CF71-1BCA-211BD6B5BA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5069" y="3343930"/>
            <a:ext cx="4706520" cy="3262924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A1823648-744C-F8ED-6750-6E1FE6415D1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100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CE32D-40AD-0E45-08F6-5D660D7DF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>
            <a:extLst>
              <a:ext uri="{FF2B5EF4-FFF2-40B4-BE49-F238E27FC236}">
                <a16:creationId xmlns:a16="http://schemas.microsoft.com/office/drawing/2014/main" id="{9D6379EF-B2AE-B933-38D0-1ABB8A496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E71B725E-CEDA-3206-5BDB-5EA354E923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D8F6D25-3B25-A2CB-0F2E-0BC2484C6110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Regressões Lineares Regularizados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8E5CE109-3BFD-2E85-018B-4C2E936B7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31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F2B8E54-3B14-B55D-93DB-E5B0D64DB0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257" y="1326613"/>
            <a:ext cx="10211180" cy="1699616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E34EEC8A-7EB9-43F1-2935-1FC1EC3B92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4362" y="3533472"/>
            <a:ext cx="8783276" cy="2172003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A6BA5DFD-1D95-96FF-E863-4CF3F06C3F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1581" y="3533472"/>
            <a:ext cx="10583752" cy="2210108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2D81D893-86F3-0FFF-AB13-849341A6FB0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0405" y="3325752"/>
            <a:ext cx="11431595" cy="2572109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086DA4FA-9B51-65F5-6687-620F1179C1D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621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EDA5E-B69F-8BA3-9882-141BCB5F6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017DBA4B-8E41-169F-640A-AA9D19160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CE221DDE-94ED-5556-1E8F-238039D29B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7C6A2325-CB2B-A815-7847-B3890864E0A8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Regressão Polinomial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900E928A-206A-408D-6285-5D251EC55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32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A66794A4-FB45-0FA5-087F-437CA5CF85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223" y="1413517"/>
            <a:ext cx="9183382" cy="3791479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125A60F6-0AB1-2579-DE0B-E01D403FEF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2688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22E9B-4B78-08B4-49E1-D817A5ADD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379BB97A-EE3F-16F1-99D3-88906C1BB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2A76124E-26E8-AB3D-6CF5-A10407384C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92387BCD-23A5-8BEC-AB50-C2D3316F27BA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Regressão Polinomial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30CCFADE-087E-631D-956D-E0D4C1CD7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33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0F4DF3C-5C9D-6ACF-70E4-44993459B9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9019" y="1592410"/>
            <a:ext cx="9573961" cy="439163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9FFF776-63D7-E1CF-19FD-954FC1AB2F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8497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7FDD7-704C-0A84-D2CF-A6D6EDD5F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D6000159-78B3-74F2-D13A-806ECA98C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EE82574D-BAA2-AFB0-37FE-8BC0AC6C87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78232A-C8F0-09B2-207F-72B1090FD5D8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Regressão Polinomial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4743810-378D-87E3-DDF9-1B9B1A795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34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ED47460-5D90-4722-9973-AB6DB5E082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1575" y="1536042"/>
            <a:ext cx="9192908" cy="2915057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A70A8B23-05BF-148A-7797-1FDEA255E6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0362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DE92F-F01A-E712-92F5-2B43054DE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72C1F000-BBFC-543A-1335-AFF38FAEA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2819E57E-E678-9031-1B01-C672A34E1A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BBA9FBA5-15F7-3211-DA7C-4C1DC07FD509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Regressão Polinomial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BBC4797C-13A9-874C-4F42-A3A454180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35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82EE4D0-0387-8462-A798-F2AF0D0D6B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9507" y="1403264"/>
            <a:ext cx="7897327" cy="448690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A8F0D2A-08D8-5AB9-24AD-C5C95FCD64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0F622CD4-8D72-5DC1-A09D-F997C84978D2}"/>
              </a:ext>
            </a:extLst>
          </p:cNvPr>
          <p:cNvSpPr txBox="1"/>
          <p:nvPr/>
        </p:nvSpPr>
        <p:spPr>
          <a:xfrm>
            <a:off x="6706617" y="5770107"/>
            <a:ext cx="37310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/>
              <a:t>decomposição QR </a:t>
            </a:r>
          </a:p>
          <a:p>
            <a:r>
              <a:rPr lang="pt-BR" sz="1400" dirty="0"/>
              <a:t>decomposição em valores singulares</a:t>
            </a:r>
          </a:p>
        </p:txBody>
      </p:sp>
    </p:spTree>
    <p:extLst>
      <p:ext uri="{BB962C8B-B14F-4D97-AF65-F5344CB8AC3E}">
        <p14:creationId xmlns:p14="http://schemas.microsoft.com/office/powerpoint/2010/main" val="10125397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52038-DD19-8346-F26D-0D835194C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3F30D8F-08EF-FDEA-00BD-8B11333067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C812DED6-D395-0D53-4ED6-A7459D6629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94C4AD4-6439-89F4-1E01-AA13A9E26D9B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Regressão Polinomial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E839F7CB-63FC-9557-EB6F-4911CA3DA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36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659E1BC-4662-E414-36FD-1A9E10F85E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9507" y="1403264"/>
            <a:ext cx="7897327" cy="448690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DAFBD37-D346-3BEA-2091-96193FA1CE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9722" y="1357633"/>
            <a:ext cx="8507012" cy="5010849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8897E40-62FA-FBBA-2264-D87BAE5959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966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99971-DD62-9360-9641-2F75E1F9A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06F300F3-CA46-A41A-130C-51CBEB8F9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24F2CA14-578E-6DEA-C113-0C11095FC4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6B6193A-078C-AF97-C5DF-D02768746F9F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Regressão Linear múltipla </a:t>
            </a:r>
            <a:r>
              <a:rPr lang="pt-BR" sz="4800" dirty="0" err="1">
                <a:solidFill>
                  <a:srgbClr val="003958"/>
                </a:solidFill>
                <a:latin typeface="+mj-lt"/>
              </a:rPr>
              <a:t>vs</a:t>
            </a:r>
            <a:r>
              <a:rPr lang="pt-BR" sz="4800" dirty="0">
                <a:solidFill>
                  <a:srgbClr val="003958"/>
                </a:solidFill>
                <a:latin typeface="+mj-lt"/>
              </a:rPr>
              <a:t> Polinomial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9C367BC-4E4A-6469-D9EA-BA64FEC6B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37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244D578-32AD-673C-F736-D412C10C3C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0467" y="1404655"/>
            <a:ext cx="9431066" cy="404869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C1660E37-7683-BDFE-551D-A1DC797933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2529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D0FF7-D7E3-5440-AA18-961997D6E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1FF5A5A6-4B45-32F4-FA4A-A6EB802A7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9019592-BFDE-414C-A381-10DC20F26C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F8C0E985-A255-A618-6324-19B4E5ECA2B6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Regressão Linear múltipla </a:t>
            </a:r>
            <a:r>
              <a:rPr lang="pt-BR" sz="4800" dirty="0" err="1">
                <a:solidFill>
                  <a:srgbClr val="003958"/>
                </a:solidFill>
                <a:latin typeface="+mj-lt"/>
              </a:rPr>
              <a:t>vs</a:t>
            </a:r>
            <a:r>
              <a:rPr lang="pt-BR" sz="4800" dirty="0">
                <a:solidFill>
                  <a:srgbClr val="003958"/>
                </a:solidFill>
                <a:latin typeface="+mj-lt"/>
              </a:rPr>
              <a:t> Polinomial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FF03F7D-065B-49B7-3637-71C40F649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38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0E82A1F-6AFB-5632-2637-9B00284E23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277" y="1434615"/>
            <a:ext cx="10002646" cy="370574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6606A03-C85C-0829-8FAD-A47B2E0301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4711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23BDC-83F1-070E-0E3D-A2A3DE712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41D73E95-6B93-EBE5-7015-9F3E344B7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1277ED1E-51DE-AFDD-E25D-A57E2F3676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64C6EBED-70E7-D166-21C6-A70A5F4748F2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Onde usamos a regressão?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62A24841-BD0D-7FD8-6B0A-5A18000CE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39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B7139B29-C9F3-40A4-943A-4799805BF4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1902" y="1373234"/>
            <a:ext cx="10205109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58775" marR="0" lvl="0" indent="-3587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Marketing e vendas: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prever vendas a partir do gasto em anúncios; medir o efeito do preço nas vendas; estimar o valor de um cliente ao longo do tempo.</a:t>
            </a:r>
          </a:p>
          <a:p>
            <a:pPr marL="358775" marR="0" lvl="0" indent="-3587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Operações e logística: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prever demanda de produtos; estimar tempo de entrega; projetar custo de frete.</a:t>
            </a:r>
          </a:p>
          <a:p>
            <a:pPr marL="358775" marR="0" lvl="0" indent="-3587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Manufatura e qualidade: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prever rendimento, espessura, resistência, consumo de energia e tempo de ciclo a partir de ajustes de máquina; calibrar sensores e curvas de processo.</a:t>
            </a:r>
          </a:p>
          <a:p>
            <a:pPr marL="358775" marR="0" lvl="0" indent="-3587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Saúde e biologia: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ajustar curvas de dose–resposta; prever tempo de internação; estimar custos de procedimentos; ajustar modelos de crescimento.</a:t>
            </a:r>
          </a:p>
          <a:p>
            <a:pPr marL="358775" marR="0" lvl="0" indent="-3587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Finanças: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precificar imóveis (por metragem, bairro etc.); prever receita; estimar risco e perdas esperadas.</a:t>
            </a:r>
          </a:p>
          <a:p>
            <a:pPr marL="358775" marR="0" lvl="0" indent="-3587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Energia: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prever consumo elétrico com base em temperatura e horário; estimar geração solar/eólica.</a:t>
            </a:r>
          </a:p>
          <a:p>
            <a:pPr marL="358775" marR="0" lvl="0" indent="-3587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Tecnologia (web/app):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prever tempo de carregamento; tempo de uso; receita por usuário.</a:t>
            </a:r>
          </a:p>
          <a:p>
            <a:pPr marL="358775" marR="0" lvl="0" indent="-3587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Transporte: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estimar tempo de chegada; prever consumo de combustível por rota e velocidade.</a:t>
            </a:r>
          </a:p>
          <a:p>
            <a:pPr marL="358775" marR="0" lvl="0" indent="-3587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Agricultura: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prever produtividade por clima/solo/insumos; umidade do grão na colheita.</a:t>
            </a:r>
          </a:p>
          <a:p>
            <a:pPr marL="358775" marR="0" lvl="0" indent="-3587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Meio ambiente: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prever qualidade do ar a partir de clima e emissões; nível e vazão de rios.</a:t>
            </a:r>
          </a:p>
          <a:p>
            <a:pPr marL="358775" marR="0" lvl="0" indent="-3587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Esportes: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estimar tempo de prova a partir de treinos; potência/velocidade esperadas.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0F1CBF0C-C014-433C-6DFA-4E993A8CA1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3833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16744-A20C-4172-06C1-1FE4FB6FC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>
            <a:extLst>
              <a:ext uri="{FF2B5EF4-FFF2-40B4-BE49-F238E27FC236}">
                <a16:creationId xmlns:a16="http://schemas.microsoft.com/office/drawing/2014/main" id="{0D65B205-44E4-B536-9668-10399D07C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701A9C30-B70A-451A-D838-5AD5FBDDC4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382" y="3429000"/>
            <a:ext cx="8441504" cy="3233056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A16E609C-4B3F-AFDE-FED9-05527DAF64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382" y="1153749"/>
            <a:ext cx="7750355" cy="2159542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FE679B90-13B3-A10F-01E6-412CA0526D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BDD91206-F639-9205-95EB-3E7604E6C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40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34A3F3ED-B884-1420-2211-A69524796B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6828" y="1224275"/>
            <a:ext cx="8497486" cy="5258534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58A20198-F0CB-7364-C4D6-AEAB8FB68B44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Como usar</a:t>
            </a: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62A3FAE5-229B-3A8B-0D31-490F225F284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527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C9660-9933-BB13-4124-D210C9DA3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m 21">
            <a:extLst>
              <a:ext uri="{FF2B5EF4-FFF2-40B4-BE49-F238E27FC236}">
                <a16:creationId xmlns:a16="http://schemas.microsoft.com/office/drawing/2014/main" id="{57A56918-F785-96F9-0655-2F060E420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52964381-FBBB-D924-FAD8-693036D8DF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80C2E61F-A5CB-B4FF-1A44-A29D489A3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41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ECAFC68-DFD7-6859-3C82-0380AD336EF5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Como usar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5E7F1DE-EC5A-5EFA-354A-30A2789E56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401" y="1289925"/>
            <a:ext cx="9850225" cy="1448002"/>
          </a:xfrm>
          <a:prstGeom prst="rect">
            <a:avLst/>
          </a:prstGeom>
        </p:spPr>
      </p:pic>
      <p:grpSp>
        <p:nvGrpSpPr>
          <p:cNvPr id="16" name="Agrupar 15">
            <a:extLst>
              <a:ext uri="{FF2B5EF4-FFF2-40B4-BE49-F238E27FC236}">
                <a16:creationId xmlns:a16="http://schemas.microsoft.com/office/drawing/2014/main" id="{C0203BB5-2F23-B218-E090-C9A95F4FAAED}"/>
              </a:ext>
            </a:extLst>
          </p:cNvPr>
          <p:cNvGrpSpPr/>
          <p:nvPr/>
        </p:nvGrpSpPr>
        <p:grpSpPr>
          <a:xfrm>
            <a:off x="215120" y="1435538"/>
            <a:ext cx="11473275" cy="4052780"/>
            <a:chOff x="215120" y="1435538"/>
            <a:chExt cx="11473275" cy="4052780"/>
          </a:xfrm>
        </p:grpSpPr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6480EB01-1DB3-9723-B60E-C6009EC5288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15120" y="1435538"/>
              <a:ext cx="5253305" cy="4052780"/>
            </a:xfrm>
            <a:prstGeom prst="rect">
              <a:avLst/>
            </a:prstGeom>
          </p:spPr>
        </p:pic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323D2E78-FFA2-760A-E129-F9BA86615AB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435996" y="1435538"/>
              <a:ext cx="6252399" cy="2892540"/>
            </a:xfrm>
            <a:prstGeom prst="rect">
              <a:avLst/>
            </a:prstGeom>
          </p:spPr>
        </p:pic>
      </p:grp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B4568863-DC47-0A26-DF05-F616DC5FFF34}"/>
              </a:ext>
            </a:extLst>
          </p:cNvPr>
          <p:cNvGrpSpPr/>
          <p:nvPr/>
        </p:nvGrpSpPr>
        <p:grpSpPr>
          <a:xfrm>
            <a:off x="370115" y="1307997"/>
            <a:ext cx="11185278" cy="5208912"/>
            <a:chOff x="1023257" y="1435538"/>
            <a:chExt cx="10918785" cy="5060485"/>
          </a:xfrm>
        </p:grpSpPr>
        <p:pic>
          <p:nvPicPr>
            <p:cNvPr id="18" name="Imagem 17">
              <a:extLst>
                <a:ext uri="{FF2B5EF4-FFF2-40B4-BE49-F238E27FC236}">
                  <a16:creationId xmlns:a16="http://schemas.microsoft.com/office/drawing/2014/main" id="{3B9408D2-A68A-1304-4FA1-A496878BD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23257" y="1435538"/>
              <a:ext cx="7722740" cy="5060485"/>
            </a:xfrm>
            <a:prstGeom prst="rect">
              <a:avLst/>
            </a:prstGeom>
          </p:spPr>
        </p:pic>
        <p:pic>
          <p:nvPicPr>
            <p:cNvPr id="20" name="Imagem 19">
              <a:extLst>
                <a:ext uri="{FF2B5EF4-FFF2-40B4-BE49-F238E27FC236}">
                  <a16:creationId xmlns:a16="http://schemas.microsoft.com/office/drawing/2014/main" id="{DE7B1542-CB34-8319-746D-AC5C8B48DCA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624987" y="2116613"/>
              <a:ext cx="3317055" cy="2409103"/>
            </a:xfrm>
            <a:prstGeom prst="rect">
              <a:avLst/>
            </a:prstGeom>
          </p:spPr>
        </p:pic>
      </p:grpSp>
      <p:pic>
        <p:nvPicPr>
          <p:cNvPr id="23" name="Imagem 22">
            <a:extLst>
              <a:ext uri="{FF2B5EF4-FFF2-40B4-BE49-F238E27FC236}">
                <a16:creationId xmlns:a16="http://schemas.microsoft.com/office/drawing/2014/main" id="{5F66C000-A181-F569-60A3-56B7E6F80A6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690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4"/>
          <p:cNvSpPr txBox="1"/>
          <p:nvPr/>
        </p:nvSpPr>
        <p:spPr>
          <a:xfrm>
            <a:off x="1023257" y="341091"/>
            <a:ext cx="108771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0" i="0" u="none" strike="noStrike" cap="none" dirty="0">
                <a:solidFill>
                  <a:srgbClr val="003958"/>
                </a:solidFill>
                <a:latin typeface="+mj-lt"/>
                <a:ea typeface="Calibri"/>
                <a:cs typeface="Calibri"/>
                <a:sym typeface="Calibri"/>
              </a:rPr>
              <a:t>Método de Separação Treino e Teste –</a:t>
            </a:r>
            <a:r>
              <a:rPr lang="pt-BR" sz="3200" dirty="0">
                <a:solidFill>
                  <a:srgbClr val="003958"/>
                </a:solidFill>
                <a:latin typeface="+mj-lt"/>
                <a:ea typeface="Calibri"/>
                <a:cs typeface="Calibri"/>
                <a:sym typeface="Calibri"/>
              </a:rPr>
              <a:t> Método </a:t>
            </a:r>
            <a:r>
              <a:rPr lang="pt-BR" sz="3200" dirty="0" err="1">
                <a:solidFill>
                  <a:srgbClr val="003958"/>
                </a:solidFill>
                <a:latin typeface="+mj-lt"/>
                <a:ea typeface="Calibri"/>
                <a:cs typeface="Calibri"/>
                <a:sym typeface="Calibri"/>
              </a:rPr>
              <a:t>Holdout</a:t>
            </a:r>
            <a:endParaRPr sz="10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4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42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98" name="Google Shape;198;p24"/>
          <p:cNvSpPr txBox="1"/>
          <p:nvPr/>
        </p:nvSpPr>
        <p:spPr>
          <a:xfrm>
            <a:off x="425357" y="1524000"/>
            <a:ext cx="11475000" cy="41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Este método consiste em dividir o conjunto total de dados em dois subconjuntos mutuamente exclusivos, um para treinamento (estimação dos parâmetros) e outro para teste (validação).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Normalmente se divide em uma proporção 70/30, onde o 70 representa 70% do seu conjunto de dados, que por sua vez será usado para treinar seu modelo e 30 os 30% restantes para testar sua performance.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3599" y="4429471"/>
            <a:ext cx="4307180" cy="2419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9D16AAE8-158B-D2AD-7893-C29F20C614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4"/>
          <p:cNvSpPr txBox="1"/>
          <p:nvPr/>
        </p:nvSpPr>
        <p:spPr>
          <a:xfrm>
            <a:off x="1023257" y="341091"/>
            <a:ext cx="108771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0" i="0" u="none" strike="noStrike" cap="none" dirty="0" err="1">
                <a:solidFill>
                  <a:srgbClr val="003958"/>
                </a:solidFill>
                <a:latin typeface="+mj-lt"/>
                <a:ea typeface="Calibri"/>
                <a:cs typeface="Calibri"/>
                <a:sym typeface="Calibri"/>
              </a:rPr>
              <a:t>Dataset</a:t>
            </a:r>
            <a:r>
              <a:rPr lang="pt-BR" sz="3600" b="0" i="0" u="none" strike="noStrike" cap="none" dirty="0">
                <a:solidFill>
                  <a:srgbClr val="003958"/>
                </a:solidFill>
                <a:latin typeface="+mj-lt"/>
                <a:ea typeface="Calibri"/>
                <a:cs typeface="Calibri"/>
                <a:sym typeface="Calibri"/>
              </a:rPr>
              <a:t> de Carros para aplicação de regressão</a:t>
            </a:r>
            <a:endParaRPr sz="105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4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43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98" name="Google Shape;198;p24"/>
          <p:cNvSpPr txBox="1"/>
          <p:nvPr/>
        </p:nvSpPr>
        <p:spPr>
          <a:xfrm>
            <a:off x="425357" y="1524000"/>
            <a:ext cx="11475000" cy="41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AC025CD-949E-4A94-A388-FE02A2FF72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5044" y="1137286"/>
            <a:ext cx="9903699" cy="5720714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82003363-DFEA-0464-12BE-06FE05201E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015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4"/>
          <p:cNvSpPr txBox="1"/>
          <p:nvPr/>
        </p:nvSpPr>
        <p:spPr>
          <a:xfrm>
            <a:off x="1023257" y="341091"/>
            <a:ext cx="108771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0" i="0" u="none" strike="noStrike" cap="none" dirty="0" err="1">
                <a:solidFill>
                  <a:srgbClr val="003958"/>
                </a:solidFill>
                <a:latin typeface="+mj-lt"/>
                <a:ea typeface="Calibri"/>
                <a:cs typeface="Calibri"/>
                <a:sym typeface="Calibri"/>
              </a:rPr>
              <a:t>Dataset</a:t>
            </a:r>
            <a:r>
              <a:rPr lang="pt-BR" sz="3600" b="0" i="0" u="none" strike="noStrike" cap="none" dirty="0">
                <a:solidFill>
                  <a:srgbClr val="003958"/>
                </a:solidFill>
                <a:latin typeface="+mj-lt"/>
                <a:ea typeface="Calibri"/>
                <a:cs typeface="Calibri"/>
                <a:sym typeface="Calibri"/>
              </a:rPr>
              <a:t> de Carros para aplicação de regressão</a:t>
            </a:r>
            <a:endParaRPr sz="105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4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44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98" name="Google Shape;198;p24"/>
          <p:cNvSpPr txBox="1"/>
          <p:nvPr/>
        </p:nvSpPr>
        <p:spPr>
          <a:xfrm>
            <a:off x="425357" y="1524000"/>
            <a:ext cx="11475000" cy="41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D821F15F-1D4E-05DB-B7AF-75AC407657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905B7D25-4A1A-DFB6-68F3-2C62FBF644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6872" y="1206600"/>
            <a:ext cx="9496100" cy="3877029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96B1A5C1-28A9-4642-9E24-96F923779F9B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45162" b="17520"/>
          <a:stretch/>
        </p:blipFill>
        <p:spPr>
          <a:xfrm>
            <a:off x="1690259" y="341091"/>
            <a:ext cx="9318899" cy="602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974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4"/>
          <p:cNvSpPr txBox="1"/>
          <p:nvPr/>
        </p:nvSpPr>
        <p:spPr>
          <a:xfrm>
            <a:off x="1023257" y="341091"/>
            <a:ext cx="108771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0" i="0" u="none" strike="noStrike" cap="none" dirty="0" err="1">
                <a:solidFill>
                  <a:srgbClr val="003958"/>
                </a:solidFill>
                <a:latin typeface="+mj-lt"/>
                <a:ea typeface="Calibri"/>
                <a:cs typeface="Calibri"/>
                <a:sym typeface="Calibri"/>
              </a:rPr>
              <a:t>Dataset</a:t>
            </a:r>
            <a:r>
              <a:rPr lang="pt-BR" sz="3600" b="0" i="0" u="none" strike="noStrike" cap="none" dirty="0">
                <a:solidFill>
                  <a:srgbClr val="003958"/>
                </a:solidFill>
                <a:latin typeface="+mj-lt"/>
                <a:ea typeface="Calibri"/>
                <a:cs typeface="Calibri"/>
                <a:sym typeface="Calibri"/>
              </a:rPr>
              <a:t> de Carros para aplicação de regressão</a:t>
            </a:r>
            <a:endParaRPr sz="105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4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45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98" name="Google Shape;198;p24"/>
          <p:cNvSpPr txBox="1"/>
          <p:nvPr/>
        </p:nvSpPr>
        <p:spPr>
          <a:xfrm>
            <a:off x="425357" y="1524000"/>
            <a:ext cx="11475000" cy="41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30DFB06-0201-428F-BC10-F5722F77BB8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10412"/>
          <a:stretch/>
        </p:blipFill>
        <p:spPr>
          <a:xfrm>
            <a:off x="2990589" y="1319691"/>
            <a:ext cx="6344535" cy="5316941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70D647C1-A9DD-5D5A-E161-DDD5862F1C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316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4"/>
          <p:cNvSpPr txBox="1"/>
          <p:nvPr/>
        </p:nvSpPr>
        <p:spPr>
          <a:xfrm>
            <a:off x="1023257" y="341091"/>
            <a:ext cx="108771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0" i="0" u="none" strike="noStrike" cap="none" dirty="0" err="1">
                <a:solidFill>
                  <a:srgbClr val="003958"/>
                </a:solidFill>
                <a:latin typeface="+mj-lt"/>
                <a:ea typeface="Calibri"/>
                <a:cs typeface="Calibri"/>
                <a:sym typeface="Calibri"/>
              </a:rPr>
              <a:t>Dataset</a:t>
            </a:r>
            <a:r>
              <a:rPr lang="pt-BR" sz="3600" b="0" i="0" u="none" strike="noStrike" cap="none" dirty="0">
                <a:solidFill>
                  <a:srgbClr val="003958"/>
                </a:solidFill>
                <a:latin typeface="+mj-lt"/>
                <a:ea typeface="Calibri"/>
                <a:cs typeface="Calibri"/>
                <a:sym typeface="Calibri"/>
              </a:rPr>
              <a:t> de Carros para aplicação de regressão</a:t>
            </a:r>
            <a:endParaRPr sz="105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4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46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98" name="Google Shape;198;p24"/>
          <p:cNvSpPr txBox="1"/>
          <p:nvPr/>
        </p:nvSpPr>
        <p:spPr>
          <a:xfrm>
            <a:off x="425357" y="1524000"/>
            <a:ext cx="11475000" cy="41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C75641F-6965-4CA1-B53B-B4BECAC4DC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2305" y="2014206"/>
            <a:ext cx="10152832" cy="3499335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4C1821E3-A8F1-464B-6D64-97D162D81D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312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4"/>
          <p:cNvSpPr txBox="1"/>
          <p:nvPr/>
        </p:nvSpPr>
        <p:spPr>
          <a:xfrm>
            <a:off x="1023257" y="341091"/>
            <a:ext cx="108771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0" i="0" u="none" strike="noStrike" cap="none" dirty="0" err="1">
                <a:solidFill>
                  <a:srgbClr val="003958"/>
                </a:solidFill>
                <a:latin typeface="+mj-lt"/>
                <a:ea typeface="Calibri"/>
                <a:cs typeface="Calibri"/>
                <a:sym typeface="Calibri"/>
              </a:rPr>
              <a:t>Dataset</a:t>
            </a:r>
            <a:r>
              <a:rPr lang="pt-BR" sz="3600" b="0" i="0" u="none" strike="noStrike" cap="none" dirty="0">
                <a:solidFill>
                  <a:srgbClr val="003958"/>
                </a:solidFill>
                <a:latin typeface="+mj-lt"/>
                <a:ea typeface="Calibri"/>
                <a:cs typeface="Calibri"/>
                <a:sym typeface="Calibri"/>
              </a:rPr>
              <a:t> de Carros para aplicação de regressão</a:t>
            </a:r>
            <a:endParaRPr sz="105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4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47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98" name="Google Shape;198;p24"/>
          <p:cNvSpPr txBox="1"/>
          <p:nvPr/>
        </p:nvSpPr>
        <p:spPr>
          <a:xfrm>
            <a:off x="425357" y="1524000"/>
            <a:ext cx="11475000" cy="41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B2B72BF-4B4F-4D37-A507-C190078B37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2867" y="1976366"/>
            <a:ext cx="9685466" cy="3489252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E4BB6B71-190A-7766-AA7F-1CCDB4CFBB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725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4"/>
          <p:cNvSpPr txBox="1"/>
          <p:nvPr/>
        </p:nvSpPr>
        <p:spPr>
          <a:xfrm>
            <a:off x="1023257" y="341091"/>
            <a:ext cx="108771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0" i="0" u="none" strike="noStrike" cap="none" dirty="0" err="1">
                <a:solidFill>
                  <a:srgbClr val="003958"/>
                </a:solidFill>
                <a:latin typeface="+mj-lt"/>
                <a:ea typeface="Calibri"/>
                <a:cs typeface="Calibri"/>
                <a:sym typeface="Calibri"/>
              </a:rPr>
              <a:t>Dataset</a:t>
            </a:r>
            <a:r>
              <a:rPr lang="pt-BR" sz="3600" b="0" i="0" u="none" strike="noStrike" cap="none" dirty="0">
                <a:solidFill>
                  <a:srgbClr val="003958"/>
                </a:solidFill>
                <a:latin typeface="+mj-lt"/>
                <a:ea typeface="Calibri"/>
                <a:cs typeface="Calibri"/>
                <a:sym typeface="Calibri"/>
              </a:rPr>
              <a:t> de Carros para aplicação de regressão</a:t>
            </a:r>
            <a:endParaRPr sz="105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4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48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98" name="Google Shape;198;p24"/>
          <p:cNvSpPr txBox="1"/>
          <p:nvPr/>
        </p:nvSpPr>
        <p:spPr>
          <a:xfrm>
            <a:off x="425357" y="1524000"/>
            <a:ext cx="11475000" cy="41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3F70637-961A-447B-8330-3CEF37B297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7055" y="1660782"/>
            <a:ext cx="8815610" cy="4651818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FDBB6E14-583C-323B-9740-B320850BD2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912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4"/>
          <p:cNvSpPr txBox="1"/>
          <p:nvPr/>
        </p:nvSpPr>
        <p:spPr>
          <a:xfrm>
            <a:off x="1023257" y="341091"/>
            <a:ext cx="108771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0" i="0" u="none" strike="noStrike" cap="none" dirty="0" err="1">
                <a:solidFill>
                  <a:srgbClr val="003958"/>
                </a:solidFill>
                <a:latin typeface="+mj-lt"/>
                <a:ea typeface="Calibri"/>
                <a:cs typeface="Calibri"/>
                <a:sym typeface="Calibri"/>
              </a:rPr>
              <a:t>Dataset</a:t>
            </a:r>
            <a:r>
              <a:rPr lang="pt-BR" sz="3600" b="0" i="0" u="none" strike="noStrike" cap="none" dirty="0">
                <a:solidFill>
                  <a:srgbClr val="003958"/>
                </a:solidFill>
                <a:latin typeface="+mj-lt"/>
                <a:ea typeface="Calibri"/>
                <a:cs typeface="Calibri"/>
                <a:sym typeface="Calibri"/>
              </a:rPr>
              <a:t> de Carros para aplicação de regressão</a:t>
            </a:r>
            <a:endParaRPr sz="105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4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49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98" name="Google Shape;198;p24"/>
          <p:cNvSpPr txBox="1"/>
          <p:nvPr/>
        </p:nvSpPr>
        <p:spPr>
          <a:xfrm>
            <a:off x="425357" y="1524000"/>
            <a:ext cx="11475000" cy="41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E1D18E3-AB36-4C34-8DF2-A0818A84B7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4934" y="1524000"/>
            <a:ext cx="9005482" cy="4646616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E9004090-5FA8-4264-AC94-CF010A3FDD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182" y="5770107"/>
            <a:ext cx="11028151" cy="1472423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B6EFA5A4-39E8-3D98-F516-776FFEC87B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780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4"/>
          <p:cNvSpPr txBox="1"/>
          <p:nvPr/>
        </p:nvSpPr>
        <p:spPr>
          <a:xfrm>
            <a:off x="1023257" y="341091"/>
            <a:ext cx="108771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0" i="0" u="none" strike="noStrike" cap="none" dirty="0" err="1">
                <a:solidFill>
                  <a:srgbClr val="003958"/>
                </a:solidFill>
                <a:latin typeface="+mj-lt"/>
                <a:ea typeface="Calibri"/>
                <a:cs typeface="Calibri"/>
                <a:sym typeface="Calibri"/>
              </a:rPr>
              <a:t>Dataset</a:t>
            </a:r>
            <a:r>
              <a:rPr lang="pt-BR" sz="3600" b="0" i="0" u="none" strike="noStrike" cap="none" dirty="0">
                <a:solidFill>
                  <a:srgbClr val="003958"/>
                </a:solidFill>
                <a:latin typeface="+mj-lt"/>
                <a:ea typeface="Calibri"/>
                <a:cs typeface="Calibri"/>
                <a:sym typeface="Calibri"/>
              </a:rPr>
              <a:t> de Carros para aplicação de regressão</a:t>
            </a:r>
            <a:endParaRPr sz="105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4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50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98" name="Google Shape;198;p24"/>
          <p:cNvSpPr txBox="1"/>
          <p:nvPr/>
        </p:nvSpPr>
        <p:spPr>
          <a:xfrm>
            <a:off x="425357" y="1524000"/>
            <a:ext cx="11475000" cy="41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C23E8DE-57B1-4DE0-8788-D65E2DE22B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8018" y="1540308"/>
            <a:ext cx="5664234" cy="4976601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BA20E64B-112E-994C-858B-F0F969D568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813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4"/>
          <p:cNvSpPr txBox="1"/>
          <p:nvPr/>
        </p:nvSpPr>
        <p:spPr>
          <a:xfrm>
            <a:off x="1023257" y="341091"/>
            <a:ext cx="108771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0" i="0" u="none" strike="noStrike" cap="none" dirty="0" err="1">
                <a:solidFill>
                  <a:srgbClr val="003958"/>
                </a:solidFill>
                <a:latin typeface="+mj-lt"/>
                <a:ea typeface="Calibri"/>
                <a:cs typeface="Calibri"/>
                <a:sym typeface="Calibri"/>
              </a:rPr>
              <a:t>Dataset</a:t>
            </a:r>
            <a:r>
              <a:rPr lang="pt-BR" sz="3600" b="0" i="0" u="none" strike="noStrike" cap="none" dirty="0">
                <a:solidFill>
                  <a:srgbClr val="003958"/>
                </a:solidFill>
                <a:latin typeface="+mj-lt"/>
                <a:ea typeface="Calibri"/>
                <a:cs typeface="Calibri"/>
                <a:sym typeface="Calibri"/>
              </a:rPr>
              <a:t> de Carros para aplicação de regressão</a:t>
            </a:r>
            <a:endParaRPr sz="105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4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51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98" name="Google Shape;198;p24"/>
          <p:cNvSpPr txBox="1"/>
          <p:nvPr/>
        </p:nvSpPr>
        <p:spPr>
          <a:xfrm>
            <a:off x="425357" y="1524000"/>
            <a:ext cx="11475000" cy="41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EA5484E-678C-4AFB-A8F6-639CDFEF7B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557" y="1231369"/>
            <a:ext cx="10390521" cy="3108787"/>
          </a:xfrm>
          <a:prstGeom prst="rect">
            <a:avLst/>
          </a:prstGeom>
        </p:spPr>
      </p:pic>
      <p:pic>
        <p:nvPicPr>
          <p:cNvPr id="12" name="Google Shape;199;p24">
            <a:extLst>
              <a:ext uri="{FF2B5EF4-FFF2-40B4-BE49-F238E27FC236}">
                <a16:creationId xmlns:a16="http://schemas.microsoft.com/office/drawing/2014/main" id="{811EA04D-EDC2-4077-8B01-B78195D96518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06008" y="4376065"/>
            <a:ext cx="4307180" cy="2419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C2B38F35-B4B8-BC24-FE62-1BA9839571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601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4"/>
          <p:cNvSpPr txBox="1"/>
          <p:nvPr/>
        </p:nvSpPr>
        <p:spPr>
          <a:xfrm>
            <a:off x="1023257" y="341091"/>
            <a:ext cx="108771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0" i="0" u="none" strike="noStrike" cap="none" dirty="0" err="1">
                <a:solidFill>
                  <a:srgbClr val="003958"/>
                </a:solidFill>
                <a:latin typeface="+mj-lt"/>
                <a:ea typeface="Calibri"/>
                <a:cs typeface="Calibri"/>
                <a:sym typeface="Calibri"/>
              </a:rPr>
              <a:t>Dataset</a:t>
            </a:r>
            <a:r>
              <a:rPr lang="pt-BR" sz="3600" b="0" i="0" u="none" strike="noStrike" cap="none" dirty="0">
                <a:solidFill>
                  <a:srgbClr val="003958"/>
                </a:solidFill>
                <a:latin typeface="+mj-lt"/>
                <a:ea typeface="Calibri"/>
                <a:cs typeface="Calibri"/>
                <a:sym typeface="Calibri"/>
              </a:rPr>
              <a:t> de Carros para aplicação de regressão</a:t>
            </a:r>
            <a:endParaRPr sz="105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4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52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98" name="Google Shape;198;p24"/>
          <p:cNvSpPr txBox="1"/>
          <p:nvPr/>
        </p:nvSpPr>
        <p:spPr>
          <a:xfrm>
            <a:off x="425357" y="1524000"/>
            <a:ext cx="11475000" cy="41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87DE961D-351A-DF0F-363A-46DBAC3001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7654F964-3EE4-B5FD-7B21-9CA421DB0C6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28207"/>
          <a:stretch>
            <a:fillRect/>
          </a:stretch>
        </p:blipFill>
        <p:spPr>
          <a:xfrm>
            <a:off x="1600200" y="1342265"/>
            <a:ext cx="8837047" cy="5174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712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4"/>
          <p:cNvSpPr txBox="1"/>
          <p:nvPr/>
        </p:nvSpPr>
        <p:spPr>
          <a:xfrm>
            <a:off x="1023257" y="341091"/>
            <a:ext cx="108771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0" i="0" u="none" strike="noStrike" cap="none" dirty="0" err="1">
                <a:solidFill>
                  <a:srgbClr val="003958"/>
                </a:solidFill>
                <a:latin typeface="+mj-lt"/>
                <a:ea typeface="Calibri"/>
                <a:cs typeface="Calibri"/>
                <a:sym typeface="Calibri"/>
              </a:rPr>
              <a:t>Dataset</a:t>
            </a:r>
            <a:r>
              <a:rPr lang="pt-BR" sz="3600" b="0" i="0" u="none" strike="noStrike" cap="none" dirty="0">
                <a:solidFill>
                  <a:srgbClr val="003958"/>
                </a:solidFill>
                <a:latin typeface="+mj-lt"/>
                <a:ea typeface="Calibri"/>
                <a:cs typeface="Calibri"/>
                <a:sym typeface="Calibri"/>
              </a:rPr>
              <a:t> de Carros para aplicação de regressão</a:t>
            </a:r>
            <a:endParaRPr sz="105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4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53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98" name="Google Shape;198;p24"/>
          <p:cNvSpPr txBox="1"/>
          <p:nvPr/>
        </p:nvSpPr>
        <p:spPr>
          <a:xfrm>
            <a:off x="425357" y="1524000"/>
            <a:ext cx="11475000" cy="41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4CA3D58-CFA1-4F63-B96F-BA4B586885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2315" y="1903529"/>
            <a:ext cx="8828530" cy="2969807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4BE601F2-2222-884B-71D0-06CF40FC7C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669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4"/>
          <p:cNvSpPr txBox="1"/>
          <p:nvPr/>
        </p:nvSpPr>
        <p:spPr>
          <a:xfrm>
            <a:off x="1023257" y="341091"/>
            <a:ext cx="108771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0" i="0" u="none" strike="noStrike" cap="none" dirty="0" err="1">
                <a:solidFill>
                  <a:srgbClr val="003958"/>
                </a:solidFill>
                <a:latin typeface="+mj-lt"/>
                <a:ea typeface="Calibri"/>
                <a:cs typeface="Calibri"/>
                <a:sym typeface="Calibri"/>
              </a:rPr>
              <a:t>Dataset</a:t>
            </a:r>
            <a:r>
              <a:rPr lang="pt-BR" sz="3600" b="0" i="0" u="none" strike="noStrike" cap="none" dirty="0">
                <a:solidFill>
                  <a:srgbClr val="003958"/>
                </a:solidFill>
                <a:latin typeface="+mj-lt"/>
                <a:ea typeface="Calibri"/>
                <a:cs typeface="Calibri"/>
                <a:sym typeface="Calibri"/>
              </a:rPr>
              <a:t> de Carros para aplicação de regressão</a:t>
            </a:r>
            <a:endParaRPr sz="105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4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54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98" name="Google Shape;198;p24"/>
          <p:cNvSpPr txBox="1"/>
          <p:nvPr/>
        </p:nvSpPr>
        <p:spPr>
          <a:xfrm>
            <a:off x="425357" y="1524000"/>
            <a:ext cx="11475000" cy="41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5B4A0672-4BD0-1982-88F9-0EF3F24834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9399DC55-B0A8-32A0-91AC-495D18D1493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23629"/>
          <a:stretch>
            <a:fillRect/>
          </a:stretch>
        </p:blipFill>
        <p:spPr>
          <a:xfrm>
            <a:off x="1974523" y="1206600"/>
            <a:ext cx="7981814" cy="20165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D3C6607A-AC23-14CE-490D-9E25B61457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68432" y="2835299"/>
            <a:ext cx="6913262" cy="3823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649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4"/>
          <p:cNvSpPr txBox="1"/>
          <p:nvPr/>
        </p:nvSpPr>
        <p:spPr>
          <a:xfrm>
            <a:off x="1023257" y="341091"/>
            <a:ext cx="108771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0" i="0" u="none" strike="noStrike" cap="none" dirty="0" err="1">
                <a:solidFill>
                  <a:srgbClr val="003958"/>
                </a:solidFill>
                <a:latin typeface="+mj-lt"/>
                <a:ea typeface="Calibri"/>
                <a:cs typeface="Calibri"/>
                <a:sym typeface="Calibri"/>
              </a:rPr>
              <a:t>Dataset</a:t>
            </a:r>
            <a:r>
              <a:rPr lang="pt-BR" sz="3600" b="0" i="0" u="none" strike="noStrike" cap="none" dirty="0">
                <a:solidFill>
                  <a:srgbClr val="003958"/>
                </a:solidFill>
                <a:latin typeface="+mj-lt"/>
                <a:ea typeface="Calibri"/>
                <a:cs typeface="Calibri"/>
                <a:sym typeface="Calibri"/>
              </a:rPr>
              <a:t> de Carros para aplicação de regressão</a:t>
            </a:r>
            <a:endParaRPr sz="105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4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55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98" name="Google Shape;198;p24"/>
          <p:cNvSpPr txBox="1"/>
          <p:nvPr/>
        </p:nvSpPr>
        <p:spPr>
          <a:xfrm>
            <a:off x="213395" y="1760348"/>
            <a:ext cx="11475000" cy="41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2950752-91E3-4ACE-982F-C607F70314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3567" y="1524000"/>
            <a:ext cx="8918179" cy="5144668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B4C39028-9076-A59D-D698-98C783EA12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872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2658" y="-10003"/>
            <a:ext cx="6669342" cy="686800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BA12F36F-D394-45EE-96CF-DFFBD6CA31A6}"/>
                  </a:ext>
                </a:extLst>
              </p14:cNvPr>
              <p14:cNvContentPartPr/>
              <p14:nvPr/>
            </p14:nvContentPartPr>
            <p14:xfrm>
              <a:off x="4503141" y="3110426"/>
              <a:ext cx="32400" cy="1872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BA12F36F-D394-45EE-96CF-DFFBD6CA31A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94240" y="3101426"/>
                <a:ext cx="49846" cy="3636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Imagem 5">
            <a:extLst>
              <a:ext uri="{FF2B5EF4-FFF2-40B4-BE49-F238E27FC236}">
                <a16:creationId xmlns:a16="http://schemas.microsoft.com/office/drawing/2014/main" id="{8DBC2051-7AF2-4D6F-9135-589CE4137C5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88" r="11351"/>
          <a:stretch/>
        </p:blipFill>
        <p:spPr>
          <a:xfrm>
            <a:off x="0" y="0"/>
            <a:ext cx="5336998" cy="6858000"/>
          </a:xfrm>
          <a:prstGeom prst="flowChartDelay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640B3ACD-FF88-40B0-8AD9-B0BC4EB9F4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3141" y="2076426"/>
            <a:ext cx="2243122" cy="2705148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2896F3CE-DE9A-4F5A-AE63-9DBB2CFDE036}"/>
              </a:ext>
            </a:extLst>
          </p:cNvPr>
          <p:cNvSpPr txBox="1"/>
          <p:nvPr/>
        </p:nvSpPr>
        <p:spPr>
          <a:xfrm>
            <a:off x="6518366" y="2644170"/>
            <a:ext cx="55575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dirty="0">
                <a:solidFill>
                  <a:srgbClr val="003958"/>
                </a:solidFill>
                <a:latin typeface="Impact" panose="020B0806030902050204" pitchFamily="34" charset="0"/>
              </a:rPr>
              <a:t>FIM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2CC51EFB-4F5D-53BC-EE25-67F6C4F6B0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09644" y="0"/>
            <a:ext cx="982356" cy="87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0626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21087</TotalTime>
  <Words>3748</Words>
  <Application>Microsoft Office PowerPoint</Application>
  <PresentationFormat>Widescreen</PresentationFormat>
  <Paragraphs>700</Paragraphs>
  <Slides>56</Slides>
  <Notes>48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56</vt:i4>
      </vt:variant>
    </vt:vector>
  </HeadingPairs>
  <TitlesOfParts>
    <vt:vector size="67" baseType="lpstr">
      <vt:lpstr>A030-Ita</vt:lpstr>
      <vt:lpstr>Aptos</vt:lpstr>
      <vt:lpstr>Aptos Display</vt:lpstr>
      <vt:lpstr>Arial</vt:lpstr>
      <vt:lpstr>Calibri</vt:lpstr>
      <vt:lpstr>Calibri Light</vt:lpstr>
      <vt:lpstr>Cambria</vt:lpstr>
      <vt:lpstr>Cambria Math</vt:lpstr>
      <vt:lpstr>Epilogue</vt:lpstr>
      <vt:lpstr>Impact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Joao Marcos Garcia Vieira</dc:creator>
  <cp:lastModifiedBy>Rodrigo Ramos</cp:lastModifiedBy>
  <cp:revision>178</cp:revision>
  <dcterms:created xsi:type="dcterms:W3CDTF">2019-02-19T17:16:10Z</dcterms:created>
  <dcterms:modified xsi:type="dcterms:W3CDTF">2026-09-10T21:34:34Z</dcterms:modified>
</cp:coreProperties>
</file>